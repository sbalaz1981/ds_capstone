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82" r:id="rId1"/>
  </p:sldMasterIdLst>
  <p:notesMasterIdLst>
    <p:notesMasterId r:id="rId73"/>
  </p:notesMasterIdLst>
  <p:handoutMasterIdLst>
    <p:handoutMasterId r:id="rId74"/>
  </p:handoutMasterIdLst>
  <p:sldIdLst>
    <p:sldId id="327" r:id="rId2"/>
    <p:sldId id="330" r:id="rId3"/>
    <p:sldId id="331" r:id="rId4"/>
    <p:sldId id="332" r:id="rId5"/>
    <p:sldId id="298" r:id="rId6"/>
    <p:sldId id="262" r:id="rId7"/>
    <p:sldId id="263" r:id="rId8"/>
    <p:sldId id="299" r:id="rId9"/>
    <p:sldId id="302" r:id="rId10"/>
    <p:sldId id="264" r:id="rId11"/>
    <p:sldId id="266" r:id="rId12"/>
    <p:sldId id="265" r:id="rId13"/>
    <p:sldId id="334" r:id="rId14"/>
    <p:sldId id="335" r:id="rId15"/>
    <p:sldId id="276" r:id="rId16"/>
    <p:sldId id="303" r:id="rId17"/>
    <p:sldId id="293" r:id="rId18"/>
    <p:sldId id="337" r:id="rId19"/>
    <p:sldId id="339" r:id="rId20"/>
    <p:sldId id="340" r:id="rId21"/>
    <p:sldId id="277" r:id="rId22"/>
    <p:sldId id="284" r:id="rId23"/>
    <p:sldId id="269" r:id="rId24"/>
    <p:sldId id="341" r:id="rId25"/>
    <p:sldId id="304" r:id="rId26"/>
    <p:sldId id="342" r:id="rId27"/>
    <p:sldId id="305" r:id="rId28"/>
    <p:sldId id="343" r:id="rId29"/>
    <p:sldId id="307" r:id="rId30"/>
    <p:sldId id="306" r:id="rId31"/>
    <p:sldId id="308" r:id="rId32"/>
    <p:sldId id="344" r:id="rId33"/>
    <p:sldId id="270" r:id="rId34"/>
    <p:sldId id="309" r:id="rId35"/>
    <p:sldId id="310" r:id="rId36"/>
    <p:sldId id="311" r:id="rId37"/>
    <p:sldId id="312" r:id="rId38"/>
    <p:sldId id="314" r:id="rId39"/>
    <p:sldId id="313" r:id="rId40"/>
    <p:sldId id="315" r:id="rId41"/>
    <p:sldId id="316" r:id="rId42"/>
    <p:sldId id="317" r:id="rId43"/>
    <p:sldId id="294" r:id="rId44"/>
    <p:sldId id="296" r:id="rId45"/>
    <p:sldId id="345" r:id="rId46"/>
    <p:sldId id="318" r:id="rId47"/>
    <p:sldId id="347" r:id="rId48"/>
    <p:sldId id="319" r:id="rId49"/>
    <p:sldId id="349" r:id="rId50"/>
    <p:sldId id="321" r:id="rId51"/>
    <p:sldId id="322" r:id="rId52"/>
    <p:sldId id="323" r:id="rId53"/>
    <p:sldId id="324" r:id="rId54"/>
    <p:sldId id="351" r:id="rId55"/>
    <p:sldId id="288" r:id="rId56"/>
    <p:sldId id="289" r:id="rId57"/>
    <p:sldId id="352" r:id="rId58"/>
    <p:sldId id="320" r:id="rId59"/>
    <p:sldId id="274" r:id="rId60"/>
    <p:sldId id="353" r:id="rId61"/>
    <p:sldId id="275" r:id="rId62"/>
    <p:sldId id="354" r:id="rId63"/>
    <p:sldId id="355" r:id="rId64"/>
    <p:sldId id="356" r:id="rId65"/>
    <p:sldId id="357" r:id="rId66"/>
    <p:sldId id="358" r:id="rId67"/>
    <p:sldId id="359" r:id="rId68"/>
    <p:sldId id="360" r:id="rId69"/>
    <p:sldId id="361" r:id="rId70"/>
    <p:sldId id="362" r:id="rId71"/>
    <p:sldId id="329" r:id="rId72"/>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177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F3FA"/>
    <a:srgbClr val="F3F8F2"/>
    <a:srgbClr val="F8F8EC"/>
    <a:srgbClr val="FFF8E5"/>
    <a:srgbClr val="E7E6E6"/>
    <a:srgbClr val="BFBFBF"/>
    <a:srgbClr val="0948CB"/>
    <a:srgbClr val="0B49CB"/>
    <a:srgbClr val="F2F4F8"/>
    <a:srgbClr val="1C7D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8C9EB8-3540-3DFA-9212-535EE18E0E11}" v="77" dt="2021-07-12T20:33:42.116"/>
    <p1510:client id="{10340FDF-B15C-4CFF-B487-146F9B98A252}" v="28" dt="2021-08-10T21:47:37.589"/>
    <p1510:client id="{3BA0D230-C853-4667-83F9-D85E65BD4B24}" v="2" dt="2021-08-19T16:32:24.566"/>
    <p1510:client id="{5A0AAAB8-49A6-F942-A54D-C6F3E5FF3A63}" v="89" dt="2021-07-13T17:54:45.232"/>
    <p1510:client id="{76DF6DB8-F2E5-6C48-9ABE-786D868B0110}" v="955" dt="2021-07-13T17:56:41.616"/>
    <p1510:client id="{7FB42E05-DEC9-4126-B474-47B35F363E13}" v="30" dt="2021-07-12T20:25:12.855"/>
    <p1510:client id="{82D0390A-222A-332D-F9F9-70D15093EB60}" v="22" dt="2021-07-13T17:51:30.429"/>
    <p1510:client id="{86B35720-4193-446F-B2D5-9AD9984A55EF}" v="513" dt="2021-08-19T14:59:06.521"/>
    <p1510:client id="{998F4E3E-1A76-4A6B-98B6-08752F3768B3}" v="4" dt="2021-08-10T21:41:11.021"/>
    <p1510:client id="{9F30A1D2-6717-426C-A658-3A50309723ED}" v="4" dt="2021-08-10T21:42:35.526"/>
    <p1510:client id="{B63C8988-E1D3-4A52-8229-FA8C5EBD2ECD}" v="357" dt="2021-08-19T14:01:44.876"/>
    <p1510:client id="{C083896D-BE66-E85C-897C-A6AD0DF65F8C}" v="2226" dt="2021-07-13T17:34:38.142"/>
    <p1510:client id="{CC69BAD0-B878-4D5F-9EDC-F1CFB63E14B5}" v="190" dt="2021-08-18T18:06:57.811"/>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03" autoAdjust="0"/>
    <p:restoredTop sz="96622" autoAdjust="0"/>
  </p:normalViewPr>
  <p:slideViewPr>
    <p:cSldViewPr snapToGrid="0" snapToObjects="1">
      <p:cViewPr varScale="1">
        <p:scale>
          <a:sx n="117" d="100"/>
          <a:sy n="117" d="100"/>
        </p:scale>
        <p:origin x="883" y="91"/>
      </p:cViewPr>
      <p:guideLst>
        <p:guide orient="horz" pos="2160"/>
        <p:guide pos="1776"/>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1934"/>
    </p:cViewPr>
  </p:sorterViewPr>
  <p:notesViewPr>
    <p:cSldViewPr snapToGrid="0" snapToObjects="1">
      <p:cViewPr varScale="1">
        <p:scale>
          <a:sx n="274" d="100"/>
          <a:sy n="274" d="100"/>
        </p:scale>
        <p:origin x="192" y="1118"/>
      </p:cViewPr>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4/2/2026</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a:t>
            </a:fld>
            <a:endParaRPr lang="en-US"/>
          </a:p>
        </p:txBody>
      </p:sp>
    </p:spTree>
    <p:extLst>
      <p:ext uri="{BB962C8B-B14F-4D97-AF65-F5344CB8AC3E}">
        <p14:creationId xmlns:p14="http://schemas.microsoft.com/office/powerpoint/2010/main" val="4226275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21</a:t>
            </a:fld>
            <a:endParaRPr lang="en-US"/>
          </a:p>
        </p:txBody>
      </p:sp>
    </p:spTree>
    <p:extLst>
      <p:ext uri="{BB962C8B-B14F-4D97-AF65-F5344CB8AC3E}">
        <p14:creationId xmlns:p14="http://schemas.microsoft.com/office/powerpoint/2010/main" val="3924966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61</a:t>
            </a:fld>
            <a:endParaRPr lang="en-US"/>
          </a:p>
        </p:txBody>
      </p:sp>
    </p:spTree>
    <p:extLst>
      <p:ext uri="{BB962C8B-B14F-4D97-AF65-F5344CB8AC3E}">
        <p14:creationId xmlns:p14="http://schemas.microsoft.com/office/powerpoint/2010/main" val="9985033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62</a:t>
            </a:fld>
            <a:endParaRPr lang="en-US"/>
          </a:p>
        </p:txBody>
      </p:sp>
    </p:spTree>
    <p:extLst>
      <p:ext uri="{BB962C8B-B14F-4D97-AF65-F5344CB8AC3E}">
        <p14:creationId xmlns:p14="http://schemas.microsoft.com/office/powerpoint/2010/main" val="23781372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63</a:t>
            </a:fld>
            <a:endParaRPr lang="en-US"/>
          </a:p>
        </p:txBody>
      </p:sp>
    </p:spTree>
    <p:extLst>
      <p:ext uri="{BB962C8B-B14F-4D97-AF65-F5344CB8AC3E}">
        <p14:creationId xmlns:p14="http://schemas.microsoft.com/office/powerpoint/2010/main" val="883568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64</a:t>
            </a:fld>
            <a:endParaRPr lang="en-US"/>
          </a:p>
        </p:txBody>
      </p:sp>
    </p:spTree>
    <p:extLst>
      <p:ext uri="{BB962C8B-B14F-4D97-AF65-F5344CB8AC3E}">
        <p14:creationId xmlns:p14="http://schemas.microsoft.com/office/powerpoint/2010/main" val="2705629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65</a:t>
            </a:fld>
            <a:endParaRPr lang="en-US"/>
          </a:p>
        </p:txBody>
      </p:sp>
    </p:spTree>
    <p:extLst>
      <p:ext uri="{BB962C8B-B14F-4D97-AF65-F5344CB8AC3E}">
        <p14:creationId xmlns:p14="http://schemas.microsoft.com/office/powerpoint/2010/main" val="19283851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66</a:t>
            </a:fld>
            <a:endParaRPr lang="en-US"/>
          </a:p>
        </p:txBody>
      </p:sp>
    </p:spTree>
    <p:extLst>
      <p:ext uri="{BB962C8B-B14F-4D97-AF65-F5344CB8AC3E}">
        <p14:creationId xmlns:p14="http://schemas.microsoft.com/office/powerpoint/2010/main" val="3918518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67</a:t>
            </a:fld>
            <a:endParaRPr lang="en-US"/>
          </a:p>
        </p:txBody>
      </p:sp>
    </p:spTree>
    <p:extLst>
      <p:ext uri="{BB962C8B-B14F-4D97-AF65-F5344CB8AC3E}">
        <p14:creationId xmlns:p14="http://schemas.microsoft.com/office/powerpoint/2010/main" val="16993617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68</a:t>
            </a:fld>
            <a:endParaRPr lang="en-US"/>
          </a:p>
        </p:txBody>
      </p:sp>
    </p:spTree>
    <p:extLst>
      <p:ext uri="{BB962C8B-B14F-4D97-AF65-F5344CB8AC3E}">
        <p14:creationId xmlns:p14="http://schemas.microsoft.com/office/powerpoint/2010/main" val="8759807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69</a:t>
            </a:fld>
            <a:endParaRPr lang="en-US"/>
          </a:p>
        </p:txBody>
      </p:sp>
    </p:spTree>
    <p:extLst>
      <p:ext uri="{BB962C8B-B14F-4D97-AF65-F5344CB8AC3E}">
        <p14:creationId xmlns:p14="http://schemas.microsoft.com/office/powerpoint/2010/main" val="3540494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70</a:t>
            </a:fld>
            <a:endParaRPr lang="en-US"/>
          </a:p>
        </p:txBody>
      </p:sp>
    </p:spTree>
    <p:extLst>
      <p:ext uri="{BB962C8B-B14F-4D97-AF65-F5344CB8AC3E}">
        <p14:creationId xmlns:p14="http://schemas.microsoft.com/office/powerpoint/2010/main" val="445709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4/2/2026</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4/2/2026</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4/2/2026</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4/2/2026</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4/2/2026</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4/2/2026</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4/2/2026</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4/2/2026</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4/2/2026</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4/2/2026</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a:prstGeom prst="rect">
            <a:avLst/>
          </a:prstGeo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t>Click to edit Master title style</a:t>
            </a:r>
          </a:p>
        </p:txBody>
      </p:sp>
      <p:sp>
        <p:nvSpPr>
          <p:cNvPr id="2" name="Footer Placeholder 1">
            <a:extLst>
              <a:ext uri="{FF2B5EF4-FFF2-40B4-BE49-F238E27FC236}">
                <a16:creationId xmlns:a16="http://schemas.microsoft.com/office/drawing/2014/main" id="{FD30FDD2-E0CC-3E4C-A49E-91BE8BE0367F}"/>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038078290"/>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976210309"/>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dirty="0"/>
          </a:p>
        </p:txBody>
      </p:sp>
      <p:sp>
        <p:nvSpPr>
          <p:cNvPr id="2" name="TextBox 1">
            <a:extLst>
              <a:ext uri="{FF2B5EF4-FFF2-40B4-BE49-F238E27FC236}">
                <a16:creationId xmlns:a16="http://schemas.microsoft.com/office/drawing/2014/main" id="{C0EEC517-7BAA-5897-D90C-F94751870920}"/>
              </a:ext>
            </a:extLst>
          </p:cNvPr>
          <p:cNvSpPr txBox="1"/>
          <p:nvPr userDrawn="1"/>
        </p:nvSpPr>
        <p:spPr>
          <a:xfrm>
            <a:off x="4489537" y="6405224"/>
            <a:ext cx="3212927" cy="276999"/>
          </a:xfrm>
          <a:prstGeom prst="rect">
            <a:avLst/>
          </a:prstGeom>
          <a:noFill/>
        </p:spPr>
        <p:txBody>
          <a:bodyPr wrap="square" rtlCol="0" anchor="ctr">
            <a:spAutoFit/>
          </a:bodyPr>
          <a:lstStyle/>
          <a:p>
            <a:r>
              <a:rPr lang="it-IT" sz="1200" b="0" i="0" dirty="0">
                <a:solidFill>
                  <a:schemeClr val="bg1">
                    <a:lumMod val="75000"/>
                  </a:schemeClr>
                </a:solidFill>
                <a:effectLst/>
                <a:latin typeface="Google Sans Flex"/>
              </a:rPr>
              <a:t>[Stanislav Bal</a:t>
            </a:r>
            <a:r>
              <a:rPr lang="sk-SK" sz="1200" b="0" i="0" dirty="0">
                <a:solidFill>
                  <a:schemeClr val="bg1">
                    <a:lumMod val="75000"/>
                  </a:schemeClr>
                </a:solidFill>
                <a:effectLst/>
                <a:latin typeface="Google Sans Flex"/>
              </a:rPr>
              <a:t>áž</a:t>
            </a:r>
            <a:r>
              <a:rPr lang="it-IT" sz="1200" b="0" i="0" dirty="0">
                <a:solidFill>
                  <a:schemeClr val="bg1">
                    <a:lumMod val="75000"/>
                  </a:schemeClr>
                </a:solidFill>
                <a:effectLst/>
                <a:latin typeface="Google Sans Flex"/>
              </a:rPr>
              <a:t>] - IBM Data Science Capstone</a:t>
            </a:r>
            <a:endParaRPr lang="en-US" sz="1200" dirty="0">
              <a:solidFill>
                <a:schemeClr val="bg1">
                  <a:lumMod val="75000"/>
                </a:schemeClr>
              </a:solidFill>
            </a:endParaRPr>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github.com/sbalaz1981/SpaceX-Landing-Prediction-Technical-Enhancements"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api.spacexdata.com/v4/launches/past" TargetMode="External"/><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hyperlink" Target="https://en.wikipedia.org/w/index.php?title=List_of_Falcon_9_and_Falcon_Heavy_launches&amp;oldid=1027686922" TargetMode="External"/><Relationship Id="rId5" Type="http://schemas.openxmlformats.org/officeDocument/2006/relationships/hyperlink" Target="https://api.spacexdata.com/v4/item" TargetMode="External"/><Relationship Id="rId4" Type="http://schemas.openxmlformats.org/officeDocument/2006/relationships/hyperlink" Target="https://cf-courses-data.s3.us.cloud-object-storage.appdomain.cloud/IBM-DS0321EN-SkillsNetwork/datasets/API_call_spacex_api.json"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sbalaz1981/SpaceX-Landing-Prediction-Technical-Enhancements/blob/main/01_jupyter-labs-spacex-data-collection-api-v2.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balaz1981/SpaceX-Landing-Prediction-Technical-Enhancements/blob/main/02_jupyter-labs-webscraping.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sbalaz1981/SpaceX-Landing-Prediction-Technical-Enhancements/blob/main/01_jupyter-labs-spacex-data-collection-api-v2.ipynb" TargetMode="External"/><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hyperlink" Target="https://github.com/sbalaz1981/SpaceX-Landing-Prediction-Technical-Enhancements/blob/main/03_labs-jupyter-spacex-Data%20wrangling.ipynb"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balaz1981/SpaceX-Landing-Prediction-Technical-Enhancements/blob/main/04_edadataviz.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balaz1981/SpaceX-Landing-Prediction-Technical-Enhancements/blob/main/05_jupyter-labs-eda-sql-coursera_sqllite.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balaz1981/SpaceX-Landing-Prediction-Technical-Enhancements/blob/main/05_jupyter-labs-eda-sql-coursera_sqllite.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sbalaz1981/SpaceX-Landing-Prediction-Technical-Enhancements/blob/main/05_jupyter-labs-eda-sql-coursera_sqllite.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sbalaz1981/SpaceX-Landing-Prediction-Technical-Enhancements/blob/main/06_lab_jupyter_launch_site_location.ipynb" TargetMode="External"/><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hyperlink" Target="https://nbviewer.org/github/sbalaz1981/SpaceX-Landing-Prediction-Technical-Enhancements/blob/main/06_lab_jupyter_launch_site_location.ipynb"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sbalaz1981/SpaceX-Landing-Prediction-Technical-Enhancements/blob/main/07_spacex-dash-app_Submitted.py"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sbalaz1981/SpaceX-Landing-Prediction-Technical-Enhancements/blob/main/08_SpaceX-Machine-Learning-Prediction-Part-5-v1.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sbalaz1981/SpaceX-Landing-Prediction-Technical-Enhancements/blob/main/08_SpaceX-Machine-Learning-Prediction-Part-5-v1.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sbalaz1981/SpaceX-Landing-Prediction-Technical-Enhancements/blob/main/08_SpaceX-Machine-Learning-Prediction-Part-5-v1.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sbalaz1981/SpaceX-Landing-Prediction-Technical-Enhancements/blob/main/08_SpaceX-Machine-Learning-Prediction-Part-5-v1.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7.png"/></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5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55.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62.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3.png"/><Relationship Id="rId7" Type="http://schemas.openxmlformats.org/officeDocument/2006/relationships/image" Target="../media/image5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0.png"/></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63.png"/><Relationship Id="rId4" Type="http://schemas.openxmlformats.org/officeDocument/2006/relationships/image" Target="../media/image62.png"/></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66.png"/><Relationship Id="rId4" Type="http://schemas.openxmlformats.org/officeDocument/2006/relationships/image" Target="../media/image65.png"/></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68.png"/><Relationship Id="rId4" Type="http://schemas.openxmlformats.org/officeDocument/2006/relationships/image" Target="../media/image67.png"/></Relationships>
</file>

<file path=ppt/slides/_rels/slide71.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36AF9D-A911-994B-90EA-013D4CDA5604}"/>
              </a:ext>
            </a:extLst>
          </p:cNvPr>
          <p:cNvSpPr txBox="1"/>
          <p:nvPr/>
        </p:nvSpPr>
        <p:spPr>
          <a:xfrm>
            <a:off x="888546" y="4568734"/>
            <a:ext cx="2514600" cy="646331"/>
          </a:xfrm>
          <a:prstGeom prst="rect">
            <a:avLst/>
          </a:prstGeom>
          <a:noFill/>
        </p:spPr>
        <p:txBody>
          <a:bodyPr wrap="square" lIns="91440" tIns="45720" rIns="91440" bIns="45720" rtlCol="0" anchor="t">
            <a:spAutoFit/>
          </a:bodyPr>
          <a:lstStyle/>
          <a:p>
            <a:r>
              <a:rPr lang="en-US" dirty="0">
                <a:solidFill>
                  <a:schemeClr val="bg2"/>
                </a:solidFill>
                <a:latin typeface="Abadi"/>
                <a:ea typeface="SF Pro" pitchFamily="2" charset="0"/>
                <a:cs typeface="SF Pro" pitchFamily="2" charset="0"/>
              </a:rPr>
              <a:t>Stanislav Bal</a:t>
            </a:r>
            <a:r>
              <a:rPr lang="sk-SK" dirty="0">
                <a:solidFill>
                  <a:schemeClr val="bg2"/>
                </a:solidFill>
                <a:latin typeface="Abadi"/>
                <a:ea typeface="SF Pro" pitchFamily="2" charset="0"/>
                <a:cs typeface="SF Pro" pitchFamily="2" charset="0"/>
              </a:rPr>
              <a:t>áž</a:t>
            </a:r>
            <a:endParaRPr lang="en-US" dirty="0">
              <a:solidFill>
                <a:schemeClr val="bg2"/>
              </a:solidFill>
              <a:latin typeface="Abadi"/>
              <a:ea typeface="SF Pro" pitchFamily="2" charset="0"/>
              <a:cs typeface="SF Pro" pitchFamily="2" charset="0"/>
            </a:endParaRPr>
          </a:p>
          <a:p>
            <a:r>
              <a:rPr lang="en-US" dirty="0">
                <a:solidFill>
                  <a:schemeClr val="bg2"/>
                </a:solidFill>
                <a:latin typeface="Abadi" panose="020B0604020104020204" pitchFamily="34" charset="0"/>
                <a:ea typeface="SF Pro" pitchFamily="2" charset="0"/>
                <a:cs typeface="SF Pro" pitchFamily="2" charset="0"/>
              </a:rPr>
              <a:t>March</a:t>
            </a:r>
            <a:r>
              <a:rPr lang="sk-SK" dirty="0">
                <a:solidFill>
                  <a:schemeClr val="bg2"/>
                </a:solidFill>
                <a:latin typeface="Abadi" panose="020B0604020104020204" pitchFamily="34" charset="0"/>
                <a:ea typeface="SF Pro" pitchFamily="2" charset="0"/>
                <a:cs typeface="SF Pro" pitchFamily="2" charset="0"/>
              </a:rPr>
              <a:t> </a:t>
            </a:r>
            <a:r>
              <a:rPr lang="en-US" dirty="0">
                <a:solidFill>
                  <a:schemeClr val="bg2"/>
                </a:solidFill>
                <a:latin typeface="Abadi" panose="020B0604020104020204" pitchFamily="34" charset="0"/>
                <a:ea typeface="SF Pro" pitchFamily="2" charset="0"/>
                <a:cs typeface="SF Pro" pitchFamily="2" charset="0"/>
              </a:rPr>
              <a:t>12</a:t>
            </a:r>
            <a:r>
              <a:rPr lang="sk-SK" dirty="0">
                <a:solidFill>
                  <a:schemeClr val="bg2"/>
                </a:solidFill>
                <a:latin typeface="Abadi" panose="020B0604020104020204" pitchFamily="34" charset="0"/>
                <a:ea typeface="SF Pro" pitchFamily="2" charset="0"/>
                <a:cs typeface="SF Pro" pitchFamily="2" charset="0"/>
              </a:rPr>
              <a:t>, 2026</a:t>
            </a:r>
            <a:endParaRPr lang="en-US" dirty="0">
              <a:solidFill>
                <a:schemeClr val="bg2"/>
              </a:solidFill>
              <a:latin typeface="Abadi" panose="020B0604020104020204" pitchFamily="34" charset="0"/>
              <a:ea typeface="SF Pro" pitchFamily="2" charset="0"/>
              <a:cs typeface="SF Pro" pitchFamily="2" charset="0"/>
            </a:endParaRPr>
          </a:p>
        </p:txBody>
      </p:sp>
      <p:pic>
        <p:nvPicPr>
          <p:cNvPr id="2" name="Picture 2" descr="IBM Skills Network Logo - Horizontal-noai copy.png">
            <a:extLst>
              <a:ext uri="{FF2B5EF4-FFF2-40B4-BE49-F238E27FC236}">
                <a16:creationId xmlns:a16="http://schemas.microsoft.com/office/drawing/2014/main" id="{4F94DBE5-2DCC-401E-95AA-12E04A97FBA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89820" y="676828"/>
            <a:ext cx="2104103" cy="629183"/>
          </a:xfrm>
          <a:prstGeom prst="rect">
            <a:avLst/>
          </a:prstGeom>
        </p:spPr>
      </p:pic>
    </p:spTree>
    <p:extLst>
      <p:ext uri="{BB962C8B-B14F-4D97-AF65-F5344CB8AC3E}">
        <p14:creationId xmlns:p14="http://schemas.microsoft.com/office/powerpoint/2010/main" val="127761162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5167086" cy="3320824"/>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Executive Summary</a:t>
            </a:r>
          </a:p>
          <a:p>
            <a:pPr>
              <a:lnSpc>
                <a:spcPct val="100000"/>
              </a:lnSpc>
              <a:spcBef>
                <a:spcPts val="1400"/>
              </a:spcBef>
            </a:pPr>
            <a:r>
              <a:rPr lang="en-US" sz="2200" dirty="0">
                <a:solidFill>
                  <a:schemeClr val="accent3">
                    <a:lumMod val="25000"/>
                  </a:schemeClr>
                </a:solidFill>
                <a:latin typeface="Abadi"/>
              </a:rPr>
              <a:t>Introduction</a:t>
            </a:r>
          </a:p>
          <a:p>
            <a:pPr>
              <a:lnSpc>
                <a:spcPct val="100000"/>
              </a:lnSpc>
              <a:spcBef>
                <a:spcPts val="1400"/>
              </a:spcBef>
            </a:pPr>
            <a:r>
              <a:rPr lang="en-US" sz="2200" dirty="0">
                <a:solidFill>
                  <a:schemeClr val="accent3">
                    <a:lumMod val="25000"/>
                  </a:schemeClr>
                </a:solidFill>
                <a:latin typeface="Abadi"/>
              </a:rPr>
              <a:t>Methodology</a:t>
            </a:r>
          </a:p>
          <a:p>
            <a:pPr>
              <a:lnSpc>
                <a:spcPct val="100000"/>
              </a:lnSpc>
              <a:spcBef>
                <a:spcPts val="1400"/>
              </a:spcBef>
            </a:pPr>
            <a:r>
              <a:rPr lang="en-US" sz="2200" dirty="0">
                <a:solidFill>
                  <a:schemeClr val="accent3">
                    <a:lumMod val="25000"/>
                  </a:schemeClr>
                </a:solidFill>
                <a:latin typeface="Abadi"/>
              </a:rPr>
              <a:t>Results</a:t>
            </a:r>
          </a:p>
          <a:p>
            <a:pPr>
              <a:lnSpc>
                <a:spcPct val="100000"/>
              </a:lnSpc>
              <a:spcBef>
                <a:spcPts val="1400"/>
              </a:spcBef>
            </a:pPr>
            <a:r>
              <a:rPr lang="en-US" sz="2200" dirty="0">
                <a:solidFill>
                  <a:schemeClr val="accent3">
                    <a:lumMod val="25000"/>
                  </a:schemeClr>
                </a:solidFill>
                <a:latin typeface="Abadi"/>
              </a:rPr>
              <a:t>Conclusions</a:t>
            </a:r>
          </a:p>
          <a:p>
            <a:pPr>
              <a:lnSpc>
                <a:spcPct val="100000"/>
              </a:lnSpc>
              <a:spcBef>
                <a:spcPts val="1400"/>
              </a:spcBef>
            </a:pPr>
            <a:r>
              <a:rPr lang="en-US" sz="22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Outline</a:t>
            </a:r>
          </a:p>
        </p:txBody>
      </p:sp>
      <p:sp>
        <p:nvSpPr>
          <p:cNvPr id="2" name="TextBox 1">
            <a:extLst>
              <a:ext uri="{FF2B5EF4-FFF2-40B4-BE49-F238E27FC236}">
                <a16:creationId xmlns:a16="http://schemas.microsoft.com/office/drawing/2014/main" id="{2E5D8A52-48E7-6AFE-8174-BCBCC2461F12}"/>
              </a:ext>
            </a:extLst>
          </p:cNvPr>
          <p:cNvSpPr txBox="1"/>
          <p:nvPr/>
        </p:nvSpPr>
        <p:spPr>
          <a:xfrm>
            <a:off x="820736" y="5659022"/>
            <a:ext cx="5275263" cy="369332"/>
          </a:xfrm>
          <a:prstGeom prst="rect">
            <a:avLst/>
          </a:prstGeom>
          <a:noFill/>
        </p:spPr>
        <p:txBody>
          <a:bodyPr wrap="square" rtlCol="0">
            <a:spAutoFit/>
          </a:bodyPr>
          <a:lstStyle/>
          <a:p>
            <a:r>
              <a:rPr lang="en-US" dirty="0">
                <a:solidFill>
                  <a:schemeClr val="accent3">
                    <a:lumMod val="25000"/>
                  </a:schemeClr>
                </a:solidFill>
                <a:latin typeface="Abadi"/>
                <a:hlinkClick r:id="rId4"/>
              </a:rPr>
              <a:t>SpaceX-Landing-Prediction-Technical-Enhancements</a:t>
            </a:r>
            <a:endParaRPr lang="en-US" dirty="0"/>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816429" y="1658983"/>
            <a:ext cx="6582316" cy="4441371"/>
          </a:xfrm>
          <a:prstGeom prst="rect">
            <a:avLst/>
          </a:prstGeom>
          <a:solidFill>
            <a:srgbClr val="ECF3FA"/>
          </a:solidFill>
          <a:effectLst>
            <a:softEdge rad="25400"/>
          </a:effectLst>
        </p:spPr>
        <p:txBody>
          <a:bodyPr lIns="91440" tIns="45720" rIns="91440" bIns="45720" anchor="t">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00000"/>
              </a:lnSpc>
              <a:spcBef>
                <a:spcPts val="1200"/>
              </a:spcBef>
              <a:buNone/>
            </a:pPr>
            <a:r>
              <a:rPr lang="en-US" sz="2200" b="1" dirty="0">
                <a:solidFill>
                  <a:schemeClr val="accent3">
                    <a:lumMod val="25000"/>
                  </a:schemeClr>
                </a:solidFill>
                <a:latin typeface="Abadi" panose="020B0604020104020204" pitchFamily="34" charset="0"/>
              </a:rPr>
              <a:t>Objective</a:t>
            </a:r>
            <a:r>
              <a:rPr lang="en-US" sz="2200" dirty="0">
                <a:solidFill>
                  <a:schemeClr val="accent3">
                    <a:lumMod val="25000"/>
                  </a:schemeClr>
                </a:solidFill>
                <a:latin typeface="Abadi" panose="020B0604020104020204" pitchFamily="34" charset="0"/>
              </a:rPr>
              <a:t>: Build a model to predict SpaceX Falcon 9 first-stage landing success to support competitive bidding</a:t>
            </a:r>
          </a:p>
          <a:p>
            <a:pPr marL="0" indent="0">
              <a:lnSpc>
                <a:spcPct val="100000"/>
              </a:lnSpc>
              <a:spcBef>
                <a:spcPts val="1200"/>
              </a:spcBef>
              <a:buNone/>
            </a:pPr>
            <a:r>
              <a:rPr lang="en-US" sz="2200" b="1" dirty="0">
                <a:solidFill>
                  <a:schemeClr val="accent3">
                    <a:lumMod val="25000"/>
                  </a:schemeClr>
                </a:solidFill>
                <a:latin typeface="Abadi" panose="020B0604020104020204" pitchFamily="34" charset="0"/>
              </a:rPr>
              <a:t>Methodologies:</a:t>
            </a:r>
          </a:p>
          <a:p>
            <a:pPr marL="457200" lvl="1">
              <a:lnSpc>
                <a:spcPct val="100000"/>
              </a:lnSpc>
              <a:spcBef>
                <a:spcPts val="1200"/>
              </a:spcBef>
            </a:pPr>
            <a:r>
              <a:rPr lang="en-US" sz="1800" dirty="0">
                <a:solidFill>
                  <a:schemeClr val="accent3">
                    <a:lumMod val="25000"/>
                  </a:schemeClr>
                </a:solidFill>
                <a:latin typeface="Abadi" panose="020B0604020104020204" pitchFamily="34" charset="0"/>
              </a:rPr>
              <a:t>Data was collected from SpaceX API and Wikipedia using Python Requests</a:t>
            </a:r>
          </a:p>
          <a:p>
            <a:pPr marL="457200" lvl="1">
              <a:lnSpc>
                <a:spcPct val="100000"/>
              </a:lnSpc>
              <a:spcBef>
                <a:spcPts val="1200"/>
              </a:spcBef>
            </a:pPr>
            <a:r>
              <a:rPr lang="en-US" sz="1800" dirty="0">
                <a:solidFill>
                  <a:schemeClr val="accent3">
                    <a:lumMod val="25000"/>
                  </a:schemeClr>
                </a:solidFill>
                <a:latin typeface="Abadi" panose="020B0604020104020204" pitchFamily="34" charset="0"/>
              </a:rPr>
              <a:t>Data wrangling, preprocessing and analysis performed with Pandas, SQL, Folium, Plotly Dash and Scikit-Learn =&gt; 83 features used to visualize patterns and predict landing success</a:t>
            </a:r>
          </a:p>
          <a:p>
            <a:pPr marL="0" indent="0">
              <a:lnSpc>
                <a:spcPct val="100000"/>
              </a:lnSpc>
              <a:spcBef>
                <a:spcPts val="1200"/>
              </a:spcBef>
              <a:buNone/>
            </a:pPr>
            <a:r>
              <a:rPr lang="en-US" sz="2200" b="1" dirty="0">
                <a:solidFill>
                  <a:schemeClr val="accent3">
                    <a:lumMod val="25000"/>
                  </a:schemeClr>
                </a:solidFill>
                <a:latin typeface="Abadi" panose="020B0604020104020204" pitchFamily="34" charset="0"/>
              </a:rPr>
              <a:t>Results:</a:t>
            </a:r>
          </a:p>
          <a:p>
            <a:pPr marL="457200" lvl="1">
              <a:lnSpc>
                <a:spcPct val="100000"/>
              </a:lnSpc>
              <a:spcBef>
                <a:spcPts val="1200"/>
              </a:spcBef>
            </a:pPr>
            <a:r>
              <a:rPr lang="en-US" sz="1800" dirty="0">
                <a:solidFill>
                  <a:schemeClr val="accent3">
                    <a:lumMod val="25000"/>
                  </a:schemeClr>
                </a:solidFill>
                <a:latin typeface="Abadi" panose="020B0604020104020204" pitchFamily="34" charset="0"/>
              </a:rPr>
              <a:t>Increasing trend in success rate from 2013 to 2020</a:t>
            </a:r>
          </a:p>
          <a:p>
            <a:pPr marL="457200" lvl="1">
              <a:lnSpc>
                <a:spcPct val="100000"/>
              </a:lnSpc>
              <a:spcBef>
                <a:spcPts val="1200"/>
              </a:spcBef>
            </a:pPr>
            <a:r>
              <a:rPr lang="en-US" sz="1800" dirty="0">
                <a:solidFill>
                  <a:schemeClr val="accent3">
                    <a:lumMod val="25000"/>
                  </a:schemeClr>
                </a:solidFill>
                <a:latin typeface="Abadi" panose="020B0604020104020204" pitchFamily="34" charset="0"/>
              </a:rPr>
              <a:t>High success rates uncovered in SSO, VLEO orbits, payload range 3000 – 4000 kg and booster version FT</a:t>
            </a:r>
          </a:p>
          <a:p>
            <a:pPr marL="457200" lvl="1">
              <a:lnSpc>
                <a:spcPct val="100000"/>
              </a:lnSpc>
              <a:spcBef>
                <a:spcPts val="1200"/>
              </a:spcBef>
            </a:pPr>
            <a:r>
              <a:rPr lang="en-US" sz="1800" dirty="0">
                <a:solidFill>
                  <a:schemeClr val="accent3">
                    <a:lumMod val="25000"/>
                  </a:schemeClr>
                </a:solidFill>
                <a:latin typeface="Abadi" panose="020B0604020104020204" pitchFamily="34" charset="0"/>
              </a:rPr>
              <a:t>Logistic Regression outperformed other evaluated models with Accuracy and Generalization Capacity (Train/Test gap)</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Executive Summary</a:t>
            </a:r>
            <a:endParaRPr lang="en-US">
              <a:solidFill>
                <a:srgbClr val="0B49CB"/>
              </a:solidFill>
            </a:endParaRPr>
          </a:p>
        </p:txBody>
      </p:sp>
      <p:sp>
        <p:nvSpPr>
          <p:cNvPr id="3" name="Content Placeholder 2">
            <a:extLst>
              <a:ext uri="{FF2B5EF4-FFF2-40B4-BE49-F238E27FC236}">
                <a16:creationId xmlns:a16="http://schemas.microsoft.com/office/drawing/2014/main" id="{8D7F464E-2FEA-5BEA-9A16-4CAA30C185BA}"/>
              </a:ext>
            </a:extLst>
          </p:cNvPr>
          <p:cNvSpPr txBox="1">
            <a:spLocks/>
          </p:cNvSpPr>
          <p:nvPr/>
        </p:nvSpPr>
        <p:spPr>
          <a:xfrm>
            <a:off x="7654834" y="1658984"/>
            <a:ext cx="3720734" cy="2710542"/>
          </a:xfrm>
          <a:prstGeom prst="rect">
            <a:avLst/>
          </a:prstGeom>
          <a:solidFill>
            <a:srgbClr val="F8F8EC"/>
          </a:solidFill>
          <a:effectLst>
            <a:softEdge rad="25400"/>
          </a:effectLst>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00000"/>
              </a:lnSpc>
              <a:spcBef>
                <a:spcPts val="1400"/>
              </a:spcBef>
              <a:buNone/>
            </a:pPr>
            <a:r>
              <a:rPr lang="en-US" sz="2000" b="1" dirty="0">
                <a:solidFill>
                  <a:schemeClr val="accent3">
                    <a:lumMod val="25000"/>
                  </a:schemeClr>
                </a:solidFill>
                <a:latin typeface="Abadi" panose="020B0604020104020204" pitchFamily="34" charset="0"/>
              </a:rPr>
              <a:t>Final Model Evaluation Metrics</a:t>
            </a:r>
          </a:p>
          <a:p>
            <a:pPr>
              <a:lnSpc>
                <a:spcPct val="100000"/>
              </a:lnSpc>
              <a:spcBef>
                <a:spcPts val="1400"/>
              </a:spcBef>
            </a:pPr>
            <a:r>
              <a:rPr lang="en-US" sz="2000" dirty="0">
                <a:solidFill>
                  <a:schemeClr val="accent6">
                    <a:lumMod val="75000"/>
                  </a:schemeClr>
                </a:solidFill>
                <a:latin typeface="Abadi" panose="020B0604020104020204" pitchFamily="34" charset="0"/>
              </a:rPr>
              <a:t>Accuracy 83.3%</a:t>
            </a:r>
          </a:p>
          <a:p>
            <a:pPr>
              <a:lnSpc>
                <a:spcPct val="100000"/>
              </a:lnSpc>
              <a:spcBef>
                <a:spcPts val="1400"/>
              </a:spcBef>
            </a:pPr>
            <a:r>
              <a:rPr lang="en-US" sz="2000" dirty="0">
                <a:solidFill>
                  <a:schemeClr val="accent6">
                    <a:lumMod val="75000"/>
                  </a:schemeClr>
                </a:solidFill>
                <a:latin typeface="Abadi" panose="020B0604020104020204" pitchFamily="34" charset="0"/>
              </a:rPr>
              <a:t>Recall 100%</a:t>
            </a:r>
          </a:p>
          <a:p>
            <a:pPr>
              <a:lnSpc>
                <a:spcPct val="100000"/>
              </a:lnSpc>
              <a:spcBef>
                <a:spcPts val="1400"/>
              </a:spcBef>
            </a:pPr>
            <a:r>
              <a:rPr lang="en-US" sz="2000" dirty="0">
                <a:solidFill>
                  <a:schemeClr val="accent6">
                    <a:lumMod val="75000"/>
                  </a:schemeClr>
                </a:solidFill>
                <a:latin typeface="Abadi" panose="020B0604020104020204" pitchFamily="34" charset="0"/>
              </a:rPr>
              <a:t>Precision 80%</a:t>
            </a:r>
          </a:p>
          <a:p>
            <a:pPr>
              <a:lnSpc>
                <a:spcPct val="100000"/>
              </a:lnSpc>
              <a:spcBef>
                <a:spcPts val="1400"/>
              </a:spcBef>
            </a:pPr>
            <a:r>
              <a:rPr lang="en-US" sz="2000" dirty="0">
                <a:solidFill>
                  <a:schemeClr val="accent2">
                    <a:lumMod val="75000"/>
                  </a:schemeClr>
                </a:solidFill>
                <a:latin typeface="Abadi" panose="020B0604020104020204" pitchFamily="34" charset="0"/>
              </a:rPr>
              <a:t>Specificity 50%</a:t>
            </a:r>
          </a:p>
          <a:p>
            <a:pPr marL="0" indent="0">
              <a:lnSpc>
                <a:spcPct val="100000"/>
              </a:lnSpc>
              <a:spcBef>
                <a:spcPts val="1400"/>
              </a:spcBef>
              <a:buNone/>
            </a:pPr>
            <a:endParaRPr lang="en-US" sz="2200" b="1" dirty="0">
              <a:solidFill>
                <a:schemeClr val="accent2">
                  <a:lumMod val="75000"/>
                </a:schemeClr>
              </a:solidFill>
              <a:latin typeface="Abadi" panose="020B0604020104020204" pitchFamily="34" charset="0"/>
            </a:endParaRPr>
          </a:p>
          <a:p>
            <a:pPr marL="0" indent="0">
              <a:lnSpc>
                <a:spcPct val="100000"/>
              </a:lnSpc>
              <a:spcBef>
                <a:spcPts val="1400"/>
              </a:spcBef>
              <a:buNone/>
            </a:pPr>
            <a:endParaRPr lang="en-US" sz="2200" b="1" dirty="0">
              <a:solidFill>
                <a:schemeClr val="accent2">
                  <a:lumMod val="75000"/>
                </a:schemeClr>
              </a:solidFill>
              <a:latin typeface="Abadi" panose="020B0604020104020204" pitchFamily="34" charset="0"/>
            </a:endParaRPr>
          </a:p>
        </p:txBody>
      </p:sp>
      <p:sp>
        <p:nvSpPr>
          <p:cNvPr id="5" name="TextBox 4">
            <a:extLst>
              <a:ext uri="{FF2B5EF4-FFF2-40B4-BE49-F238E27FC236}">
                <a16:creationId xmlns:a16="http://schemas.microsoft.com/office/drawing/2014/main" id="{26ACAD64-44C6-5163-7457-8DF9DD7E566A}"/>
              </a:ext>
            </a:extLst>
          </p:cNvPr>
          <p:cNvSpPr txBox="1"/>
          <p:nvPr/>
        </p:nvSpPr>
        <p:spPr>
          <a:xfrm>
            <a:off x="7654834" y="4898568"/>
            <a:ext cx="3630776" cy="1107996"/>
          </a:xfrm>
          <a:prstGeom prst="rect">
            <a:avLst/>
          </a:prstGeom>
          <a:solidFill>
            <a:srgbClr val="F3F8F2"/>
          </a:solidFill>
          <a:effectLst>
            <a:softEdge rad="25400"/>
          </a:effectLst>
        </p:spPr>
        <p:txBody>
          <a:bodyPr wrap="square" rtlCol="0">
            <a:spAutoFit/>
          </a:bodyPr>
          <a:lstStyle/>
          <a:p>
            <a:r>
              <a:rPr lang="en-US" sz="2200" b="1" dirty="0">
                <a:solidFill>
                  <a:schemeClr val="tx1"/>
                </a:solidFill>
                <a:latin typeface="Abadi" panose="020B0604020104020204" pitchFamily="34" charset="0"/>
              </a:rPr>
              <a:t>Action</a:t>
            </a:r>
          </a:p>
          <a:p>
            <a:r>
              <a:rPr lang="en-US" sz="2200" dirty="0">
                <a:solidFill>
                  <a:schemeClr val="tx1"/>
                </a:solidFill>
                <a:latin typeface="Abadi" panose="020B0604020104020204" pitchFamily="34" charset="0"/>
              </a:rPr>
              <a:t>Tune the model to improve prediction of landing failures</a:t>
            </a:r>
            <a:endParaRPr lang="en-US" sz="2200" dirty="0"/>
          </a:p>
        </p:txBody>
      </p:sp>
      <p:cxnSp>
        <p:nvCxnSpPr>
          <p:cNvPr id="7" name="Straight Connector 6">
            <a:extLst>
              <a:ext uri="{FF2B5EF4-FFF2-40B4-BE49-F238E27FC236}">
                <a16:creationId xmlns:a16="http://schemas.microsoft.com/office/drawing/2014/main" id="{71245ECF-C956-352D-8BC4-322D81BF6475}"/>
              </a:ext>
            </a:extLst>
          </p:cNvPr>
          <p:cNvCxnSpPr>
            <a:cxnSpLocks/>
          </p:cNvCxnSpPr>
          <p:nvPr/>
        </p:nvCxnSpPr>
        <p:spPr>
          <a:xfrm>
            <a:off x="7596052" y="1658984"/>
            <a:ext cx="0" cy="4366589"/>
          </a:xfrm>
          <a:prstGeom prst="line">
            <a:avLst/>
          </a:prstGeom>
          <a:ln w="12700">
            <a:solidFill>
              <a:schemeClr val="accent5">
                <a:lumMod val="75000"/>
              </a:schemeClr>
            </a:solidFill>
          </a:ln>
          <a:effectLst>
            <a:outerShdw blurRad="254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4022A69-FBA6-3E3D-0E7F-799988B77FFF}"/>
              </a:ext>
            </a:extLst>
          </p:cNvPr>
          <p:cNvCxnSpPr>
            <a:cxnSpLocks/>
          </p:cNvCxnSpPr>
          <p:nvPr/>
        </p:nvCxnSpPr>
        <p:spPr>
          <a:xfrm flipH="1">
            <a:off x="7785465" y="4552406"/>
            <a:ext cx="3559626" cy="0"/>
          </a:xfrm>
          <a:prstGeom prst="line">
            <a:avLst/>
          </a:prstGeom>
          <a:ln w="12700">
            <a:solidFill>
              <a:schemeClr val="accent5">
                <a:lumMod val="75000"/>
              </a:schemeClr>
            </a:solidFill>
          </a:ln>
          <a:effectLst>
            <a:outerShdw blurRad="254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022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4</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958696" y="2081562"/>
            <a:ext cx="10399485" cy="351635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spcBef>
                <a:spcPts val="1400"/>
              </a:spcBef>
              <a:buNone/>
            </a:pPr>
            <a:r>
              <a:rPr lang="en-US" sz="2600" b="1" dirty="0">
                <a:solidFill>
                  <a:schemeClr val="accent3">
                    <a:lumMod val="25000"/>
                  </a:schemeClr>
                </a:solidFill>
                <a:latin typeface="Abadi" panose="020B0604020104020204" pitchFamily="34" charset="0"/>
              </a:rPr>
              <a:t>Background</a:t>
            </a:r>
            <a:r>
              <a:rPr lang="sk-SK" sz="2600" b="1" dirty="0">
                <a:solidFill>
                  <a:schemeClr val="accent3">
                    <a:lumMod val="25000"/>
                  </a:schemeClr>
                </a:solidFill>
                <a:latin typeface="Abadi" panose="020B0604020104020204" pitchFamily="34" charset="0"/>
              </a:rPr>
              <a:t> and </a:t>
            </a:r>
            <a:r>
              <a:rPr lang="en-US" sz="2600" b="1" dirty="0">
                <a:solidFill>
                  <a:schemeClr val="accent3">
                    <a:lumMod val="25000"/>
                  </a:schemeClr>
                </a:solidFill>
                <a:latin typeface="Abadi" panose="020B0604020104020204" pitchFamily="34" charset="0"/>
              </a:rPr>
              <a:t>Context</a:t>
            </a:r>
          </a:p>
          <a:p>
            <a:pPr>
              <a:spcBef>
                <a:spcPts val="1400"/>
              </a:spcBef>
            </a:pPr>
            <a:r>
              <a:rPr lang="en-US" sz="2200" dirty="0">
                <a:solidFill>
                  <a:schemeClr val="accent3">
                    <a:lumMod val="25000"/>
                  </a:schemeClr>
                </a:solidFill>
                <a:latin typeface="Abadi" panose="020B0604020104020204" pitchFamily="34" charset="0"/>
              </a:rPr>
              <a:t>SpaceX is a private American aerospace company established with a vision of decreasing the costs of space launches</a:t>
            </a:r>
          </a:p>
          <a:p>
            <a:pPr>
              <a:spcBef>
                <a:spcPts val="1400"/>
              </a:spcBef>
            </a:pPr>
            <a:r>
              <a:rPr lang="en-US" sz="2200" dirty="0">
                <a:solidFill>
                  <a:schemeClr val="accent3">
                    <a:lumMod val="25000"/>
                  </a:schemeClr>
                </a:solidFill>
                <a:latin typeface="Abadi" panose="020B0604020104020204" pitchFamily="34" charset="0"/>
              </a:rPr>
              <a:t>Most of savings is linked to possibility of reusing the first stage, which makes SpaceX highly competitive</a:t>
            </a:r>
            <a:endParaRPr lang="sk-SK" sz="2200" dirty="0">
              <a:solidFill>
                <a:schemeClr val="accent3">
                  <a:lumMod val="25000"/>
                </a:schemeClr>
              </a:solidFill>
              <a:latin typeface="Abadi" panose="020B0604020104020204" pitchFamily="34" charset="0"/>
            </a:endParaRPr>
          </a:p>
          <a:p>
            <a:pPr>
              <a:spcBef>
                <a:spcPts val="1400"/>
              </a:spcBef>
            </a:pPr>
            <a:endParaRPr lang="sk-SK" sz="2200" dirty="0">
              <a:solidFill>
                <a:schemeClr val="accent3">
                  <a:lumMod val="25000"/>
                </a:schemeClr>
              </a:solidFill>
              <a:latin typeface="Abadi" panose="020B0604020104020204" pitchFamily="34" charset="0"/>
            </a:endParaRPr>
          </a:p>
          <a:p>
            <a:pPr marL="0" indent="0">
              <a:spcBef>
                <a:spcPts val="1400"/>
              </a:spcBef>
              <a:buNone/>
            </a:pPr>
            <a:r>
              <a:rPr lang="en-US" sz="2600" b="1" dirty="0">
                <a:solidFill>
                  <a:schemeClr val="accent3">
                    <a:lumMod val="25000"/>
                  </a:schemeClr>
                </a:solidFill>
                <a:latin typeface="Abadi" panose="020B0604020104020204" pitchFamily="34" charset="0"/>
              </a:rPr>
              <a:t>Objectives</a:t>
            </a:r>
          </a:p>
          <a:p>
            <a:pPr>
              <a:spcBef>
                <a:spcPts val="1400"/>
              </a:spcBef>
            </a:pPr>
            <a:r>
              <a:rPr lang="en-US" sz="2200" dirty="0">
                <a:solidFill>
                  <a:schemeClr val="accent3">
                    <a:lumMod val="25000"/>
                  </a:schemeClr>
                </a:solidFill>
                <a:latin typeface="Abadi" panose="020B0604020104020204" pitchFamily="34" charset="0"/>
              </a:rPr>
              <a:t>Predicting whether the first stage will land successfully or not, helps calculate estimated launch costs =&gt; competitive offers to potential customers</a:t>
            </a:r>
          </a:p>
          <a:p>
            <a:pPr>
              <a:spcBef>
                <a:spcPts val="1400"/>
              </a:spcBef>
            </a:pPr>
            <a:r>
              <a:rPr lang="en-US" sz="2200" dirty="0">
                <a:solidFill>
                  <a:schemeClr val="accent3">
                    <a:lumMod val="25000"/>
                  </a:schemeClr>
                </a:solidFill>
                <a:latin typeface="Abadi" panose="020B0604020104020204" pitchFamily="34" charset="0"/>
              </a:rPr>
              <a:t>The objective of this project is to build a prediction model which allows us to answer the key question: </a:t>
            </a:r>
            <a:r>
              <a:rPr lang="en-US" sz="2400" b="1" dirty="0">
                <a:solidFill>
                  <a:schemeClr val="accent3">
                    <a:lumMod val="25000"/>
                  </a:schemeClr>
                </a:solidFill>
                <a:latin typeface="Abadi" panose="020B0604020104020204" pitchFamily="34" charset="0"/>
              </a:rPr>
              <a:t>Will the first stage land successfully or not?</a:t>
            </a:r>
          </a:p>
        </p:txBody>
      </p:sp>
    </p:spTree>
    <p:extLst>
      <p:ext uri="{BB962C8B-B14F-4D97-AF65-F5344CB8AC3E}">
        <p14:creationId xmlns:p14="http://schemas.microsoft.com/office/powerpoint/2010/main" val="256006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1BF29A-91D2-784B-9589-F5A3883168D5}"/>
              </a:ext>
            </a:extLst>
          </p:cNvPr>
          <p:cNvSpPr>
            <a:spLocks noGrp="1"/>
          </p:cNvSpPr>
          <p:nvPr>
            <p:ph type="sldNum" sz="quarter" idx="12"/>
          </p:nvPr>
        </p:nvSpPr>
        <p:spPr>
          <a:xfrm>
            <a:off x="9448800" y="6356350"/>
            <a:ext cx="2743200" cy="365125"/>
          </a:xfrm>
        </p:spPr>
        <p:txBody>
          <a:bodyPr/>
          <a:lstStyle/>
          <a:p>
            <a:fld id="{5075537C-CA84-1446-933C-8E9D027F9201}" type="slidenum">
              <a:rPr lang="en-US" smtClean="0"/>
              <a:t>5</a:t>
            </a:fld>
            <a:endParaRPr lang="en-US" dirty="0"/>
          </a:p>
        </p:txBody>
      </p:sp>
      <p:sp>
        <p:nvSpPr>
          <p:cNvPr id="2" name="TextBox 1">
            <a:extLst>
              <a:ext uri="{FF2B5EF4-FFF2-40B4-BE49-F238E27FC236}">
                <a16:creationId xmlns:a16="http://schemas.microsoft.com/office/drawing/2014/main" id="{99393D11-6810-B94E-A01A-A2D00E82E738}"/>
              </a:ext>
            </a:extLst>
          </p:cNvPr>
          <p:cNvSpPr txBox="1"/>
          <p:nvPr/>
        </p:nvSpPr>
        <p:spPr>
          <a:xfrm>
            <a:off x="765313" y="2812774"/>
            <a:ext cx="1058303" cy="369332"/>
          </a:xfrm>
          <a:prstGeom prst="rect">
            <a:avLst/>
          </a:prstGeom>
          <a:solidFill>
            <a:srgbClr val="0948CB"/>
          </a:solidFill>
        </p:spPr>
        <p:txBody>
          <a:bodyPr wrap="none" rtlCol="0">
            <a:spAutoFit/>
          </a:bodyPr>
          <a:lstStyle/>
          <a:p>
            <a:r>
              <a:rPr lang="en-US" dirty="0">
                <a:solidFill>
                  <a:schemeClr val="bg1"/>
                </a:solidFill>
              </a:rPr>
              <a:t>Section 1</a:t>
            </a:r>
          </a:p>
        </p:txBody>
      </p:sp>
    </p:spTree>
    <p:extLst>
      <p:ext uri="{BB962C8B-B14F-4D97-AF65-F5344CB8AC3E}">
        <p14:creationId xmlns:p14="http://schemas.microsoft.com/office/powerpoint/2010/main" val="3093198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92CF01-5F8F-9D43-96B9-A581954BA94A}"/>
              </a:ext>
            </a:extLst>
          </p:cNvPr>
          <p:cNvSpPr>
            <a:spLocks noGrp="1"/>
          </p:cNvSpPr>
          <p:nvPr>
            <p:ph type="sldNum" sz="quarter" idx="12"/>
          </p:nvPr>
        </p:nvSpPr>
        <p:spPr/>
        <p:txBody>
          <a:bodyPr/>
          <a:lstStyle/>
          <a:p>
            <a:fld id="{5075537C-CA84-1446-933C-8E9D027F9201}" type="slidenum">
              <a:rPr lang="en-US" smtClean="0"/>
              <a:t>6</a:t>
            </a:fld>
            <a:endParaRPr lang="en-US" dirty="0"/>
          </a:p>
        </p:txBody>
      </p:sp>
      <p:sp>
        <p:nvSpPr>
          <p:cNvPr id="7" name="Content Placeholder 2">
            <a:extLst>
              <a:ext uri="{FF2B5EF4-FFF2-40B4-BE49-F238E27FC236}">
                <a16:creationId xmlns:a16="http://schemas.microsoft.com/office/drawing/2014/main" id="{0BFEC426-B615-E549-83E5-140FD588BC64}"/>
              </a:ext>
            </a:extLst>
          </p:cNvPr>
          <p:cNvSpPr txBox="1">
            <a:spLocks/>
          </p:cNvSpPr>
          <p:nvPr/>
        </p:nvSpPr>
        <p:spPr>
          <a:xfrm>
            <a:off x="770011" y="1580808"/>
            <a:ext cx="10104817" cy="5211877"/>
          </a:xfrm>
          <a:prstGeom prst="rect">
            <a:avLst/>
          </a:prstGeom>
        </p:spPr>
        <p:txBody>
          <a:bodyPr lIns="91440" tIns="45720" rIns="91440" bIns="45720" anchor="t">
            <a:normAutofit fontScale="25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spcBef>
                <a:spcPts val="1400"/>
              </a:spcBef>
              <a:buNone/>
            </a:pPr>
            <a:r>
              <a:rPr lang="en-US" sz="8800" dirty="0">
                <a:solidFill>
                  <a:srgbClr val="0B49CB"/>
                </a:solidFill>
                <a:latin typeface="Abadi"/>
              </a:rPr>
              <a:t>Executive Summary</a:t>
            </a:r>
          </a:p>
          <a:p>
            <a:pPr>
              <a:lnSpc>
                <a:spcPct val="120000"/>
              </a:lnSpc>
              <a:spcBef>
                <a:spcPts val="1400"/>
              </a:spcBef>
            </a:pPr>
            <a:r>
              <a:rPr lang="en-US" sz="8800" dirty="0">
                <a:solidFill>
                  <a:schemeClr val="accent3">
                    <a:lumMod val="25000"/>
                  </a:schemeClr>
                </a:solidFill>
                <a:latin typeface="Abadi"/>
              </a:rPr>
              <a:t>Data collection methodology: data was collected via SpaceX REST API  and webscraping Wikipedia List of Falcon 9 and Falcon Heavy launches </a:t>
            </a:r>
            <a:endParaRPr lang="en-US" sz="7600" dirty="0">
              <a:solidFill>
                <a:schemeClr val="bg2">
                  <a:lumMod val="50000"/>
                </a:schemeClr>
              </a:solidFill>
              <a:latin typeface="Abadi"/>
            </a:endParaRPr>
          </a:p>
          <a:p>
            <a:pPr>
              <a:lnSpc>
                <a:spcPct val="120000"/>
              </a:lnSpc>
              <a:spcBef>
                <a:spcPts val="1400"/>
              </a:spcBef>
            </a:pPr>
            <a:r>
              <a:rPr lang="en-US" sz="8800" dirty="0">
                <a:solidFill>
                  <a:schemeClr val="accent3">
                    <a:lumMod val="25000"/>
                  </a:schemeClr>
                </a:solidFill>
                <a:latin typeface="Abadi"/>
              </a:rPr>
              <a:t>Performed data wrangling: collected data was processed using Pandas to retain relevant records, handle missing values, and create labels for machine learning</a:t>
            </a:r>
            <a:endParaRPr lang="en-US" sz="7600" dirty="0">
              <a:solidFill>
                <a:schemeClr val="bg2">
                  <a:lumMod val="50000"/>
                </a:schemeClr>
              </a:solidFill>
              <a:latin typeface="Abadi"/>
            </a:endParaRPr>
          </a:p>
          <a:p>
            <a:pPr>
              <a:lnSpc>
                <a:spcPct val="120000"/>
              </a:lnSpc>
              <a:spcBef>
                <a:spcPts val="1400"/>
              </a:spcBef>
            </a:pPr>
            <a:r>
              <a:rPr lang="en-US" sz="8800" dirty="0">
                <a:solidFill>
                  <a:schemeClr val="accent3">
                    <a:lumMod val="25000"/>
                  </a:schemeClr>
                </a:solidFill>
                <a:latin typeface="Abadi"/>
              </a:rPr>
              <a:t>Performed exploratory data analysis (EDA) using visualization and SQL</a:t>
            </a:r>
          </a:p>
          <a:p>
            <a:pPr>
              <a:lnSpc>
                <a:spcPct val="120000"/>
              </a:lnSpc>
              <a:spcBef>
                <a:spcPts val="1400"/>
              </a:spcBef>
            </a:pPr>
            <a:r>
              <a:rPr lang="en-US" sz="8800" dirty="0">
                <a:solidFill>
                  <a:schemeClr val="accent3">
                    <a:lumMod val="25000"/>
                  </a:schemeClr>
                </a:solidFill>
                <a:latin typeface="Abadi"/>
              </a:rPr>
              <a:t>Performed interactive visual analytics using Folium and Plotly Dash</a:t>
            </a:r>
          </a:p>
          <a:p>
            <a:pPr>
              <a:lnSpc>
                <a:spcPct val="120000"/>
              </a:lnSpc>
              <a:spcBef>
                <a:spcPts val="1400"/>
              </a:spcBef>
            </a:pPr>
            <a:r>
              <a:rPr lang="en-US" sz="8800" dirty="0">
                <a:solidFill>
                  <a:schemeClr val="accent3">
                    <a:lumMod val="25000"/>
                  </a:schemeClr>
                </a:solidFill>
                <a:latin typeface="Abadi"/>
              </a:rPr>
              <a:t>Performed predictive analysis using classification models: several classification models were built, tuned and evaluated. The best model has been identified.</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p:txBody>
      </p:sp>
      <p:sp>
        <p:nvSpPr>
          <p:cNvPr id="13" name="Title 1">
            <a:extLst>
              <a:ext uri="{FF2B5EF4-FFF2-40B4-BE49-F238E27FC236}">
                <a16:creationId xmlns:a16="http://schemas.microsoft.com/office/drawing/2014/main" id="{13C62649-0825-4926-8E2A-2EBCCFE00EC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Methodology</a:t>
            </a:r>
            <a:endParaRPr lang="en-US" dirty="0">
              <a:solidFill>
                <a:srgbClr val="0B49CB"/>
              </a:solidFill>
            </a:endParaRPr>
          </a:p>
        </p:txBody>
      </p:sp>
    </p:spTree>
    <p:extLst>
      <p:ext uri="{BB962C8B-B14F-4D97-AF65-F5344CB8AC3E}">
        <p14:creationId xmlns:p14="http://schemas.microsoft.com/office/powerpoint/2010/main" val="1553432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680117"/>
            <a:ext cx="10515600" cy="4496846"/>
          </a:xfrm>
          <a:prstGeom prst="rect">
            <a:avLst/>
          </a:prstGeom>
        </p:spPr>
        <p:txBody>
          <a:bodyPr/>
          <a:lstStyle/>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Data was collected via two sources:</a:t>
            </a:r>
          </a:p>
          <a:p>
            <a:pPr lvl="1">
              <a:lnSpc>
                <a:spcPct val="100000"/>
              </a:lnSpc>
              <a:spcBef>
                <a:spcPts val="1400"/>
              </a:spcBef>
            </a:pPr>
            <a:r>
              <a:rPr lang="en-US" sz="1800" dirty="0">
                <a:solidFill>
                  <a:schemeClr val="accent3">
                    <a:lumMod val="25000"/>
                  </a:schemeClr>
                </a:solidFill>
                <a:latin typeface="Abadi" panose="020B0604020104020204" pitchFamily="34" charset="0"/>
              </a:rPr>
              <a:t>SpaceX REST API:</a:t>
            </a:r>
          </a:p>
          <a:p>
            <a:pPr lvl="2">
              <a:lnSpc>
                <a:spcPct val="100000"/>
              </a:lnSpc>
              <a:spcBef>
                <a:spcPts val="1400"/>
              </a:spcBef>
            </a:pPr>
            <a:r>
              <a:rPr lang="en-US" sz="1400" dirty="0">
                <a:solidFill>
                  <a:schemeClr val="accent3">
                    <a:lumMod val="25000"/>
                  </a:schemeClr>
                </a:solidFill>
                <a:latin typeface="Abadi" panose="020B0604020104020204" pitchFamily="34" charset="0"/>
              </a:rPr>
              <a:t>Original data source: URL = </a:t>
            </a:r>
            <a:r>
              <a:rPr lang="en-US" sz="1400" dirty="0">
                <a:solidFill>
                  <a:schemeClr val="accent3">
                    <a:lumMod val="25000"/>
                  </a:schemeClr>
                </a:solidFill>
                <a:latin typeface="Abadi" panose="020B0604020104020204" pitchFamily="34" charset="0"/>
                <a:hlinkClick r:id="rId3"/>
              </a:rPr>
              <a:t>https://api.spacexdata.com/v4/launches/past</a:t>
            </a:r>
            <a:endParaRPr lang="en-US" sz="1400" dirty="0">
              <a:solidFill>
                <a:schemeClr val="accent3">
                  <a:lumMod val="25000"/>
                </a:schemeClr>
              </a:solidFill>
              <a:latin typeface="Abadi" panose="020B0604020104020204" pitchFamily="34" charset="0"/>
            </a:endParaRPr>
          </a:p>
          <a:p>
            <a:pPr lvl="2">
              <a:lnSpc>
                <a:spcPct val="100000"/>
              </a:lnSpc>
              <a:spcBef>
                <a:spcPts val="1400"/>
              </a:spcBef>
            </a:pPr>
            <a:r>
              <a:rPr lang="en-US" sz="1400" dirty="0">
                <a:solidFill>
                  <a:schemeClr val="accent3">
                    <a:lumMod val="25000"/>
                  </a:schemeClr>
                </a:solidFill>
                <a:latin typeface="Abadi" panose="020B0604020104020204" pitchFamily="34" charset="0"/>
              </a:rPr>
              <a:t>Data Source actually used for consistency reasons: URL = </a:t>
            </a:r>
            <a:r>
              <a:rPr lang="en-US" sz="1400" dirty="0">
                <a:solidFill>
                  <a:schemeClr val="accent3">
                    <a:lumMod val="25000"/>
                  </a:schemeClr>
                </a:solidFill>
                <a:latin typeface="Abadi" panose="020B0604020104020204" pitchFamily="34" charset="0"/>
                <a:hlinkClick r:id="rId4"/>
              </a:rPr>
              <a:t>https://cf-courses-data.s3.us.cloud-object-storage.appdomain.cloud/IBM-DS0321EN-SkillsNetwork/datasets/API_call_spacex_api.json</a:t>
            </a:r>
            <a:endParaRPr lang="en-US" sz="1400" dirty="0">
              <a:solidFill>
                <a:schemeClr val="accent3">
                  <a:lumMod val="25000"/>
                </a:schemeClr>
              </a:solidFill>
              <a:latin typeface="Abadi" panose="020B0604020104020204" pitchFamily="34" charset="0"/>
            </a:endParaRPr>
          </a:p>
          <a:p>
            <a:pPr lvl="2">
              <a:lnSpc>
                <a:spcPct val="100000"/>
              </a:lnSpc>
              <a:spcBef>
                <a:spcPts val="1400"/>
              </a:spcBef>
            </a:pPr>
            <a:r>
              <a:rPr lang="en-US" sz="1400" dirty="0">
                <a:solidFill>
                  <a:schemeClr val="accent3">
                    <a:lumMod val="25000"/>
                  </a:schemeClr>
                </a:solidFill>
                <a:latin typeface="Abadi" panose="020B0604020104020204" pitchFamily="34" charset="0"/>
              </a:rPr>
              <a:t>Data was enriched from secondary API endpoints (rockets, launchpads, payloads, and cores), URL = </a:t>
            </a:r>
            <a:r>
              <a:rPr lang="en-US" sz="1400" dirty="0">
                <a:solidFill>
                  <a:schemeClr val="accent3">
                    <a:lumMod val="25000"/>
                  </a:schemeClr>
                </a:solidFill>
                <a:latin typeface="Abadi" panose="020B0604020104020204" pitchFamily="34" charset="0"/>
                <a:hlinkClick r:id="rId5"/>
              </a:rPr>
              <a:t>https://api.spacexdata.com/v4/item</a:t>
            </a:r>
            <a:r>
              <a:rPr lang="en-US" sz="1400" dirty="0">
                <a:solidFill>
                  <a:schemeClr val="accent3">
                    <a:lumMod val="25000"/>
                  </a:schemeClr>
                </a:solidFill>
                <a:latin typeface="Abadi" panose="020B0604020104020204" pitchFamily="34" charset="0"/>
              </a:rPr>
              <a:t>   </a:t>
            </a:r>
          </a:p>
          <a:p>
            <a:pPr lvl="1">
              <a:lnSpc>
                <a:spcPct val="100000"/>
              </a:lnSpc>
              <a:spcBef>
                <a:spcPts val="1400"/>
              </a:spcBef>
            </a:pPr>
            <a:r>
              <a:rPr lang="en-US" sz="1800" dirty="0">
                <a:solidFill>
                  <a:schemeClr val="accent3">
                    <a:lumMod val="25000"/>
                  </a:schemeClr>
                </a:solidFill>
                <a:latin typeface="Abadi"/>
              </a:rPr>
              <a:t>Wikipedia List of Falcon 9 and Falcon Heavy launches: URL = </a:t>
            </a:r>
            <a:r>
              <a:rPr lang="en-US" sz="1800" dirty="0">
                <a:solidFill>
                  <a:schemeClr val="accent3">
                    <a:lumMod val="25000"/>
                  </a:schemeClr>
                </a:solidFill>
                <a:latin typeface="Abadi"/>
                <a:hlinkClick r:id="rId6"/>
              </a:rPr>
              <a:t>https://en.wikipedia.org/w/index.php?title=List_of_Falcon_9_and_Falcon_Heavy_launches&amp;oldid=1027686922</a:t>
            </a:r>
            <a:endParaRPr lang="en-US" sz="1800" dirty="0">
              <a:solidFill>
                <a:schemeClr val="accent3">
                  <a:lumMod val="25000"/>
                </a:schemeClr>
              </a:solidFill>
              <a:latin typeface="Abadi"/>
            </a:endParaRPr>
          </a:p>
          <a:p>
            <a:pPr lvl="1">
              <a:lnSpc>
                <a:spcPct val="100000"/>
              </a:lnSpc>
              <a:spcBef>
                <a:spcPts val="1400"/>
              </a:spcBef>
            </a:pPr>
            <a:endParaRPr lang="en-US" sz="1800" dirty="0">
              <a:solidFill>
                <a:schemeClr val="accent3">
                  <a:lumMod val="25000"/>
                </a:schemeClr>
              </a:solidFill>
              <a:latin typeface="Abadi"/>
            </a:endParaRPr>
          </a:p>
          <a:p>
            <a:pPr marL="0" indent="0">
              <a:lnSpc>
                <a:spcPct val="100000"/>
              </a:lnSpc>
              <a:spcBef>
                <a:spcPts val="1400"/>
              </a:spcBef>
              <a:buNone/>
            </a:pPr>
            <a:r>
              <a:rPr lang="en-US" sz="2200" b="1" dirty="0">
                <a:solidFill>
                  <a:schemeClr val="accent3">
                    <a:lumMod val="25000"/>
                  </a:schemeClr>
                </a:solidFill>
                <a:latin typeface="Abadi" panose="020B0604020104020204" pitchFamily="34" charset="0"/>
              </a:rPr>
              <a:t>Data retrieved via SpaceX REST API was used for further modelling</a:t>
            </a:r>
          </a:p>
        </p:txBody>
      </p:sp>
      <p:sp>
        <p:nvSpPr>
          <p:cNvPr id="12" name="Title 1">
            <a:extLst>
              <a:ext uri="{FF2B5EF4-FFF2-40B4-BE49-F238E27FC236}">
                <a16:creationId xmlns:a16="http://schemas.microsoft.com/office/drawing/2014/main" id="{D77AC1D2-8B41-4A7A-88CF-41E6B7D8C98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a:t>
            </a:r>
            <a:endParaRPr lang="en-US" dirty="0">
              <a:solidFill>
                <a:srgbClr val="0B49CB"/>
              </a:solidFill>
            </a:endParaRPr>
          </a:p>
        </p:txBody>
      </p:sp>
    </p:spTree>
    <p:extLst>
      <p:ext uri="{BB962C8B-B14F-4D97-AF65-F5344CB8AC3E}">
        <p14:creationId xmlns:p14="http://schemas.microsoft.com/office/powerpoint/2010/main" val="3288665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8</a:t>
            </a:fld>
            <a:endParaRPr lang="en-US"/>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820738" y="1800225"/>
            <a:ext cx="4640263" cy="3729797"/>
          </a:xfrm>
          <a:prstGeom prst="rect">
            <a:avLst/>
          </a:prstGeom>
        </p:spPr>
        <p:txBody>
          <a:bodyPr vert="horz" lIns="91440" tIns="45720" rIns="91440" bIns="45720" rtlCol="0" anchor="t">
            <a:normAutofit fontScale="77500" lnSpcReduction="20000"/>
          </a:bodyPr>
          <a:lstStyle/>
          <a:p>
            <a:pPr>
              <a:lnSpc>
                <a:spcPct val="100000"/>
              </a:lnSpc>
              <a:spcBef>
                <a:spcPts val="1400"/>
              </a:spcBef>
            </a:pPr>
            <a:r>
              <a:rPr lang="en-US" sz="2200" dirty="0">
                <a:solidFill>
                  <a:schemeClr val="accent3">
                    <a:lumMod val="25000"/>
                  </a:schemeClr>
                </a:solidFill>
                <a:latin typeface="Abadi" panose="020B0604020104020204" pitchFamily="34" charset="0"/>
              </a:rPr>
              <a:t>Data retrieval from SpaceX REST API using Python requests library</a:t>
            </a:r>
          </a:p>
          <a:p>
            <a:pPr>
              <a:lnSpc>
                <a:spcPct val="100000"/>
              </a:lnSpc>
              <a:spcBef>
                <a:spcPts val="1400"/>
              </a:spcBef>
            </a:pPr>
            <a:r>
              <a:rPr lang="en-US" sz="2200" dirty="0">
                <a:solidFill>
                  <a:schemeClr val="accent3">
                    <a:lumMod val="25000"/>
                  </a:schemeClr>
                </a:solidFill>
                <a:latin typeface="Abadi" panose="020B0604020104020204" pitchFamily="34" charset="0"/>
              </a:rPr>
              <a:t>Data normalization and processing performed via Pandas DataFrames</a:t>
            </a:r>
          </a:p>
          <a:p>
            <a:pPr>
              <a:lnSpc>
                <a:spcPct val="100000"/>
              </a:lnSpc>
              <a:spcBef>
                <a:spcPts val="1400"/>
              </a:spcBef>
            </a:pPr>
            <a:r>
              <a:rPr lang="en-US" sz="2200" dirty="0">
                <a:solidFill>
                  <a:schemeClr val="accent3">
                    <a:lumMod val="25000"/>
                  </a:schemeClr>
                </a:solidFill>
                <a:latin typeface="Abadi" panose="020B0604020104020204" pitchFamily="34" charset="0"/>
              </a:rPr>
              <a:t>Specific features extracted and utilized to enrich data using secondary SpaceX API endpoints (via auxiliary functions)</a:t>
            </a:r>
          </a:p>
          <a:p>
            <a:pPr>
              <a:lnSpc>
                <a:spcPct val="100000"/>
              </a:lnSpc>
              <a:spcBef>
                <a:spcPts val="1400"/>
              </a:spcBef>
            </a:pPr>
            <a:r>
              <a:rPr lang="en-US" sz="2200" dirty="0">
                <a:solidFill>
                  <a:schemeClr val="accent3">
                    <a:lumMod val="25000"/>
                  </a:schemeClr>
                </a:solidFill>
                <a:latin typeface="Abadi" panose="020B0604020104020204" pitchFamily="34" charset="0"/>
              </a:rPr>
              <a:t>Records up to November 13, 2020 with one core and only related to Falcon 9 were retained</a:t>
            </a:r>
          </a:p>
          <a:p>
            <a:pPr>
              <a:lnSpc>
                <a:spcPct val="100000"/>
              </a:lnSpc>
              <a:spcBef>
                <a:spcPts val="1400"/>
              </a:spcBef>
            </a:pPr>
            <a:r>
              <a:rPr lang="en-US" sz="2200" dirty="0">
                <a:solidFill>
                  <a:schemeClr val="accent3">
                    <a:lumMod val="25000"/>
                  </a:schemeClr>
                </a:solidFill>
                <a:latin typeface="Abadi" panose="020B0604020104020204" pitchFamily="34" charset="0"/>
              </a:rPr>
              <a:t>Data wrangling – missing PayloadMass values filled with mean</a:t>
            </a:r>
          </a:p>
          <a:p>
            <a:pPr>
              <a:lnSpc>
                <a:spcPct val="100000"/>
              </a:lnSpc>
              <a:spcBef>
                <a:spcPts val="1400"/>
              </a:spcBef>
            </a:pPr>
            <a:r>
              <a:rPr lang="en-US" sz="2200" dirty="0">
                <a:solidFill>
                  <a:schemeClr val="accent3">
                    <a:lumMod val="25000"/>
                  </a:schemeClr>
                </a:solidFill>
                <a:latin typeface="Abadi" panose="020B0604020104020204" pitchFamily="34" charset="0"/>
              </a:rPr>
              <a:t>Data export to CSV file (dataset_part_1.csv)</a:t>
            </a:r>
            <a:endParaRPr lang="en-US" dirty="0"/>
          </a:p>
          <a:p>
            <a:endParaRPr lang="en-US" dirty="0"/>
          </a:p>
        </p:txBody>
      </p:sp>
      <p:sp>
        <p:nvSpPr>
          <p:cNvPr id="4" name="Title 1">
            <a:extLst>
              <a:ext uri="{FF2B5EF4-FFF2-40B4-BE49-F238E27FC236}">
                <a16:creationId xmlns:a16="http://schemas.microsoft.com/office/drawing/2014/main" id="{5066AA34-20EE-4A59-B343-346A8DB5667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SpaceX API</a:t>
            </a:r>
          </a:p>
        </p:txBody>
      </p:sp>
      <p:sp>
        <p:nvSpPr>
          <p:cNvPr id="7" name="Flowchart: Terminator 6">
            <a:extLst>
              <a:ext uri="{FF2B5EF4-FFF2-40B4-BE49-F238E27FC236}">
                <a16:creationId xmlns:a16="http://schemas.microsoft.com/office/drawing/2014/main" id="{D0B4A5B8-9C02-C8BC-2EAD-63796A0865B1}"/>
              </a:ext>
            </a:extLst>
          </p:cNvPr>
          <p:cNvSpPr/>
          <p:nvPr/>
        </p:nvSpPr>
        <p:spPr>
          <a:xfrm>
            <a:off x="6462274" y="1385635"/>
            <a:ext cx="700965" cy="444326"/>
          </a:xfrm>
          <a:prstGeom prst="flowChartTerminator">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Start</a:t>
            </a:r>
          </a:p>
        </p:txBody>
      </p:sp>
      <p:sp>
        <p:nvSpPr>
          <p:cNvPr id="9" name="Flowchart: Data 8">
            <a:extLst>
              <a:ext uri="{FF2B5EF4-FFF2-40B4-BE49-F238E27FC236}">
                <a16:creationId xmlns:a16="http://schemas.microsoft.com/office/drawing/2014/main" id="{77D81669-1D1C-5061-C379-4A24C6D085DE}"/>
              </a:ext>
            </a:extLst>
          </p:cNvPr>
          <p:cNvSpPr/>
          <p:nvPr/>
        </p:nvSpPr>
        <p:spPr>
          <a:xfrm>
            <a:off x="6183694" y="2086341"/>
            <a:ext cx="1258125" cy="444326"/>
          </a:xfrm>
          <a:prstGeom prst="flowChartInputOutpu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API Endpoint</a:t>
            </a:r>
          </a:p>
        </p:txBody>
      </p:sp>
      <p:sp>
        <p:nvSpPr>
          <p:cNvPr id="10" name="Flowchart: Process 9">
            <a:extLst>
              <a:ext uri="{FF2B5EF4-FFF2-40B4-BE49-F238E27FC236}">
                <a16:creationId xmlns:a16="http://schemas.microsoft.com/office/drawing/2014/main" id="{D234F8BF-4F8E-EDD8-8169-C9DC99A32C37}"/>
              </a:ext>
            </a:extLst>
          </p:cNvPr>
          <p:cNvSpPr/>
          <p:nvPr/>
        </p:nvSpPr>
        <p:spPr>
          <a:xfrm>
            <a:off x="8185690" y="2086341"/>
            <a:ext cx="871964"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GET request</a:t>
            </a:r>
          </a:p>
        </p:txBody>
      </p:sp>
      <p:sp>
        <p:nvSpPr>
          <p:cNvPr id="11" name="Flowchart: Decision 10">
            <a:extLst>
              <a:ext uri="{FF2B5EF4-FFF2-40B4-BE49-F238E27FC236}">
                <a16:creationId xmlns:a16="http://schemas.microsoft.com/office/drawing/2014/main" id="{ADE1E4DD-1B3A-9805-20E2-396DD02BC725}"/>
              </a:ext>
            </a:extLst>
          </p:cNvPr>
          <p:cNvSpPr/>
          <p:nvPr/>
        </p:nvSpPr>
        <p:spPr>
          <a:xfrm>
            <a:off x="9561700" y="2020644"/>
            <a:ext cx="1688083" cy="567617"/>
          </a:xfrm>
          <a:prstGeom prst="flowChartDecision">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lang="en-US" sz="1200" dirty="0"/>
              <a:t>Request Successful</a:t>
            </a:r>
          </a:p>
        </p:txBody>
      </p:sp>
      <p:sp>
        <p:nvSpPr>
          <p:cNvPr id="19" name="Flowchart: Process 18">
            <a:extLst>
              <a:ext uri="{FF2B5EF4-FFF2-40B4-BE49-F238E27FC236}">
                <a16:creationId xmlns:a16="http://schemas.microsoft.com/office/drawing/2014/main" id="{2A82AA62-20A1-4131-BAC0-CB287885F1AC}"/>
              </a:ext>
            </a:extLst>
          </p:cNvPr>
          <p:cNvSpPr/>
          <p:nvPr/>
        </p:nvSpPr>
        <p:spPr>
          <a:xfrm>
            <a:off x="9730638" y="2588266"/>
            <a:ext cx="390314" cy="246067"/>
          </a:xfrm>
          <a:prstGeom prst="flowChart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200" dirty="0">
                <a:solidFill>
                  <a:schemeClr val="tx1"/>
                </a:solidFill>
              </a:rPr>
              <a:t>No</a:t>
            </a:r>
          </a:p>
        </p:txBody>
      </p:sp>
      <p:sp>
        <p:nvSpPr>
          <p:cNvPr id="38" name="Flowchart: Process 37">
            <a:extLst>
              <a:ext uri="{FF2B5EF4-FFF2-40B4-BE49-F238E27FC236}">
                <a16:creationId xmlns:a16="http://schemas.microsoft.com/office/drawing/2014/main" id="{CF4DB2C4-6B3B-5FF1-A8A3-6A92CD6AECA9}"/>
              </a:ext>
            </a:extLst>
          </p:cNvPr>
          <p:cNvSpPr/>
          <p:nvPr/>
        </p:nvSpPr>
        <p:spPr>
          <a:xfrm>
            <a:off x="6083302" y="3083758"/>
            <a:ext cx="1458908"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Normalize &amp; Extract Features and Data</a:t>
            </a:r>
          </a:p>
        </p:txBody>
      </p:sp>
      <p:sp>
        <p:nvSpPr>
          <p:cNvPr id="40" name="Flowchart: Process 39">
            <a:extLst>
              <a:ext uri="{FF2B5EF4-FFF2-40B4-BE49-F238E27FC236}">
                <a16:creationId xmlns:a16="http://schemas.microsoft.com/office/drawing/2014/main" id="{E49E28DB-97DB-4ABA-0936-75BD8C3EC6FA}"/>
              </a:ext>
            </a:extLst>
          </p:cNvPr>
          <p:cNvSpPr/>
          <p:nvPr/>
        </p:nvSpPr>
        <p:spPr>
          <a:xfrm>
            <a:off x="10729428" y="2793067"/>
            <a:ext cx="390314" cy="246067"/>
          </a:xfrm>
          <a:prstGeom prst="flowChart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200" dirty="0">
                <a:solidFill>
                  <a:schemeClr val="tx1"/>
                </a:solidFill>
              </a:rPr>
              <a:t>Yes</a:t>
            </a:r>
          </a:p>
        </p:txBody>
      </p:sp>
      <p:sp>
        <p:nvSpPr>
          <p:cNvPr id="72" name="Flowchart: Data 71">
            <a:extLst>
              <a:ext uri="{FF2B5EF4-FFF2-40B4-BE49-F238E27FC236}">
                <a16:creationId xmlns:a16="http://schemas.microsoft.com/office/drawing/2014/main" id="{818B971E-0EC6-2F81-D8FC-293F3102C935}"/>
              </a:ext>
            </a:extLst>
          </p:cNvPr>
          <p:cNvSpPr/>
          <p:nvPr/>
        </p:nvSpPr>
        <p:spPr>
          <a:xfrm>
            <a:off x="7843306" y="3083757"/>
            <a:ext cx="1556733" cy="444325"/>
          </a:xfrm>
          <a:prstGeom prst="flowChartInputOutpu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Data</a:t>
            </a:r>
            <a:r>
              <a:rPr lang="sk-SK" sz="1200" dirty="0">
                <a:solidFill>
                  <a:schemeClr val="tx1"/>
                </a:solidFill>
              </a:rPr>
              <a:t>F</a:t>
            </a:r>
            <a:r>
              <a:rPr lang="en-US" sz="1200" dirty="0">
                <a:solidFill>
                  <a:schemeClr val="tx1"/>
                </a:solidFill>
              </a:rPr>
              <a:t>rame</a:t>
            </a:r>
            <a:r>
              <a:rPr lang="sk-SK" sz="1200" dirty="0">
                <a:solidFill>
                  <a:schemeClr val="tx1"/>
                </a:solidFill>
              </a:rPr>
              <a:t>:</a:t>
            </a:r>
            <a:r>
              <a:rPr lang="en-US" sz="1200" dirty="0">
                <a:solidFill>
                  <a:schemeClr val="tx1"/>
                </a:solidFill>
              </a:rPr>
              <a:t> data</a:t>
            </a:r>
          </a:p>
        </p:txBody>
      </p:sp>
      <p:cxnSp>
        <p:nvCxnSpPr>
          <p:cNvPr id="73" name="Straight Arrow Connector 72">
            <a:extLst>
              <a:ext uri="{FF2B5EF4-FFF2-40B4-BE49-F238E27FC236}">
                <a16:creationId xmlns:a16="http://schemas.microsoft.com/office/drawing/2014/main" id="{7F07BAE8-DF99-9B39-9E3D-830B65E43859}"/>
              </a:ext>
            </a:extLst>
          </p:cNvPr>
          <p:cNvCxnSpPr>
            <a:cxnSpLocks/>
            <a:stCxn id="38" idx="3"/>
            <a:endCxn id="72" idx="2"/>
          </p:cNvCxnSpPr>
          <p:nvPr/>
        </p:nvCxnSpPr>
        <p:spPr>
          <a:xfrm flipV="1">
            <a:off x="7542210" y="3305920"/>
            <a:ext cx="456769" cy="1"/>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C210F611-D237-FF76-0225-03840FB7E635}"/>
              </a:ext>
            </a:extLst>
          </p:cNvPr>
          <p:cNvCxnSpPr>
            <a:cxnSpLocks/>
            <a:stCxn id="9" idx="5"/>
            <a:endCxn id="10" idx="1"/>
          </p:cNvCxnSpPr>
          <p:nvPr/>
        </p:nvCxnSpPr>
        <p:spPr>
          <a:xfrm>
            <a:off x="7316007" y="2308504"/>
            <a:ext cx="869683" cy="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613AE659-F39B-EE55-CE29-1E7722461B6D}"/>
              </a:ext>
            </a:extLst>
          </p:cNvPr>
          <p:cNvCxnSpPr>
            <a:cxnSpLocks/>
            <a:stCxn id="10" idx="3"/>
            <a:endCxn id="11" idx="1"/>
          </p:cNvCxnSpPr>
          <p:nvPr/>
        </p:nvCxnSpPr>
        <p:spPr>
          <a:xfrm flipV="1">
            <a:off x="9057654" y="2304453"/>
            <a:ext cx="504046" cy="4051"/>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129" name="Connector: Elbow 128">
            <a:extLst>
              <a:ext uri="{FF2B5EF4-FFF2-40B4-BE49-F238E27FC236}">
                <a16:creationId xmlns:a16="http://schemas.microsoft.com/office/drawing/2014/main" id="{291FC98B-2285-96B5-5423-6AAA274B8D86}"/>
              </a:ext>
            </a:extLst>
          </p:cNvPr>
          <p:cNvCxnSpPr>
            <a:cxnSpLocks/>
            <a:stCxn id="11" idx="3"/>
            <a:endCxn id="40" idx="3"/>
          </p:cNvCxnSpPr>
          <p:nvPr/>
        </p:nvCxnSpPr>
        <p:spPr>
          <a:xfrm flipH="1">
            <a:off x="11119742" y="2304453"/>
            <a:ext cx="130041" cy="611648"/>
          </a:xfrm>
          <a:prstGeom prst="bentConnector3">
            <a:avLst>
              <a:gd name="adj1" fmla="val -112906"/>
            </a:avLst>
          </a:prstGeom>
          <a:ln w="9525">
            <a:tailEnd type="none"/>
          </a:ln>
        </p:spPr>
        <p:style>
          <a:lnRef idx="1">
            <a:schemeClr val="accent1"/>
          </a:lnRef>
          <a:fillRef idx="0">
            <a:schemeClr val="accent1"/>
          </a:fillRef>
          <a:effectRef idx="0">
            <a:schemeClr val="accent1"/>
          </a:effectRef>
          <a:fontRef idx="minor">
            <a:schemeClr val="tx1"/>
          </a:fontRef>
        </p:style>
      </p:cxnSp>
      <p:cxnSp>
        <p:nvCxnSpPr>
          <p:cNvPr id="142" name="Connector: Elbow 141">
            <a:extLst>
              <a:ext uri="{FF2B5EF4-FFF2-40B4-BE49-F238E27FC236}">
                <a16:creationId xmlns:a16="http://schemas.microsoft.com/office/drawing/2014/main" id="{A8347300-B43F-2CF5-3F81-698ED5A4E4F0}"/>
              </a:ext>
            </a:extLst>
          </p:cNvPr>
          <p:cNvCxnSpPr>
            <a:cxnSpLocks/>
            <a:stCxn id="40" idx="1"/>
            <a:endCxn id="38" idx="0"/>
          </p:cNvCxnSpPr>
          <p:nvPr/>
        </p:nvCxnSpPr>
        <p:spPr>
          <a:xfrm rot="10800000" flipV="1">
            <a:off x="6812756" y="2916100"/>
            <a:ext cx="3916672" cy="167657"/>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167" name="Connector: Elbow 166">
            <a:extLst>
              <a:ext uri="{FF2B5EF4-FFF2-40B4-BE49-F238E27FC236}">
                <a16:creationId xmlns:a16="http://schemas.microsoft.com/office/drawing/2014/main" id="{4FADBBAC-C0C6-A758-9548-1F8F0E43D345}"/>
              </a:ext>
            </a:extLst>
          </p:cNvPr>
          <p:cNvCxnSpPr>
            <a:cxnSpLocks/>
            <a:stCxn id="19" idx="1"/>
            <a:endCxn id="9" idx="4"/>
          </p:cNvCxnSpPr>
          <p:nvPr/>
        </p:nvCxnSpPr>
        <p:spPr>
          <a:xfrm rot="10800000">
            <a:off x="6812758" y="2530668"/>
            <a:ext cx="2917881" cy="180633"/>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194" name="Connector: Elbow 193">
            <a:extLst>
              <a:ext uri="{FF2B5EF4-FFF2-40B4-BE49-F238E27FC236}">
                <a16:creationId xmlns:a16="http://schemas.microsoft.com/office/drawing/2014/main" id="{86545D44-26B2-E858-8944-43838AB9A097}"/>
              </a:ext>
            </a:extLst>
          </p:cNvPr>
          <p:cNvCxnSpPr>
            <a:cxnSpLocks/>
            <a:stCxn id="11" idx="2"/>
            <a:endCxn id="19" idx="3"/>
          </p:cNvCxnSpPr>
          <p:nvPr/>
        </p:nvCxnSpPr>
        <p:spPr>
          <a:xfrm rot="5400000">
            <a:off x="10201828" y="2507385"/>
            <a:ext cx="123039" cy="284790"/>
          </a:xfrm>
          <a:prstGeom prst="bentConnector2">
            <a:avLst/>
          </a:prstGeom>
          <a:ln>
            <a:tailEnd type="none"/>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5605DD0C-23D1-E5B2-27A3-B76AE126D890}"/>
              </a:ext>
            </a:extLst>
          </p:cNvPr>
          <p:cNvCxnSpPr>
            <a:cxnSpLocks/>
            <a:stCxn id="72" idx="5"/>
            <a:endCxn id="235" idx="1"/>
          </p:cNvCxnSpPr>
          <p:nvPr/>
        </p:nvCxnSpPr>
        <p:spPr>
          <a:xfrm>
            <a:off x="9244366" y="3305920"/>
            <a:ext cx="383009" cy="1"/>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235" name="Flowchart: Process 234">
            <a:extLst>
              <a:ext uri="{FF2B5EF4-FFF2-40B4-BE49-F238E27FC236}">
                <a16:creationId xmlns:a16="http://schemas.microsoft.com/office/drawing/2014/main" id="{334A0020-3827-3F87-0E09-3641CB60C486}"/>
              </a:ext>
            </a:extLst>
          </p:cNvPr>
          <p:cNvSpPr/>
          <p:nvPr/>
        </p:nvSpPr>
        <p:spPr>
          <a:xfrm>
            <a:off x="9627375" y="3083758"/>
            <a:ext cx="1556733"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Enrich Data via Additional API Calls</a:t>
            </a:r>
          </a:p>
        </p:txBody>
      </p:sp>
      <p:cxnSp>
        <p:nvCxnSpPr>
          <p:cNvPr id="245" name="Connector: Elbow 244">
            <a:extLst>
              <a:ext uri="{FF2B5EF4-FFF2-40B4-BE49-F238E27FC236}">
                <a16:creationId xmlns:a16="http://schemas.microsoft.com/office/drawing/2014/main" id="{B91A9AE8-92A5-6237-E667-3AC709910EF8}"/>
              </a:ext>
            </a:extLst>
          </p:cNvPr>
          <p:cNvCxnSpPr>
            <a:cxnSpLocks/>
            <a:stCxn id="235" idx="3"/>
            <a:endCxn id="256" idx="1"/>
          </p:cNvCxnSpPr>
          <p:nvPr/>
        </p:nvCxnSpPr>
        <p:spPr>
          <a:xfrm flipH="1">
            <a:off x="6229431" y="3305921"/>
            <a:ext cx="4954677" cy="1005173"/>
          </a:xfrm>
          <a:prstGeom prst="bentConnector5">
            <a:avLst>
              <a:gd name="adj1" fmla="val -4614"/>
              <a:gd name="adj2" fmla="val 50000"/>
              <a:gd name="adj3" fmla="val 104614"/>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256" name="Flowchart: Process 255">
            <a:extLst>
              <a:ext uri="{FF2B5EF4-FFF2-40B4-BE49-F238E27FC236}">
                <a16:creationId xmlns:a16="http://schemas.microsoft.com/office/drawing/2014/main" id="{AE035B50-BAA7-632C-6F29-E1629B48DE8A}"/>
              </a:ext>
            </a:extLst>
          </p:cNvPr>
          <p:cNvSpPr/>
          <p:nvPr/>
        </p:nvSpPr>
        <p:spPr>
          <a:xfrm>
            <a:off x="6229431" y="4088931"/>
            <a:ext cx="1166650"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Extract Falcon 9 Launches</a:t>
            </a:r>
          </a:p>
        </p:txBody>
      </p:sp>
      <p:sp>
        <p:nvSpPr>
          <p:cNvPr id="260" name="Flowchart: Data 259">
            <a:extLst>
              <a:ext uri="{FF2B5EF4-FFF2-40B4-BE49-F238E27FC236}">
                <a16:creationId xmlns:a16="http://schemas.microsoft.com/office/drawing/2014/main" id="{B8B6AE76-CA5E-E3CC-60D1-1E59870E488B}"/>
              </a:ext>
            </a:extLst>
          </p:cNvPr>
          <p:cNvSpPr/>
          <p:nvPr/>
        </p:nvSpPr>
        <p:spPr>
          <a:xfrm>
            <a:off x="9539413" y="4088932"/>
            <a:ext cx="1732657" cy="444325"/>
          </a:xfrm>
          <a:prstGeom prst="flowChartInputOutpu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Data</a:t>
            </a:r>
            <a:r>
              <a:rPr lang="sk-SK" sz="1200" dirty="0">
                <a:solidFill>
                  <a:schemeClr val="tx1"/>
                </a:solidFill>
              </a:rPr>
              <a:t>F</a:t>
            </a:r>
            <a:r>
              <a:rPr lang="en-US" sz="1200" dirty="0">
                <a:solidFill>
                  <a:schemeClr val="tx1"/>
                </a:solidFill>
              </a:rPr>
              <a:t>ram</a:t>
            </a:r>
            <a:r>
              <a:rPr lang="sk-SK" sz="1200" dirty="0">
                <a:solidFill>
                  <a:schemeClr val="tx1"/>
                </a:solidFill>
              </a:rPr>
              <a:t>e:</a:t>
            </a:r>
            <a:r>
              <a:rPr lang="en-US" sz="1200" dirty="0">
                <a:solidFill>
                  <a:schemeClr val="tx1"/>
                </a:solidFill>
              </a:rPr>
              <a:t> data_falcon9</a:t>
            </a:r>
          </a:p>
        </p:txBody>
      </p:sp>
      <p:cxnSp>
        <p:nvCxnSpPr>
          <p:cNvPr id="261" name="Straight Arrow Connector 260">
            <a:extLst>
              <a:ext uri="{FF2B5EF4-FFF2-40B4-BE49-F238E27FC236}">
                <a16:creationId xmlns:a16="http://schemas.microsoft.com/office/drawing/2014/main" id="{CCFBD62A-21F7-6767-A428-549FDC7DEB6B}"/>
              </a:ext>
            </a:extLst>
          </p:cNvPr>
          <p:cNvCxnSpPr>
            <a:cxnSpLocks/>
            <a:stCxn id="256" idx="3"/>
            <a:endCxn id="413" idx="1"/>
          </p:cNvCxnSpPr>
          <p:nvPr/>
        </p:nvCxnSpPr>
        <p:spPr>
          <a:xfrm>
            <a:off x="7396081" y="4311094"/>
            <a:ext cx="604619" cy="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301" name="Flowchart: Terminator 300">
            <a:extLst>
              <a:ext uri="{FF2B5EF4-FFF2-40B4-BE49-F238E27FC236}">
                <a16:creationId xmlns:a16="http://schemas.microsoft.com/office/drawing/2014/main" id="{0DF998F1-0E3C-ADEE-453E-D5D2FD298003}"/>
              </a:ext>
            </a:extLst>
          </p:cNvPr>
          <p:cNvSpPr/>
          <p:nvPr/>
        </p:nvSpPr>
        <p:spPr>
          <a:xfrm>
            <a:off x="10055259" y="5624714"/>
            <a:ext cx="700965" cy="444326"/>
          </a:xfrm>
          <a:prstGeom prst="flowChartTerminator">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End</a:t>
            </a:r>
          </a:p>
        </p:txBody>
      </p:sp>
      <p:cxnSp>
        <p:nvCxnSpPr>
          <p:cNvPr id="326" name="Straight Arrow Connector 325">
            <a:extLst>
              <a:ext uri="{FF2B5EF4-FFF2-40B4-BE49-F238E27FC236}">
                <a16:creationId xmlns:a16="http://schemas.microsoft.com/office/drawing/2014/main" id="{836C954B-3271-02DE-A799-1CAA1F447DCC}"/>
              </a:ext>
            </a:extLst>
          </p:cNvPr>
          <p:cNvCxnSpPr>
            <a:cxnSpLocks/>
            <a:stCxn id="7" idx="2"/>
            <a:endCxn id="9" idx="1"/>
          </p:cNvCxnSpPr>
          <p:nvPr/>
        </p:nvCxnSpPr>
        <p:spPr>
          <a:xfrm>
            <a:off x="6812757" y="1829961"/>
            <a:ext cx="0" cy="25638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349" name="TextBox 348">
            <a:extLst>
              <a:ext uri="{FF2B5EF4-FFF2-40B4-BE49-F238E27FC236}">
                <a16:creationId xmlns:a16="http://schemas.microsoft.com/office/drawing/2014/main" id="{8CEBB6AC-BEE1-EA1B-A104-79E8506E595B}"/>
              </a:ext>
            </a:extLst>
          </p:cNvPr>
          <p:cNvSpPr txBox="1"/>
          <p:nvPr/>
        </p:nvSpPr>
        <p:spPr>
          <a:xfrm>
            <a:off x="820738" y="5763523"/>
            <a:ext cx="3039984" cy="369332"/>
          </a:xfrm>
          <a:prstGeom prst="rect">
            <a:avLst/>
          </a:prstGeom>
          <a:noFill/>
        </p:spPr>
        <p:txBody>
          <a:bodyPr wrap="square" rtlCol="0">
            <a:spAutoFit/>
          </a:bodyPr>
          <a:lstStyle/>
          <a:p>
            <a:r>
              <a:rPr lang="en-US" dirty="0">
                <a:solidFill>
                  <a:schemeClr val="accent3">
                    <a:lumMod val="25000"/>
                  </a:schemeClr>
                </a:solidFill>
                <a:latin typeface="Abadi"/>
                <a:hlinkClick r:id="rId3"/>
              </a:rPr>
              <a:t>GitHub Link to API Notebook</a:t>
            </a:r>
            <a:endParaRPr lang="en-US" dirty="0"/>
          </a:p>
        </p:txBody>
      </p:sp>
      <p:cxnSp>
        <p:nvCxnSpPr>
          <p:cNvPr id="366" name="Straight Arrow Connector 365">
            <a:extLst>
              <a:ext uri="{FF2B5EF4-FFF2-40B4-BE49-F238E27FC236}">
                <a16:creationId xmlns:a16="http://schemas.microsoft.com/office/drawing/2014/main" id="{DF384789-4D50-39F6-1B9A-2F5C281CE644}"/>
              </a:ext>
            </a:extLst>
          </p:cNvPr>
          <p:cNvCxnSpPr>
            <a:cxnSpLocks/>
            <a:stCxn id="422" idx="3"/>
            <a:endCxn id="423" idx="2"/>
          </p:cNvCxnSpPr>
          <p:nvPr/>
        </p:nvCxnSpPr>
        <p:spPr>
          <a:xfrm>
            <a:off x="7163902" y="5307859"/>
            <a:ext cx="97307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3" name="Flowchart: Process 412">
            <a:extLst>
              <a:ext uri="{FF2B5EF4-FFF2-40B4-BE49-F238E27FC236}">
                <a16:creationId xmlns:a16="http://schemas.microsoft.com/office/drawing/2014/main" id="{6DCDFD2C-11EE-ADFC-BC22-4FDECEB620AB}"/>
              </a:ext>
            </a:extLst>
          </p:cNvPr>
          <p:cNvSpPr/>
          <p:nvPr/>
        </p:nvSpPr>
        <p:spPr>
          <a:xfrm>
            <a:off x="8000700" y="4088931"/>
            <a:ext cx="1241945"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Data Wrangling:</a:t>
            </a:r>
          </a:p>
          <a:p>
            <a:pPr algn="ctr"/>
            <a:r>
              <a:rPr lang="en-US" sz="1200" dirty="0"/>
              <a:t>PayloadMass</a:t>
            </a:r>
          </a:p>
        </p:txBody>
      </p:sp>
      <p:sp>
        <p:nvSpPr>
          <p:cNvPr id="422" name="Flowchart: Process 421">
            <a:extLst>
              <a:ext uri="{FF2B5EF4-FFF2-40B4-BE49-F238E27FC236}">
                <a16:creationId xmlns:a16="http://schemas.microsoft.com/office/drawing/2014/main" id="{53CA38D2-1E7F-BC7A-5EF2-7805F23EECA9}"/>
              </a:ext>
            </a:extLst>
          </p:cNvPr>
          <p:cNvSpPr/>
          <p:nvPr/>
        </p:nvSpPr>
        <p:spPr>
          <a:xfrm>
            <a:off x="6461611" y="5085696"/>
            <a:ext cx="702291"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Export to CSV</a:t>
            </a:r>
          </a:p>
        </p:txBody>
      </p:sp>
      <p:sp>
        <p:nvSpPr>
          <p:cNvPr id="423" name="Flowchart: Data 422">
            <a:extLst>
              <a:ext uri="{FF2B5EF4-FFF2-40B4-BE49-F238E27FC236}">
                <a16:creationId xmlns:a16="http://schemas.microsoft.com/office/drawing/2014/main" id="{E72E200F-B64B-83D9-9F10-B123978D09C2}"/>
              </a:ext>
            </a:extLst>
          </p:cNvPr>
          <p:cNvSpPr/>
          <p:nvPr/>
        </p:nvSpPr>
        <p:spPr>
          <a:xfrm>
            <a:off x="8015798" y="5085696"/>
            <a:ext cx="1211748" cy="444326"/>
          </a:xfrm>
          <a:prstGeom prst="flowChartInputOutpu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CSV File</a:t>
            </a:r>
          </a:p>
        </p:txBody>
      </p:sp>
      <p:cxnSp>
        <p:nvCxnSpPr>
          <p:cNvPr id="430" name="Connector: Elbow 429">
            <a:extLst>
              <a:ext uri="{FF2B5EF4-FFF2-40B4-BE49-F238E27FC236}">
                <a16:creationId xmlns:a16="http://schemas.microsoft.com/office/drawing/2014/main" id="{4CFCD449-9C70-E4A4-E567-BF048C529594}"/>
              </a:ext>
            </a:extLst>
          </p:cNvPr>
          <p:cNvCxnSpPr>
            <a:cxnSpLocks/>
            <a:stCxn id="260" idx="5"/>
            <a:endCxn id="422" idx="1"/>
          </p:cNvCxnSpPr>
          <p:nvPr/>
        </p:nvCxnSpPr>
        <p:spPr>
          <a:xfrm flipH="1">
            <a:off x="6461611" y="4311095"/>
            <a:ext cx="4637193" cy="996764"/>
          </a:xfrm>
          <a:prstGeom prst="bentConnector5">
            <a:avLst>
              <a:gd name="adj1" fmla="val -7335"/>
              <a:gd name="adj2" fmla="val 50000"/>
              <a:gd name="adj3" fmla="val 109419"/>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434" name="Connector: Elbow 433">
            <a:extLst>
              <a:ext uri="{FF2B5EF4-FFF2-40B4-BE49-F238E27FC236}">
                <a16:creationId xmlns:a16="http://schemas.microsoft.com/office/drawing/2014/main" id="{EA048795-412C-646B-401D-3C4431BCAB4A}"/>
              </a:ext>
            </a:extLst>
          </p:cNvPr>
          <p:cNvCxnSpPr>
            <a:cxnSpLocks/>
            <a:stCxn id="423" idx="5"/>
            <a:endCxn id="301" idx="0"/>
          </p:cNvCxnSpPr>
          <p:nvPr/>
        </p:nvCxnSpPr>
        <p:spPr>
          <a:xfrm>
            <a:off x="9106371" y="5307859"/>
            <a:ext cx="1299371" cy="316855"/>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49264A90-9BC5-89FB-97B5-1382E12B2019}"/>
              </a:ext>
            </a:extLst>
          </p:cNvPr>
          <p:cNvCxnSpPr>
            <a:cxnSpLocks/>
            <a:stCxn id="413" idx="3"/>
            <a:endCxn id="260" idx="2"/>
          </p:cNvCxnSpPr>
          <p:nvPr/>
        </p:nvCxnSpPr>
        <p:spPr>
          <a:xfrm>
            <a:off x="9242645" y="4311094"/>
            <a:ext cx="470034" cy="1"/>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316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a:xfrm>
            <a:off x="8749352" y="6014619"/>
            <a:ext cx="2743200" cy="401638"/>
          </a:xfrm>
        </p:spPr>
        <p:txBody>
          <a:bodyPr/>
          <a:lstStyle/>
          <a:p>
            <a:fld id="{5075537C-CA84-1446-933C-8E9D027F9201}" type="slidenum">
              <a:rPr lang="en-US" smtClean="0"/>
              <a:t>9</a:t>
            </a:fld>
            <a:endParaRPr lang="en-US" dirty="0"/>
          </a:p>
        </p:txBody>
      </p:sp>
      <p:sp>
        <p:nvSpPr>
          <p:cNvPr id="4" name="Title 1">
            <a:extLst>
              <a:ext uri="{FF2B5EF4-FFF2-40B4-BE49-F238E27FC236}">
                <a16:creationId xmlns:a16="http://schemas.microsoft.com/office/drawing/2014/main" id="{6B84506E-0B2F-4BA8-892E-8CE3753AF954}"/>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endParaRPr lang="en-US" dirty="0">
              <a:solidFill>
                <a:srgbClr val="1C7DDB"/>
              </a:solidFill>
              <a:latin typeface="Abadi"/>
            </a:endParaRPr>
          </a:p>
        </p:txBody>
      </p:sp>
      <p:sp>
        <p:nvSpPr>
          <p:cNvPr id="11" name="Title 1">
            <a:extLst>
              <a:ext uri="{FF2B5EF4-FFF2-40B4-BE49-F238E27FC236}">
                <a16:creationId xmlns:a16="http://schemas.microsoft.com/office/drawing/2014/main" id="{84F5ABFD-B4D4-43FF-959F-AFAF45B45269}"/>
              </a:ext>
            </a:extLst>
          </p:cNvPr>
          <p:cNvSpPr txBox="1">
            <a:spLocks/>
          </p:cNvSpPr>
          <p:nvPr/>
        </p:nvSpPr>
        <p:spPr>
          <a:xfrm>
            <a:off x="768096" y="539496"/>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Scraping</a:t>
            </a:r>
            <a:endParaRPr lang="en-US" dirty="0">
              <a:solidFill>
                <a:srgbClr val="0B49CB"/>
              </a:solidFill>
            </a:endParaRPr>
          </a:p>
        </p:txBody>
      </p:sp>
      <p:sp>
        <p:nvSpPr>
          <p:cNvPr id="5" name="Flowchart: Terminator 4">
            <a:extLst>
              <a:ext uri="{FF2B5EF4-FFF2-40B4-BE49-F238E27FC236}">
                <a16:creationId xmlns:a16="http://schemas.microsoft.com/office/drawing/2014/main" id="{44DEF30F-CF82-6833-5782-CCE36E2765E8}"/>
              </a:ext>
            </a:extLst>
          </p:cNvPr>
          <p:cNvSpPr/>
          <p:nvPr/>
        </p:nvSpPr>
        <p:spPr>
          <a:xfrm>
            <a:off x="6297961" y="1385635"/>
            <a:ext cx="700965" cy="444326"/>
          </a:xfrm>
          <a:prstGeom prst="flowChartTerminator">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rPr>
              <a:t>Start</a:t>
            </a:r>
          </a:p>
        </p:txBody>
      </p:sp>
      <p:sp>
        <p:nvSpPr>
          <p:cNvPr id="7" name="Flowchart: Data 6">
            <a:extLst>
              <a:ext uri="{FF2B5EF4-FFF2-40B4-BE49-F238E27FC236}">
                <a16:creationId xmlns:a16="http://schemas.microsoft.com/office/drawing/2014/main" id="{A4CAEB57-9CC5-0337-1DF6-71E5132ABB77}"/>
              </a:ext>
            </a:extLst>
          </p:cNvPr>
          <p:cNvSpPr/>
          <p:nvPr/>
        </p:nvSpPr>
        <p:spPr>
          <a:xfrm>
            <a:off x="5633242" y="2082289"/>
            <a:ext cx="2030402" cy="444326"/>
          </a:xfrm>
          <a:prstGeom prst="flowChartInputOutpu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rPr>
              <a:t>Wiki Page</a:t>
            </a:r>
          </a:p>
          <a:p>
            <a:pPr algn="ctr"/>
            <a:r>
              <a:rPr lang="en-US" sz="1200" dirty="0">
                <a:solidFill>
                  <a:sysClr val="windowText" lastClr="000000"/>
                </a:solidFill>
              </a:rPr>
              <a:t>Falcon Launches</a:t>
            </a:r>
          </a:p>
        </p:txBody>
      </p:sp>
      <p:sp>
        <p:nvSpPr>
          <p:cNvPr id="8" name="Flowchart: Process 7">
            <a:extLst>
              <a:ext uri="{FF2B5EF4-FFF2-40B4-BE49-F238E27FC236}">
                <a16:creationId xmlns:a16="http://schemas.microsoft.com/office/drawing/2014/main" id="{73BA29E6-65D1-EDB4-4154-2FCA51E71787}"/>
              </a:ext>
            </a:extLst>
          </p:cNvPr>
          <p:cNvSpPr/>
          <p:nvPr/>
        </p:nvSpPr>
        <p:spPr>
          <a:xfrm>
            <a:off x="8145255" y="2082289"/>
            <a:ext cx="871964"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GET request</a:t>
            </a:r>
          </a:p>
        </p:txBody>
      </p:sp>
      <p:sp>
        <p:nvSpPr>
          <p:cNvPr id="9" name="Flowchart: Decision 8">
            <a:extLst>
              <a:ext uri="{FF2B5EF4-FFF2-40B4-BE49-F238E27FC236}">
                <a16:creationId xmlns:a16="http://schemas.microsoft.com/office/drawing/2014/main" id="{66518CBD-D798-7DC5-0DC2-E99F0673A5D4}"/>
              </a:ext>
            </a:extLst>
          </p:cNvPr>
          <p:cNvSpPr/>
          <p:nvPr/>
        </p:nvSpPr>
        <p:spPr>
          <a:xfrm>
            <a:off x="9550808" y="2020644"/>
            <a:ext cx="1688083" cy="567617"/>
          </a:xfrm>
          <a:prstGeom prst="flowChartDecision">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lang="en-US" sz="1200" dirty="0">
                <a:solidFill>
                  <a:schemeClr val="bg1"/>
                </a:solidFill>
              </a:rPr>
              <a:t>Request</a:t>
            </a:r>
            <a:r>
              <a:rPr lang="en-US" sz="1200" dirty="0"/>
              <a:t> Successful</a:t>
            </a:r>
          </a:p>
        </p:txBody>
      </p:sp>
      <p:sp>
        <p:nvSpPr>
          <p:cNvPr id="10" name="Flowchart: Process 9">
            <a:extLst>
              <a:ext uri="{FF2B5EF4-FFF2-40B4-BE49-F238E27FC236}">
                <a16:creationId xmlns:a16="http://schemas.microsoft.com/office/drawing/2014/main" id="{F9801DC9-E3CA-4D35-10AE-DDFC759A9006}"/>
              </a:ext>
            </a:extLst>
          </p:cNvPr>
          <p:cNvSpPr/>
          <p:nvPr/>
        </p:nvSpPr>
        <p:spPr>
          <a:xfrm>
            <a:off x="9730638" y="2647738"/>
            <a:ext cx="390314" cy="246067"/>
          </a:xfrm>
          <a:prstGeom prst="flowChart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200" dirty="0">
                <a:solidFill>
                  <a:schemeClr val="tx1"/>
                </a:solidFill>
              </a:rPr>
              <a:t>No</a:t>
            </a:r>
          </a:p>
        </p:txBody>
      </p:sp>
      <p:sp>
        <p:nvSpPr>
          <p:cNvPr id="12" name="Flowchart: Process 11">
            <a:extLst>
              <a:ext uri="{FF2B5EF4-FFF2-40B4-BE49-F238E27FC236}">
                <a16:creationId xmlns:a16="http://schemas.microsoft.com/office/drawing/2014/main" id="{7D6C11BC-4228-28A9-1FCB-B6D4CFBB7404}"/>
              </a:ext>
            </a:extLst>
          </p:cNvPr>
          <p:cNvSpPr/>
          <p:nvPr/>
        </p:nvSpPr>
        <p:spPr>
          <a:xfrm>
            <a:off x="5867694" y="3128259"/>
            <a:ext cx="1561499"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Create</a:t>
            </a:r>
          </a:p>
          <a:p>
            <a:pPr algn="ctr"/>
            <a:r>
              <a:rPr lang="en-US" sz="1200" dirty="0"/>
              <a:t>Beautiful Soup Object</a:t>
            </a:r>
          </a:p>
        </p:txBody>
      </p:sp>
      <p:sp>
        <p:nvSpPr>
          <p:cNvPr id="13" name="Flowchart: Process 12">
            <a:extLst>
              <a:ext uri="{FF2B5EF4-FFF2-40B4-BE49-F238E27FC236}">
                <a16:creationId xmlns:a16="http://schemas.microsoft.com/office/drawing/2014/main" id="{DD7DCD34-317A-0FB4-CD0F-76626B60C191}"/>
              </a:ext>
            </a:extLst>
          </p:cNvPr>
          <p:cNvSpPr/>
          <p:nvPr/>
        </p:nvSpPr>
        <p:spPr>
          <a:xfrm>
            <a:off x="10878108" y="2830240"/>
            <a:ext cx="390314" cy="246067"/>
          </a:xfrm>
          <a:prstGeom prst="flowChart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200" dirty="0">
                <a:solidFill>
                  <a:schemeClr val="tx1"/>
                </a:solidFill>
              </a:rPr>
              <a:t>Yes</a:t>
            </a:r>
          </a:p>
        </p:txBody>
      </p:sp>
      <p:sp>
        <p:nvSpPr>
          <p:cNvPr id="14" name="Flowchart: Data 13">
            <a:extLst>
              <a:ext uri="{FF2B5EF4-FFF2-40B4-BE49-F238E27FC236}">
                <a16:creationId xmlns:a16="http://schemas.microsoft.com/office/drawing/2014/main" id="{789D962C-5EAA-E56B-903E-6FB2C0EFFE74}"/>
              </a:ext>
            </a:extLst>
          </p:cNvPr>
          <p:cNvSpPr/>
          <p:nvPr/>
        </p:nvSpPr>
        <p:spPr>
          <a:xfrm>
            <a:off x="5870077" y="4261857"/>
            <a:ext cx="1556733" cy="444325"/>
          </a:xfrm>
          <a:prstGeom prst="flowChartInputOutpu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rPr>
              <a:t>Dictionary:</a:t>
            </a:r>
          </a:p>
          <a:p>
            <a:pPr algn="ctr"/>
            <a:r>
              <a:rPr lang="en-US" sz="1200" dirty="0">
                <a:solidFill>
                  <a:sysClr val="windowText" lastClr="000000"/>
                </a:solidFill>
              </a:rPr>
              <a:t>launch_dict</a:t>
            </a:r>
          </a:p>
        </p:txBody>
      </p:sp>
      <p:cxnSp>
        <p:nvCxnSpPr>
          <p:cNvPr id="15" name="Straight Arrow Connector 14">
            <a:extLst>
              <a:ext uri="{FF2B5EF4-FFF2-40B4-BE49-F238E27FC236}">
                <a16:creationId xmlns:a16="http://schemas.microsoft.com/office/drawing/2014/main" id="{1CDE167D-EA8D-281C-EA0E-21D1875BDD0C}"/>
              </a:ext>
            </a:extLst>
          </p:cNvPr>
          <p:cNvCxnSpPr>
            <a:cxnSpLocks/>
            <a:stCxn id="12" idx="3"/>
            <a:endCxn id="44" idx="1"/>
          </p:cNvCxnSpPr>
          <p:nvPr/>
        </p:nvCxnSpPr>
        <p:spPr>
          <a:xfrm>
            <a:off x="7429193" y="3350422"/>
            <a:ext cx="371295" cy="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721CE23-1FC7-C214-BFB2-42656BD84384}"/>
              </a:ext>
            </a:extLst>
          </p:cNvPr>
          <p:cNvCxnSpPr>
            <a:cxnSpLocks/>
            <a:stCxn id="7" idx="5"/>
            <a:endCxn id="8" idx="1"/>
          </p:cNvCxnSpPr>
          <p:nvPr/>
        </p:nvCxnSpPr>
        <p:spPr>
          <a:xfrm>
            <a:off x="7460604" y="2304452"/>
            <a:ext cx="684651" cy="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F0AD536-612E-6D7F-05B0-4128974FFE90}"/>
              </a:ext>
            </a:extLst>
          </p:cNvPr>
          <p:cNvCxnSpPr>
            <a:cxnSpLocks/>
            <a:stCxn id="8" idx="3"/>
            <a:endCxn id="9" idx="1"/>
          </p:cNvCxnSpPr>
          <p:nvPr/>
        </p:nvCxnSpPr>
        <p:spPr>
          <a:xfrm>
            <a:off x="9017219" y="2304452"/>
            <a:ext cx="533589" cy="1"/>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9A2DDD63-6813-BDDC-C012-D384A0D4C348}"/>
              </a:ext>
            </a:extLst>
          </p:cNvPr>
          <p:cNvCxnSpPr>
            <a:cxnSpLocks/>
            <a:stCxn id="9" idx="3"/>
            <a:endCxn id="13" idx="3"/>
          </p:cNvCxnSpPr>
          <p:nvPr/>
        </p:nvCxnSpPr>
        <p:spPr>
          <a:xfrm>
            <a:off x="11238891" y="2304453"/>
            <a:ext cx="29531" cy="648821"/>
          </a:xfrm>
          <a:prstGeom prst="bentConnector3">
            <a:avLst>
              <a:gd name="adj1" fmla="val 370621"/>
            </a:avLst>
          </a:prstGeom>
          <a:ln w="9525">
            <a:tailEnd type="non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4A50CEC2-5100-CC59-91FC-EB5600BF8254}"/>
              </a:ext>
            </a:extLst>
          </p:cNvPr>
          <p:cNvCxnSpPr>
            <a:cxnSpLocks/>
            <a:stCxn id="13" idx="1"/>
            <a:endCxn id="12" idx="0"/>
          </p:cNvCxnSpPr>
          <p:nvPr/>
        </p:nvCxnSpPr>
        <p:spPr>
          <a:xfrm rot="10800000" flipV="1">
            <a:off x="6648444" y="2953273"/>
            <a:ext cx="4229664" cy="174985"/>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176649DB-B467-4BA4-AE7F-70ECD801A88A}"/>
              </a:ext>
            </a:extLst>
          </p:cNvPr>
          <p:cNvCxnSpPr>
            <a:cxnSpLocks/>
            <a:stCxn id="10" idx="1"/>
            <a:endCxn id="7" idx="4"/>
          </p:cNvCxnSpPr>
          <p:nvPr/>
        </p:nvCxnSpPr>
        <p:spPr>
          <a:xfrm rot="10800000">
            <a:off x="6648444" y="2526616"/>
            <a:ext cx="3082195" cy="244157"/>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EEC26E11-A06A-D3EA-098C-FC377AEE5D8A}"/>
              </a:ext>
            </a:extLst>
          </p:cNvPr>
          <p:cNvCxnSpPr>
            <a:cxnSpLocks/>
            <a:stCxn id="9" idx="2"/>
            <a:endCxn id="10" idx="3"/>
          </p:cNvCxnSpPr>
          <p:nvPr/>
        </p:nvCxnSpPr>
        <p:spPr>
          <a:xfrm rot="5400000">
            <a:off x="10166646" y="2542567"/>
            <a:ext cx="182511" cy="273898"/>
          </a:xfrm>
          <a:prstGeom prst="bentConnector2">
            <a:avLst/>
          </a:prstGeom>
          <a:ln w="9525">
            <a:tailEnd type="non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2F47C96-B928-2BF7-E7D0-E052850BEC2B}"/>
              </a:ext>
            </a:extLst>
          </p:cNvPr>
          <p:cNvCxnSpPr>
            <a:cxnSpLocks/>
            <a:stCxn id="14" idx="5"/>
            <a:endCxn id="61" idx="1"/>
          </p:cNvCxnSpPr>
          <p:nvPr/>
        </p:nvCxnSpPr>
        <p:spPr>
          <a:xfrm flipV="1">
            <a:off x="7271137" y="4484019"/>
            <a:ext cx="529351" cy="1"/>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28" name="Flowchart: Terminator 27">
            <a:extLst>
              <a:ext uri="{FF2B5EF4-FFF2-40B4-BE49-F238E27FC236}">
                <a16:creationId xmlns:a16="http://schemas.microsoft.com/office/drawing/2014/main" id="{DDF4B5D4-3B15-5BFD-5DEB-5C2C7C1B5147}"/>
              </a:ext>
            </a:extLst>
          </p:cNvPr>
          <p:cNvSpPr/>
          <p:nvPr/>
        </p:nvSpPr>
        <p:spPr>
          <a:xfrm>
            <a:off x="10044367" y="5673806"/>
            <a:ext cx="700965" cy="444326"/>
          </a:xfrm>
          <a:prstGeom prst="flowChartTerminator">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rPr>
              <a:t>End</a:t>
            </a:r>
          </a:p>
        </p:txBody>
      </p:sp>
      <p:cxnSp>
        <p:nvCxnSpPr>
          <p:cNvPr id="29" name="Straight Arrow Connector 28">
            <a:extLst>
              <a:ext uri="{FF2B5EF4-FFF2-40B4-BE49-F238E27FC236}">
                <a16:creationId xmlns:a16="http://schemas.microsoft.com/office/drawing/2014/main" id="{E38F408C-213B-D230-B753-5FA956E6AB85}"/>
              </a:ext>
            </a:extLst>
          </p:cNvPr>
          <p:cNvCxnSpPr>
            <a:cxnSpLocks/>
            <a:stCxn id="5" idx="2"/>
            <a:endCxn id="7" idx="1"/>
          </p:cNvCxnSpPr>
          <p:nvPr/>
        </p:nvCxnSpPr>
        <p:spPr>
          <a:xfrm flipH="1">
            <a:off x="6648443" y="1829961"/>
            <a:ext cx="1" cy="252328"/>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44" name="Flowchart: Process 43">
            <a:extLst>
              <a:ext uri="{FF2B5EF4-FFF2-40B4-BE49-F238E27FC236}">
                <a16:creationId xmlns:a16="http://schemas.microsoft.com/office/drawing/2014/main" id="{C840B91F-D28F-83F5-1D0E-0D2AE8A9AF4A}"/>
              </a:ext>
            </a:extLst>
          </p:cNvPr>
          <p:cNvSpPr/>
          <p:nvPr/>
        </p:nvSpPr>
        <p:spPr>
          <a:xfrm>
            <a:off x="7800488" y="3128259"/>
            <a:ext cx="1561499"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Extract Relevant Columns</a:t>
            </a:r>
          </a:p>
        </p:txBody>
      </p:sp>
      <p:sp>
        <p:nvSpPr>
          <p:cNvPr id="46" name="Flowchart: Process 45">
            <a:extLst>
              <a:ext uri="{FF2B5EF4-FFF2-40B4-BE49-F238E27FC236}">
                <a16:creationId xmlns:a16="http://schemas.microsoft.com/office/drawing/2014/main" id="{6D127C30-6739-A250-8CF7-69D31DDBF1F1}"/>
              </a:ext>
            </a:extLst>
          </p:cNvPr>
          <p:cNvSpPr/>
          <p:nvPr/>
        </p:nvSpPr>
        <p:spPr>
          <a:xfrm>
            <a:off x="9614100" y="3128259"/>
            <a:ext cx="1561499"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Create Dictionary and Populate Data</a:t>
            </a:r>
          </a:p>
        </p:txBody>
      </p:sp>
      <p:cxnSp>
        <p:nvCxnSpPr>
          <p:cNvPr id="47" name="Straight Arrow Connector 46">
            <a:extLst>
              <a:ext uri="{FF2B5EF4-FFF2-40B4-BE49-F238E27FC236}">
                <a16:creationId xmlns:a16="http://schemas.microsoft.com/office/drawing/2014/main" id="{77F0C7C5-A6F2-6F85-CBB8-C2689D09ACC9}"/>
              </a:ext>
            </a:extLst>
          </p:cNvPr>
          <p:cNvCxnSpPr>
            <a:cxnSpLocks/>
            <a:stCxn id="44" idx="3"/>
            <a:endCxn id="46" idx="1"/>
          </p:cNvCxnSpPr>
          <p:nvPr/>
        </p:nvCxnSpPr>
        <p:spPr>
          <a:xfrm>
            <a:off x="9361987" y="3350422"/>
            <a:ext cx="252113" cy="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E8A9A04C-A0CB-11F5-9EF8-E6809EC353B8}"/>
              </a:ext>
            </a:extLst>
          </p:cNvPr>
          <p:cNvCxnSpPr>
            <a:cxnSpLocks/>
            <a:stCxn id="46" idx="3"/>
            <a:endCxn id="14" idx="2"/>
          </p:cNvCxnSpPr>
          <p:nvPr/>
        </p:nvCxnSpPr>
        <p:spPr>
          <a:xfrm flipH="1">
            <a:off x="6025750" y="3350422"/>
            <a:ext cx="5149849" cy="1133598"/>
          </a:xfrm>
          <a:prstGeom prst="bentConnector5">
            <a:avLst>
              <a:gd name="adj1" fmla="val -3717"/>
              <a:gd name="adj2" fmla="val 63772"/>
              <a:gd name="adj3" fmla="val 104439"/>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61" name="Flowchart: Process 60">
            <a:extLst>
              <a:ext uri="{FF2B5EF4-FFF2-40B4-BE49-F238E27FC236}">
                <a16:creationId xmlns:a16="http://schemas.microsoft.com/office/drawing/2014/main" id="{EBA9CC89-DABB-A98F-31F2-F0654EDCC0A6}"/>
              </a:ext>
            </a:extLst>
          </p:cNvPr>
          <p:cNvSpPr/>
          <p:nvPr/>
        </p:nvSpPr>
        <p:spPr>
          <a:xfrm>
            <a:off x="7800488" y="4261856"/>
            <a:ext cx="1561499"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Load to DataFrame</a:t>
            </a:r>
          </a:p>
        </p:txBody>
      </p:sp>
      <p:sp>
        <p:nvSpPr>
          <p:cNvPr id="63" name="Flowchart: Data 62">
            <a:extLst>
              <a:ext uri="{FF2B5EF4-FFF2-40B4-BE49-F238E27FC236}">
                <a16:creationId xmlns:a16="http://schemas.microsoft.com/office/drawing/2014/main" id="{8ED01175-FC6B-47C7-39A8-F8C82B3DD42C}"/>
              </a:ext>
            </a:extLst>
          </p:cNvPr>
          <p:cNvSpPr/>
          <p:nvPr/>
        </p:nvSpPr>
        <p:spPr>
          <a:xfrm>
            <a:off x="9616483" y="4261857"/>
            <a:ext cx="1556733" cy="444325"/>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DataFrame:</a:t>
            </a:r>
          </a:p>
          <a:p>
            <a:pPr algn="ctr"/>
            <a:r>
              <a:rPr lang="en-US" sz="1200" dirty="0"/>
              <a:t>df</a:t>
            </a:r>
          </a:p>
        </p:txBody>
      </p:sp>
      <p:cxnSp>
        <p:nvCxnSpPr>
          <p:cNvPr id="64" name="Straight Arrow Connector 63">
            <a:extLst>
              <a:ext uri="{FF2B5EF4-FFF2-40B4-BE49-F238E27FC236}">
                <a16:creationId xmlns:a16="http://schemas.microsoft.com/office/drawing/2014/main" id="{D6EB41AD-C942-0224-739F-30547A7D42A9}"/>
              </a:ext>
            </a:extLst>
          </p:cNvPr>
          <p:cNvCxnSpPr>
            <a:cxnSpLocks/>
            <a:stCxn id="61" idx="3"/>
            <a:endCxn id="63" idx="2"/>
          </p:cNvCxnSpPr>
          <p:nvPr/>
        </p:nvCxnSpPr>
        <p:spPr>
          <a:xfrm>
            <a:off x="9361987" y="4484019"/>
            <a:ext cx="410169" cy="1"/>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4299EE2F-F916-65B3-CFB7-AD63A21C476D}"/>
              </a:ext>
            </a:extLst>
          </p:cNvPr>
          <p:cNvCxnSpPr>
            <a:cxnSpLocks/>
            <a:stCxn id="101" idx="3"/>
            <a:endCxn id="102" idx="2"/>
          </p:cNvCxnSpPr>
          <p:nvPr/>
        </p:nvCxnSpPr>
        <p:spPr>
          <a:xfrm>
            <a:off x="6999589" y="5374773"/>
            <a:ext cx="1096949" cy="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78" name="Text Placeholder 2">
            <a:extLst>
              <a:ext uri="{FF2B5EF4-FFF2-40B4-BE49-F238E27FC236}">
                <a16:creationId xmlns:a16="http://schemas.microsoft.com/office/drawing/2014/main" id="{8C3238E8-D97D-F87D-EE91-C89C9FC8B5FB}"/>
              </a:ext>
            </a:extLst>
          </p:cNvPr>
          <p:cNvSpPr txBox="1">
            <a:spLocks/>
          </p:cNvSpPr>
          <p:nvPr/>
        </p:nvSpPr>
        <p:spPr>
          <a:xfrm>
            <a:off x="820738" y="1800226"/>
            <a:ext cx="4640263" cy="3352384"/>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Data scraped from Wiki page with List of Falcon 9 and Falcon Heavy launches using Python requests and Beautiful Soup libraries</a:t>
            </a:r>
          </a:p>
          <a:p>
            <a:pPr>
              <a:lnSpc>
                <a:spcPct val="100000"/>
              </a:lnSpc>
              <a:spcBef>
                <a:spcPts val="1400"/>
              </a:spcBef>
            </a:pPr>
            <a:r>
              <a:rPr lang="en-US" sz="2200" dirty="0">
                <a:solidFill>
                  <a:schemeClr val="accent3">
                    <a:lumMod val="25000"/>
                  </a:schemeClr>
                </a:solidFill>
                <a:latin typeface="Abadi" panose="020B0604020104020204" pitchFamily="34" charset="0"/>
              </a:rPr>
              <a:t>Data extracted from Beautiful Soup object and preprocessed using auxiliary functions =&gt; dictionary launch_dict</a:t>
            </a:r>
          </a:p>
          <a:p>
            <a:pPr>
              <a:lnSpc>
                <a:spcPct val="100000"/>
              </a:lnSpc>
              <a:spcBef>
                <a:spcPts val="1400"/>
              </a:spcBef>
            </a:pPr>
            <a:r>
              <a:rPr lang="en-US" sz="2200" dirty="0">
                <a:solidFill>
                  <a:schemeClr val="accent3">
                    <a:lumMod val="25000"/>
                  </a:schemeClr>
                </a:solidFill>
                <a:latin typeface="Abadi" panose="020B0604020104020204" pitchFamily="34" charset="0"/>
              </a:rPr>
              <a:t>Data loaded to DataFrame df</a:t>
            </a:r>
          </a:p>
          <a:p>
            <a:pPr>
              <a:lnSpc>
                <a:spcPct val="100000"/>
              </a:lnSpc>
              <a:spcBef>
                <a:spcPts val="1400"/>
              </a:spcBef>
            </a:pPr>
            <a:r>
              <a:rPr lang="en-US" sz="2200" dirty="0">
                <a:solidFill>
                  <a:schemeClr val="accent3">
                    <a:lumMod val="25000"/>
                  </a:schemeClr>
                </a:solidFill>
                <a:latin typeface="Abadi" panose="020B0604020104020204" pitchFamily="34" charset="0"/>
              </a:rPr>
              <a:t>Data export to CSV file (spacex_web_scraped.csv)</a:t>
            </a:r>
            <a:endParaRPr lang="en-US" dirty="0"/>
          </a:p>
          <a:p>
            <a:endParaRPr lang="en-US" dirty="0"/>
          </a:p>
        </p:txBody>
      </p:sp>
      <p:sp>
        <p:nvSpPr>
          <p:cNvPr id="93" name="Double Bracket 92">
            <a:extLst>
              <a:ext uri="{FF2B5EF4-FFF2-40B4-BE49-F238E27FC236}">
                <a16:creationId xmlns:a16="http://schemas.microsoft.com/office/drawing/2014/main" id="{A2FC2673-2764-9895-3D18-D95E153AEB6C}"/>
              </a:ext>
            </a:extLst>
          </p:cNvPr>
          <p:cNvSpPr/>
          <p:nvPr/>
        </p:nvSpPr>
        <p:spPr>
          <a:xfrm>
            <a:off x="9985082" y="3650917"/>
            <a:ext cx="819537" cy="337558"/>
          </a:xfrm>
          <a:prstGeom prst="bracketPair">
            <a:avLst>
              <a:gd name="adj" fmla="val 11011"/>
            </a:avLst>
          </a:prstGeom>
          <a:ln w="9525"/>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dirty="0">
                <a:solidFill>
                  <a:schemeClr val="tx1"/>
                </a:solidFill>
              </a:rPr>
              <a:t>Auxiliary</a:t>
            </a:r>
          </a:p>
          <a:p>
            <a:pPr algn="ctr"/>
            <a:r>
              <a:rPr lang="en-US" sz="1200" dirty="0">
                <a:solidFill>
                  <a:schemeClr val="tx1"/>
                </a:solidFill>
              </a:rPr>
              <a:t>Functions</a:t>
            </a:r>
          </a:p>
        </p:txBody>
      </p:sp>
      <p:cxnSp>
        <p:nvCxnSpPr>
          <p:cNvPr id="94" name="Straight Arrow Connector 93">
            <a:extLst>
              <a:ext uri="{FF2B5EF4-FFF2-40B4-BE49-F238E27FC236}">
                <a16:creationId xmlns:a16="http://schemas.microsoft.com/office/drawing/2014/main" id="{1734B1E2-E92D-C2FE-E085-53D00A0BAD98}"/>
              </a:ext>
            </a:extLst>
          </p:cNvPr>
          <p:cNvCxnSpPr>
            <a:cxnSpLocks/>
            <a:stCxn id="46" idx="2"/>
            <a:endCxn id="93" idx="0"/>
          </p:cNvCxnSpPr>
          <p:nvPr/>
        </p:nvCxnSpPr>
        <p:spPr>
          <a:xfrm>
            <a:off x="10394850" y="3572585"/>
            <a:ext cx="1" cy="78332"/>
          </a:xfrm>
          <a:prstGeom prst="straightConnector1">
            <a:avLst/>
          </a:prstGeom>
          <a:ln>
            <a:prstDash val="sysDash"/>
            <a:tailEnd type="none"/>
          </a:ln>
        </p:spPr>
        <p:style>
          <a:lnRef idx="1">
            <a:schemeClr val="accent1"/>
          </a:lnRef>
          <a:fillRef idx="0">
            <a:schemeClr val="accent1"/>
          </a:fillRef>
          <a:effectRef idx="0">
            <a:schemeClr val="accent1"/>
          </a:effectRef>
          <a:fontRef idx="minor">
            <a:schemeClr val="tx1"/>
          </a:fontRef>
        </p:style>
      </p:cxnSp>
      <p:sp>
        <p:nvSpPr>
          <p:cNvPr id="101" name="Flowchart: Process 100">
            <a:extLst>
              <a:ext uri="{FF2B5EF4-FFF2-40B4-BE49-F238E27FC236}">
                <a16:creationId xmlns:a16="http://schemas.microsoft.com/office/drawing/2014/main" id="{4A92B6FB-AABB-B92E-08ED-07341063F41D}"/>
              </a:ext>
            </a:extLst>
          </p:cNvPr>
          <p:cNvSpPr/>
          <p:nvPr/>
        </p:nvSpPr>
        <p:spPr>
          <a:xfrm>
            <a:off x="6297298" y="5152610"/>
            <a:ext cx="702291"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Export to CSV</a:t>
            </a:r>
          </a:p>
        </p:txBody>
      </p:sp>
      <p:sp>
        <p:nvSpPr>
          <p:cNvPr id="102" name="Flowchart: Data 101">
            <a:extLst>
              <a:ext uri="{FF2B5EF4-FFF2-40B4-BE49-F238E27FC236}">
                <a16:creationId xmlns:a16="http://schemas.microsoft.com/office/drawing/2014/main" id="{7246E5BD-8279-6D7F-FD23-382DCD1FDD0E}"/>
              </a:ext>
            </a:extLst>
          </p:cNvPr>
          <p:cNvSpPr/>
          <p:nvPr/>
        </p:nvSpPr>
        <p:spPr>
          <a:xfrm>
            <a:off x="7975363" y="5152610"/>
            <a:ext cx="1211748" cy="444326"/>
          </a:xfrm>
          <a:prstGeom prst="flowChartInputOutpu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rPr>
              <a:t>CSV File</a:t>
            </a:r>
          </a:p>
        </p:txBody>
      </p:sp>
      <p:cxnSp>
        <p:nvCxnSpPr>
          <p:cNvPr id="112" name="Connector: Elbow 111">
            <a:extLst>
              <a:ext uri="{FF2B5EF4-FFF2-40B4-BE49-F238E27FC236}">
                <a16:creationId xmlns:a16="http://schemas.microsoft.com/office/drawing/2014/main" id="{4A6E6DAB-8CDE-3019-1715-E511A2DCCD55}"/>
              </a:ext>
            </a:extLst>
          </p:cNvPr>
          <p:cNvCxnSpPr>
            <a:cxnSpLocks/>
            <a:stCxn id="63" idx="5"/>
            <a:endCxn id="101" idx="1"/>
          </p:cNvCxnSpPr>
          <p:nvPr/>
        </p:nvCxnSpPr>
        <p:spPr>
          <a:xfrm flipH="1">
            <a:off x="6297298" y="4484020"/>
            <a:ext cx="4720245" cy="890753"/>
          </a:xfrm>
          <a:prstGeom prst="bentConnector5">
            <a:avLst>
              <a:gd name="adj1" fmla="val -7205"/>
              <a:gd name="adj2" fmla="val 50000"/>
              <a:gd name="adj3" fmla="val 110356"/>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117" name="Connector: Elbow 116">
            <a:extLst>
              <a:ext uri="{FF2B5EF4-FFF2-40B4-BE49-F238E27FC236}">
                <a16:creationId xmlns:a16="http://schemas.microsoft.com/office/drawing/2014/main" id="{D754B480-6B76-608F-BC83-80F07685C336}"/>
              </a:ext>
            </a:extLst>
          </p:cNvPr>
          <p:cNvCxnSpPr>
            <a:cxnSpLocks/>
            <a:stCxn id="102" idx="5"/>
            <a:endCxn id="28" idx="0"/>
          </p:cNvCxnSpPr>
          <p:nvPr/>
        </p:nvCxnSpPr>
        <p:spPr>
          <a:xfrm>
            <a:off x="9065936" y="5374773"/>
            <a:ext cx="1328914" cy="299033"/>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A2A08BC1-C2C1-AE33-53DF-11FBE20A46C2}"/>
              </a:ext>
            </a:extLst>
          </p:cNvPr>
          <p:cNvSpPr txBox="1"/>
          <p:nvPr/>
        </p:nvSpPr>
        <p:spPr>
          <a:xfrm>
            <a:off x="820738" y="5466161"/>
            <a:ext cx="3646128" cy="369332"/>
          </a:xfrm>
          <a:prstGeom prst="rect">
            <a:avLst/>
          </a:prstGeom>
          <a:noFill/>
        </p:spPr>
        <p:txBody>
          <a:bodyPr wrap="square" rtlCol="0">
            <a:spAutoFit/>
          </a:bodyPr>
          <a:lstStyle/>
          <a:p>
            <a:r>
              <a:rPr lang="en-US" dirty="0">
                <a:solidFill>
                  <a:schemeClr val="accent3">
                    <a:lumMod val="25000"/>
                  </a:schemeClr>
                </a:solidFill>
                <a:latin typeface="Abadi"/>
                <a:hlinkClick r:id="rId3"/>
              </a:rPr>
              <a:t>GitHub Link to Scraping Notebook</a:t>
            </a:r>
            <a:endParaRPr lang="en-US" dirty="0"/>
          </a:p>
        </p:txBody>
      </p:sp>
    </p:spTree>
    <p:extLst>
      <p:ext uri="{BB962C8B-B14F-4D97-AF65-F5344CB8AC3E}">
        <p14:creationId xmlns:p14="http://schemas.microsoft.com/office/powerpoint/2010/main" val="1385553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021CA9-7CB7-1046-8FA0-21F127C19A59}"/>
              </a:ext>
            </a:extLst>
          </p:cNvPr>
          <p:cNvSpPr>
            <a:spLocks noGrp="1"/>
          </p:cNvSpPr>
          <p:nvPr>
            <p:ph type="sldNum" sz="quarter" idx="12"/>
          </p:nvPr>
        </p:nvSpPr>
        <p:spPr/>
        <p:txBody>
          <a:bodyPr/>
          <a:lstStyle/>
          <a:p>
            <a:fld id="{5075537C-CA84-1446-933C-8E9D027F9201}" type="slidenum">
              <a:rPr lang="en-US" smtClean="0"/>
              <a:t>10</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394448"/>
            <a:ext cx="5816643" cy="2307757"/>
          </a:xfrm>
          <a:prstGeom prst="rect">
            <a:avLst/>
          </a:prstGeom>
        </p:spPr>
        <p:txBody>
          <a:bodyPr/>
          <a:lstStyle/>
          <a:p>
            <a:r>
              <a:rPr lang="en-US" sz="2200" dirty="0">
                <a:solidFill>
                  <a:schemeClr val="accent3">
                    <a:lumMod val="25000"/>
                  </a:schemeClr>
                </a:solidFill>
                <a:latin typeface="Abadi" panose="020B0604020104020204" pitchFamily="34" charset="0"/>
              </a:rPr>
              <a:t>Missing values for PayloadMass were filled in by mean value (API Notebook)</a:t>
            </a:r>
          </a:p>
          <a:p>
            <a:r>
              <a:rPr lang="en-US" sz="2200" dirty="0">
                <a:solidFill>
                  <a:schemeClr val="accent3">
                    <a:lumMod val="25000"/>
                  </a:schemeClr>
                </a:solidFill>
                <a:latin typeface="Abadi" panose="020B0604020104020204" pitchFamily="34" charset="0"/>
              </a:rPr>
              <a:t>Class, binary target variable for machine learning was derived from categorical Outcome (Landing Outcome) variable (Data Wrangling Notebook)</a:t>
            </a:r>
          </a:p>
          <a:p>
            <a:r>
              <a:rPr lang="en-US" sz="2200" dirty="0">
                <a:solidFill>
                  <a:schemeClr val="accent3">
                    <a:lumMod val="25000"/>
                  </a:schemeClr>
                </a:solidFill>
                <a:latin typeface="Abadi" panose="020B0604020104020204" pitchFamily="34" charset="0"/>
              </a:rPr>
              <a:t>Data export to CSV file (dataset_part_2.csv)</a:t>
            </a:r>
          </a:p>
          <a:p>
            <a:pPr marL="0" indent="0">
              <a:buNone/>
            </a:pPr>
            <a:endParaRPr lang="en-US" dirty="0"/>
          </a:p>
          <a:p>
            <a:endParaRPr lang="en-US" dirty="0"/>
          </a:p>
          <a:p>
            <a:endParaRPr lang="en-US" dirty="0"/>
          </a:p>
        </p:txBody>
      </p:sp>
      <p:sp>
        <p:nvSpPr>
          <p:cNvPr id="8" name="Title 1">
            <a:extLst>
              <a:ext uri="{FF2B5EF4-FFF2-40B4-BE49-F238E27FC236}">
                <a16:creationId xmlns:a16="http://schemas.microsoft.com/office/drawing/2014/main" id="{2A665A13-3129-46DF-B847-F273F3E96BE6}"/>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Wrangling</a:t>
            </a:r>
          </a:p>
        </p:txBody>
      </p:sp>
      <p:sp>
        <p:nvSpPr>
          <p:cNvPr id="2" name="TextBox 1">
            <a:extLst>
              <a:ext uri="{FF2B5EF4-FFF2-40B4-BE49-F238E27FC236}">
                <a16:creationId xmlns:a16="http://schemas.microsoft.com/office/drawing/2014/main" id="{9C0AD2B0-5CA1-3E0B-F665-73024CFFFDF7}"/>
              </a:ext>
            </a:extLst>
          </p:cNvPr>
          <p:cNvSpPr txBox="1"/>
          <p:nvPr/>
        </p:nvSpPr>
        <p:spPr>
          <a:xfrm>
            <a:off x="770012" y="4232855"/>
            <a:ext cx="5816642" cy="1605568"/>
          </a:xfrm>
          <a:prstGeom prst="rect">
            <a:avLst/>
          </a:prstGeom>
          <a:noFill/>
        </p:spPr>
        <p:txBody>
          <a:bodyPr wrap="square" rtlCol="0">
            <a:spAutoFit/>
          </a:bodyPr>
          <a:lstStyle/>
          <a:p>
            <a:pPr lvl="1">
              <a:spcBef>
                <a:spcPts val="1000"/>
              </a:spcBef>
            </a:pPr>
            <a:r>
              <a:rPr lang="en-US" dirty="0">
                <a:solidFill>
                  <a:schemeClr val="accent3">
                    <a:lumMod val="25000"/>
                  </a:schemeClr>
                </a:solidFill>
                <a:latin typeface="Abadi"/>
                <a:hlinkClick r:id="rId3"/>
              </a:rPr>
              <a:t>GitHub Link to API Notebook</a:t>
            </a:r>
            <a:r>
              <a:rPr lang="en-US" dirty="0">
                <a:solidFill>
                  <a:schemeClr val="accent3">
                    <a:lumMod val="25000"/>
                  </a:schemeClr>
                </a:solidFill>
                <a:latin typeface="Abadi"/>
              </a:rPr>
              <a:t> – see Task 3: Dealing with Missing Values</a:t>
            </a:r>
          </a:p>
          <a:p>
            <a:pPr lvl="1">
              <a:spcBef>
                <a:spcPts val="1000"/>
              </a:spcBef>
            </a:pPr>
            <a:r>
              <a:rPr lang="en-US" dirty="0">
                <a:solidFill>
                  <a:schemeClr val="accent3">
                    <a:lumMod val="25000"/>
                  </a:schemeClr>
                </a:solidFill>
                <a:latin typeface="Abadi"/>
                <a:hlinkClick r:id="rId4"/>
              </a:rPr>
              <a:t>GitHub Link to Data Wrangling Notebook</a:t>
            </a:r>
            <a:r>
              <a:rPr lang="en-US" dirty="0">
                <a:solidFill>
                  <a:schemeClr val="accent3">
                    <a:lumMod val="25000"/>
                  </a:schemeClr>
                </a:solidFill>
                <a:latin typeface="Abadi"/>
              </a:rPr>
              <a:t> – see TASK 4: Create a landing outcome label from Outcome column</a:t>
            </a:r>
          </a:p>
        </p:txBody>
      </p:sp>
      <p:sp>
        <p:nvSpPr>
          <p:cNvPr id="38" name="Flowchart: Terminator 37">
            <a:extLst>
              <a:ext uri="{FF2B5EF4-FFF2-40B4-BE49-F238E27FC236}">
                <a16:creationId xmlns:a16="http://schemas.microsoft.com/office/drawing/2014/main" id="{5272E9F9-48B0-9B31-A99B-DD43DE19E39F}"/>
              </a:ext>
            </a:extLst>
          </p:cNvPr>
          <p:cNvSpPr/>
          <p:nvPr/>
        </p:nvSpPr>
        <p:spPr>
          <a:xfrm>
            <a:off x="8585025" y="1371467"/>
            <a:ext cx="700965" cy="444326"/>
          </a:xfrm>
          <a:prstGeom prst="flowChartTerminator">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rPr>
              <a:t>Start</a:t>
            </a:r>
          </a:p>
        </p:txBody>
      </p:sp>
      <p:sp>
        <p:nvSpPr>
          <p:cNvPr id="40" name="Flowchart: Process 39">
            <a:extLst>
              <a:ext uri="{FF2B5EF4-FFF2-40B4-BE49-F238E27FC236}">
                <a16:creationId xmlns:a16="http://schemas.microsoft.com/office/drawing/2014/main" id="{A6B8E84D-30B6-09CB-B74E-97F8959E9AB9}"/>
              </a:ext>
            </a:extLst>
          </p:cNvPr>
          <p:cNvSpPr/>
          <p:nvPr/>
        </p:nvSpPr>
        <p:spPr>
          <a:xfrm>
            <a:off x="8137315" y="2783556"/>
            <a:ext cx="1596385"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PayloadMass Missing:</a:t>
            </a:r>
          </a:p>
          <a:p>
            <a:pPr algn="ctr"/>
            <a:r>
              <a:rPr lang="en-US" sz="1200" dirty="0"/>
              <a:t>Fill with Mean</a:t>
            </a:r>
          </a:p>
        </p:txBody>
      </p:sp>
      <p:cxnSp>
        <p:nvCxnSpPr>
          <p:cNvPr id="47" name="Straight Arrow Connector 46">
            <a:extLst>
              <a:ext uri="{FF2B5EF4-FFF2-40B4-BE49-F238E27FC236}">
                <a16:creationId xmlns:a16="http://schemas.microsoft.com/office/drawing/2014/main" id="{714FEF05-7E6F-30D7-B928-DA4E084C7D94}"/>
              </a:ext>
            </a:extLst>
          </p:cNvPr>
          <p:cNvCxnSpPr>
            <a:cxnSpLocks/>
            <a:endCxn id="40" idx="0"/>
          </p:cNvCxnSpPr>
          <p:nvPr/>
        </p:nvCxnSpPr>
        <p:spPr>
          <a:xfrm>
            <a:off x="8935507" y="2427250"/>
            <a:ext cx="1" cy="356306"/>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57" name="Flowchart: Data 56">
            <a:extLst>
              <a:ext uri="{FF2B5EF4-FFF2-40B4-BE49-F238E27FC236}">
                <a16:creationId xmlns:a16="http://schemas.microsoft.com/office/drawing/2014/main" id="{6D7E7327-BCC4-AFB6-D080-10BC613B2DEF}"/>
              </a:ext>
            </a:extLst>
          </p:cNvPr>
          <p:cNvSpPr/>
          <p:nvPr/>
        </p:nvSpPr>
        <p:spPr>
          <a:xfrm>
            <a:off x="8069179" y="2077512"/>
            <a:ext cx="1732657" cy="444325"/>
          </a:xfrm>
          <a:prstGeom prst="flowChartInputOutpu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rPr>
              <a:t>Data</a:t>
            </a:r>
            <a:r>
              <a:rPr lang="sk-SK" sz="1200" dirty="0">
                <a:solidFill>
                  <a:sysClr val="windowText" lastClr="000000"/>
                </a:solidFill>
              </a:rPr>
              <a:t>F</a:t>
            </a:r>
            <a:r>
              <a:rPr lang="en-US" sz="1200" dirty="0">
                <a:solidFill>
                  <a:sysClr val="windowText" lastClr="000000"/>
                </a:solidFill>
              </a:rPr>
              <a:t>ram</a:t>
            </a:r>
            <a:r>
              <a:rPr lang="sk-SK" sz="1200" dirty="0">
                <a:solidFill>
                  <a:sysClr val="windowText" lastClr="000000"/>
                </a:solidFill>
              </a:rPr>
              <a:t>e:</a:t>
            </a:r>
            <a:r>
              <a:rPr lang="en-US" sz="1200" dirty="0">
                <a:solidFill>
                  <a:sysClr val="windowText" lastClr="000000"/>
                </a:solidFill>
              </a:rPr>
              <a:t> data_falcon9</a:t>
            </a:r>
          </a:p>
        </p:txBody>
      </p:sp>
      <p:cxnSp>
        <p:nvCxnSpPr>
          <p:cNvPr id="60" name="Straight Arrow Connector 59">
            <a:extLst>
              <a:ext uri="{FF2B5EF4-FFF2-40B4-BE49-F238E27FC236}">
                <a16:creationId xmlns:a16="http://schemas.microsoft.com/office/drawing/2014/main" id="{282A601E-D733-928D-23BD-A8F36D73D957}"/>
              </a:ext>
            </a:extLst>
          </p:cNvPr>
          <p:cNvCxnSpPr>
            <a:cxnSpLocks/>
            <a:endCxn id="57" idx="1"/>
          </p:cNvCxnSpPr>
          <p:nvPr/>
        </p:nvCxnSpPr>
        <p:spPr>
          <a:xfrm>
            <a:off x="8935507" y="1815793"/>
            <a:ext cx="1" cy="261719"/>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76" name="Flowchart: Process 75">
            <a:extLst>
              <a:ext uri="{FF2B5EF4-FFF2-40B4-BE49-F238E27FC236}">
                <a16:creationId xmlns:a16="http://schemas.microsoft.com/office/drawing/2014/main" id="{F6450306-34CE-E649-7195-7D3CC44EC55E}"/>
              </a:ext>
            </a:extLst>
          </p:cNvPr>
          <p:cNvSpPr/>
          <p:nvPr/>
        </p:nvSpPr>
        <p:spPr>
          <a:xfrm>
            <a:off x="7893846" y="3489601"/>
            <a:ext cx="2083322"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Create Binary Target Variable:</a:t>
            </a:r>
          </a:p>
          <a:p>
            <a:pPr algn="ctr"/>
            <a:r>
              <a:rPr lang="en-US" sz="1200" dirty="0"/>
              <a:t>Class</a:t>
            </a:r>
          </a:p>
        </p:txBody>
      </p:sp>
      <p:cxnSp>
        <p:nvCxnSpPr>
          <p:cNvPr id="77" name="Straight Arrow Connector 76">
            <a:extLst>
              <a:ext uri="{FF2B5EF4-FFF2-40B4-BE49-F238E27FC236}">
                <a16:creationId xmlns:a16="http://schemas.microsoft.com/office/drawing/2014/main" id="{D25353C7-269C-1D3B-FF9E-9F62B7CA1D30}"/>
              </a:ext>
            </a:extLst>
          </p:cNvPr>
          <p:cNvCxnSpPr>
            <a:cxnSpLocks/>
            <a:endCxn id="76" idx="0"/>
          </p:cNvCxnSpPr>
          <p:nvPr/>
        </p:nvCxnSpPr>
        <p:spPr>
          <a:xfrm flipH="1">
            <a:off x="8935507" y="3169435"/>
            <a:ext cx="1" cy="320166"/>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89" name="Flowchart: Process 88">
            <a:extLst>
              <a:ext uri="{FF2B5EF4-FFF2-40B4-BE49-F238E27FC236}">
                <a16:creationId xmlns:a16="http://schemas.microsoft.com/office/drawing/2014/main" id="{FF6FC529-1334-25E4-E8AB-DAB3D8BE8292}"/>
              </a:ext>
            </a:extLst>
          </p:cNvPr>
          <p:cNvSpPr/>
          <p:nvPr/>
        </p:nvSpPr>
        <p:spPr>
          <a:xfrm>
            <a:off x="8584362" y="4195646"/>
            <a:ext cx="702291"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Export to CSV</a:t>
            </a:r>
          </a:p>
        </p:txBody>
      </p:sp>
      <p:sp>
        <p:nvSpPr>
          <p:cNvPr id="90" name="Flowchart: Data 89">
            <a:extLst>
              <a:ext uri="{FF2B5EF4-FFF2-40B4-BE49-F238E27FC236}">
                <a16:creationId xmlns:a16="http://schemas.microsoft.com/office/drawing/2014/main" id="{D1262058-D056-FCA8-7E0A-1B56AC3DDFE9}"/>
              </a:ext>
            </a:extLst>
          </p:cNvPr>
          <p:cNvSpPr/>
          <p:nvPr/>
        </p:nvSpPr>
        <p:spPr>
          <a:xfrm>
            <a:off x="8329633" y="4901691"/>
            <a:ext cx="1211748" cy="444326"/>
          </a:xfrm>
          <a:prstGeom prst="flowChartInputOutpu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rPr>
              <a:t>CSV File</a:t>
            </a:r>
          </a:p>
        </p:txBody>
      </p:sp>
      <p:sp>
        <p:nvSpPr>
          <p:cNvPr id="94" name="Flowchart: Terminator 93">
            <a:extLst>
              <a:ext uri="{FF2B5EF4-FFF2-40B4-BE49-F238E27FC236}">
                <a16:creationId xmlns:a16="http://schemas.microsoft.com/office/drawing/2014/main" id="{AD46E32D-94AE-4E4D-F1DB-B60D68991845}"/>
              </a:ext>
            </a:extLst>
          </p:cNvPr>
          <p:cNvSpPr/>
          <p:nvPr/>
        </p:nvSpPr>
        <p:spPr>
          <a:xfrm>
            <a:off x="8585025" y="5607736"/>
            <a:ext cx="700965" cy="444326"/>
          </a:xfrm>
          <a:prstGeom prst="flowChartTerminator">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rPr>
              <a:t>End</a:t>
            </a:r>
          </a:p>
        </p:txBody>
      </p:sp>
      <p:cxnSp>
        <p:nvCxnSpPr>
          <p:cNvPr id="95" name="Straight Arrow Connector 94">
            <a:extLst>
              <a:ext uri="{FF2B5EF4-FFF2-40B4-BE49-F238E27FC236}">
                <a16:creationId xmlns:a16="http://schemas.microsoft.com/office/drawing/2014/main" id="{55FE882F-2746-A396-5A7A-96389E69BBED}"/>
              </a:ext>
            </a:extLst>
          </p:cNvPr>
          <p:cNvCxnSpPr>
            <a:cxnSpLocks/>
            <a:stCxn id="90" idx="4"/>
            <a:endCxn id="94" idx="0"/>
          </p:cNvCxnSpPr>
          <p:nvPr/>
        </p:nvCxnSpPr>
        <p:spPr>
          <a:xfrm>
            <a:off x="8935507" y="5346017"/>
            <a:ext cx="1" cy="261719"/>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3582A031-38A4-6F3E-7E5D-B3493DC13B9E}"/>
              </a:ext>
            </a:extLst>
          </p:cNvPr>
          <p:cNvCxnSpPr>
            <a:cxnSpLocks/>
            <a:endCxn id="89" idx="0"/>
          </p:cNvCxnSpPr>
          <p:nvPr/>
        </p:nvCxnSpPr>
        <p:spPr>
          <a:xfrm>
            <a:off x="8929600" y="3610639"/>
            <a:ext cx="5908" cy="585007"/>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F2708BF7-17A8-0163-0926-650B755006DA}"/>
              </a:ext>
            </a:extLst>
          </p:cNvPr>
          <p:cNvCxnSpPr>
            <a:cxnSpLocks/>
            <a:stCxn id="89" idx="2"/>
            <a:endCxn id="90" idx="1"/>
          </p:cNvCxnSpPr>
          <p:nvPr/>
        </p:nvCxnSpPr>
        <p:spPr>
          <a:xfrm flipH="1">
            <a:off x="8935507" y="4639972"/>
            <a:ext cx="1" cy="261719"/>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7552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4E03D3-761E-7549-A4C6-7E585EBC4F01}"/>
              </a:ext>
            </a:extLst>
          </p:cNvPr>
          <p:cNvSpPr>
            <a:spLocks noGrp="1"/>
          </p:cNvSpPr>
          <p:nvPr>
            <p:ph type="sldNum" sz="quarter" idx="12"/>
          </p:nvPr>
        </p:nvSpPr>
        <p:spPr/>
        <p:txBody>
          <a:bodyPr/>
          <a:lstStyle/>
          <a:p>
            <a:fld id="{5075537C-CA84-1446-933C-8E9D027F9201}" type="slidenum">
              <a:rPr lang="en-US" smtClean="0"/>
              <a:t>11</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381988"/>
            <a:ext cx="9745589" cy="3978035"/>
          </a:xfrm>
          <a:prstGeom prst="rect">
            <a:avLst/>
          </a:prstGeom>
        </p:spPr>
        <p:txBody>
          <a:bodyPr lIns="91440" tIns="45720" rIns="91440" bIns="45720" anchor="t"/>
          <a:lstStyle/>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EDA visualization contains the following charts:</a:t>
            </a:r>
          </a:p>
          <a:p>
            <a:pPr>
              <a:lnSpc>
                <a:spcPct val="100000"/>
              </a:lnSpc>
              <a:spcBef>
                <a:spcPts val="1400"/>
              </a:spcBef>
            </a:pPr>
            <a:r>
              <a:rPr lang="en-US" sz="2200" b="1" dirty="0">
                <a:solidFill>
                  <a:schemeClr val="accent3">
                    <a:lumMod val="25000"/>
                  </a:schemeClr>
                </a:solidFill>
                <a:latin typeface="Abadi" panose="020B0604020104020204" pitchFamily="34" charset="0"/>
              </a:rPr>
              <a:t>Categorical scatter plots</a:t>
            </a:r>
            <a:r>
              <a:rPr lang="en-US" sz="2200" dirty="0">
                <a:solidFill>
                  <a:schemeClr val="accent3">
                    <a:lumMod val="25000"/>
                  </a:schemeClr>
                </a:solidFill>
                <a:latin typeface="Abadi" panose="020B0604020104020204" pitchFamily="34" charset="0"/>
              </a:rPr>
              <a:t> – utilized to visualize distribution and density of landing successes for multivariate relationships (Flight Number vs Payload Mass/ Launch Site/ Orbit, Payload Mass vs Launch Site/ Orbit)</a:t>
            </a:r>
          </a:p>
          <a:p>
            <a:pPr>
              <a:lnSpc>
                <a:spcPct val="100000"/>
              </a:lnSpc>
              <a:spcBef>
                <a:spcPts val="1400"/>
              </a:spcBef>
            </a:pPr>
            <a:r>
              <a:rPr lang="en-US" sz="2200" b="1" dirty="0">
                <a:solidFill>
                  <a:schemeClr val="accent3">
                    <a:lumMod val="25000"/>
                  </a:schemeClr>
                </a:solidFill>
                <a:latin typeface="Abadi" panose="020B0604020104020204" pitchFamily="34" charset="0"/>
              </a:rPr>
              <a:t>Bar Chart of Success Rates by Orbit Type</a:t>
            </a:r>
            <a:r>
              <a:rPr lang="en-US" sz="2200" dirty="0">
                <a:solidFill>
                  <a:schemeClr val="accent3">
                    <a:lumMod val="25000"/>
                  </a:schemeClr>
                </a:solidFill>
                <a:latin typeface="Abadi" panose="020B0604020104020204" pitchFamily="34" charset="0"/>
              </a:rPr>
              <a:t> – used to identify the highest and lowest performing orbits in terms of landing success rate (along with the number of launches for statistical context)</a:t>
            </a:r>
          </a:p>
          <a:p>
            <a:pPr>
              <a:lnSpc>
                <a:spcPct val="100000"/>
              </a:lnSpc>
              <a:spcBef>
                <a:spcPts val="1400"/>
              </a:spcBef>
            </a:pPr>
            <a:r>
              <a:rPr lang="en-US" sz="2200" b="1" dirty="0">
                <a:solidFill>
                  <a:schemeClr val="accent3">
                    <a:lumMod val="25000"/>
                  </a:schemeClr>
                </a:solidFill>
                <a:latin typeface="Abadi" panose="020B0604020104020204" pitchFamily="34" charset="0"/>
              </a:rPr>
              <a:t>Line Chart of Success Rate Evolution </a:t>
            </a:r>
            <a:r>
              <a:rPr lang="en-US" sz="2200" dirty="0">
                <a:solidFill>
                  <a:schemeClr val="accent3">
                    <a:lumMod val="25000"/>
                  </a:schemeClr>
                </a:solidFill>
                <a:latin typeface="Abadi" panose="020B0604020104020204" pitchFamily="34" charset="0"/>
              </a:rPr>
              <a:t>– visualizing the increasing trend in yearly success rates evolution (along with the number of launches for statistical context)</a:t>
            </a:r>
          </a:p>
        </p:txBody>
      </p:sp>
      <p:sp>
        <p:nvSpPr>
          <p:cNvPr id="3" name="Title 1">
            <a:extLst>
              <a:ext uri="{FF2B5EF4-FFF2-40B4-BE49-F238E27FC236}">
                <a16:creationId xmlns:a16="http://schemas.microsoft.com/office/drawing/2014/main" id="{D9E97D81-A978-4758-8A93-47C19B10407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Data Visualization</a:t>
            </a:r>
          </a:p>
        </p:txBody>
      </p:sp>
      <p:sp>
        <p:nvSpPr>
          <p:cNvPr id="6" name="TextBox 5">
            <a:extLst>
              <a:ext uri="{FF2B5EF4-FFF2-40B4-BE49-F238E27FC236}">
                <a16:creationId xmlns:a16="http://schemas.microsoft.com/office/drawing/2014/main" id="{DDC7E2AF-1335-A1DA-0445-4259AB7E4A11}"/>
              </a:ext>
            </a:extLst>
          </p:cNvPr>
          <p:cNvSpPr txBox="1"/>
          <p:nvPr/>
        </p:nvSpPr>
        <p:spPr>
          <a:xfrm>
            <a:off x="820738" y="5525633"/>
            <a:ext cx="4472374" cy="369332"/>
          </a:xfrm>
          <a:prstGeom prst="rect">
            <a:avLst/>
          </a:prstGeom>
          <a:noFill/>
        </p:spPr>
        <p:txBody>
          <a:bodyPr wrap="square" rtlCol="0">
            <a:spAutoFit/>
          </a:bodyPr>
          <a:lstStyle/>
          <a:p>
            <a:r>
              <a:rPr lang="en-US" dirty="0">
                <a:solidFill>
                  <a:schemeClr val="accent3">
                    <a:lumMod val="25000"/>
                  </a:schemeClr>
                </a:solidFill>
                <a:latin typeface="Abadi"/>
                <a:hlinkClick r:id="rId3"/>
              </a:rPr>
              <a:t>GitHub Link to EDA Visualization Notebook</a:t>
            </a:r>
            <a:endParaRPr lang="en-US" dirty="0"/>
          </a:p>
        </p:txBody>
      </p:sp>
    </p:spTree>
    <p:extLst>
      <p:ext uri="{BB962C8B-B14F-4D97-AF65-F5344CB8AC3E}">
        <p14:creationId xmlns:p14="http://schemas.microsoft.com/office/powerpoint/2010/main" val="779971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7B1B70-690D-5945-90C2-196E1304B45D}"/>
              </a:ext>
            </a:extLst>
          </p:cNvPr>
          <p:cNvSpPr>
            <a:spLocks noGrp="1"/>
          </p:cNvSpPr>
          <p:nvPr>
            <p:ph type="sldNum" sz="quarter" idx="12"/>
          </p:nvPr>
        </p:nvSpPr>
        <p:spPr/>
        <p:txBody>
          <a:bodyPr/>
          <a:lstStyle/>
          <a:p>
            <a:fld id="{5075537C-CA84-1446-933C-8E9D027F9201}" type="slidenum">
              <a:rPr lang="en-US" smtClean="0"/>
              <a:t>12</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635590"/>
            <a:ext cx="10134210" cy="3590615"/>
          </a:xfrm>
          <a:prstGeom prst="rect">
            <a:avLst/>
          </a:prstGeom>
        </p:spPr>
        <p:txBody>
          <a:bodyPr lIns="91440" tIns="45720" rIns="91440" bIns="45720" anchor="t"/>
          <a:lstStyle/>
          <a:p>
            <a:pPr marL="0" indent="0">
              <a:lnSpc>
                <a:spcPct val="100000"/>
              </a:lnSpc>
              <a:spcBef>
                <a:spcPts val="1400"/>
              </a:spcBef>
              <a:buNone/>
            </a:pPr>
            <a:r>
              <a:rPr lang="en-US" sz="2600" dirty="0">
                <a:solidFill>
                  <a:schemeClr val="accent3">
                    <a:lumMod val="25000"/>
                  </a:schemeClr>
                </a:solidFill>
                <a:latin typeface="Abadi"/>
              </a:rPr>
              <a:t>SQL queries performed using SQL Cell Magic</a:t>
            </a:r>
            <a:endParaRPr lang="en-US" sz="26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Data table preparation – SPACEXTABLE created with data from DataFrame df</a:t>
            </a:r>
          </a:p>
          <a:p>
            <a:pPr>
              <a:lnSpc>
                <a:spcPct val="100000"/>
              </a:lnSpc>
              <a:spcBef>
                <a:spcPts val="1400"/>
              </a:spcBef>
            </a:pPr>
            <a:r>
              <a:rPr lang="en-US" sz="2200" dirty="0">
                <a:solidFill>
                  <a:schemeClr val="accent3">
                    <a:lumMod val="25000"/>
                  </a:schemeClr>
                </a:solidFill>
                <a:latin typeface="Abadi" panose="020B0604020104020204" pitchFamily="34" charset="0"/>
              </a:rPr>
              <a:t>Launch Sites Summary:</a:t>
            </a:r>
          </a:p>
          <a:p>
            <a:pPr lvl="1">
              <a:lnSpc>
                <a:spcPct val="100000"/>
              </a:lnSpc>
              <a:spcBef>
                <a:spcPts val="1400"/>
              </a:spcBef>
            </a:pPr>
            <a:r>
              <a:rPr lang="en-US" sz="1800" dirty="0">
                <a:solidFill>
                  <a:schemeClr val="accent3">
                    <a:lumMod val="25000"/>
                  </a:schemeClr>
                </a:solidFill>
                <a:latin typeface="Abadi" panose="020B0604020104020204" pitchFamily="34" charset="0"/>
              </a:rPr>
              <a:t>List of analyzed Launch Sites created</a:t>
            </a:r>
          </a:p>
          <a:p>
            <a:pPr lvl="1">
              <a:lnSpc>
                <a:spcPct val="100000"/>
              </a:lnSpc>
              <a:spcBef>
                <a:spcPts val="1400"/>
              </a:spcBef>
            </a:pPr>
            <a:r>
              <a:rPr lang="en-US" sz="1800" dirty="0">
                <a:solidFill>
                  <a:schemeClr val="accent3">
                    <a:lumMod val="25000"/>
                  </a:schemeClr>
                </a:solidFill>
                <a:latin typeface="Abadi" panose="020B0604020104020204" pitchFamily="34" charset="0"/>
              </a:rPr>
              <a:t>Records for sites starting with CCA retrieved to provide brief overview</a:t>
            </a:r>
          </a:p>
          <a:p>
            <a:pPr>
              <a:lnSpc>
                <a:spcPct val="100000"/>
              </a:lnSpc>
              <a:spcBef>
                <a:spcPts val="1400"/>
              </a:spcBef>
            </a:pPr>
            <a:r>
              <a:rPr lang="en-US" sz="2200" dirty="0">
                <a:solidFill>
                  <a:schemeClr val="accent3">
                    <a:lumMod val="25000"/>
                  </a:schemeClr>
                </a:solidFill>
                <a:latin typeface="Abadi" panose="020B0604020104020204" pitchFamily="34" charset="0"/>
              </a:rPr>
              <a:t>Customer Analytics – total Payload Mass carried for NASA (CRS) aggregated</a:t>
            </a:r>
          </a:p>
        </p:txBody>
      </p:sp>
      <p:sp>
        <p:nvSpPr>
          <p:cNvPr id="3" name="Title 1">
            <a:extLst>
              <a:ext uri="{FF2B5EF4-FFF2-40B4-BE49-F238E27FC236}">
                <a16:creationId xmlns:a16="http://schemas.microsoft.com/office/drawing/2014/main" id="{32405FDA-CB27-4506-BA80-B7DD00CB25C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SQL</a:t>
            </a:r>
            <a:endParaRPr lang="en-US" dirty="0">
              <a:solidFill>
                <a:srgbClr val="0B49CB"/>
              </a:solidFill>
            </a:endParaRPr>
          </a:p>
        </p:txBody>
      </p:sp>
      <p:sp>
        <p:nvSpPr>
          <p:cNvPr id="2" name="TextBox 1">
            <a:extLst>
              <a:ext uri="{FF2B5EF4-FFF2-40B4-BE49-F238E27FC236}">
                <a16:creationId xmlns:a16="http://schemas.microsoft.com/office/drawing/2014/main" id="{58D262FE-7DED-F760-3477-718827B9CC88}"/>
              </a:ext>
            </a:extLst>
          </p:cNvPr>
          <p:cNvSpPr txBox="1"/>
          <p:nvPr/>
        </p:nvSpPr>
        <p:spPr>
          <a:xfrm>
            <a:off x="820738" y="5525633"/>
            <a:ext cx="4472374" cy="369332"/>
          </a:xfrm>
          <a:prstGeom prst="rect">
            <a:avLst/>
          </a:prstGeom>
          <a:noFill/>
        </p:spPr>
        <p:txBody>
          <a:bodyPr wrap="square" rtlCol="0">
            <a:spAutoFit/>
          </a:bodyPr>
          <a:lstStyle/>
          <a:p>
            <a:r>
              <a:rPr lang="en-US" dirty="0">
                <a:solidFill>
                  <a:schemeClr val="accent3">
                    <a:lumMod val="25000"/>
                  </a:schemeClr>
                </a:solidFill>
                <a:latin typeface="Abadi"/>
                <a:hlinkClick r:id="rId3"/>
              </a:rPr>
              <a:t>GitHub Link to EDA with SQL</a:t>
            </a:r>
            <a:endParaRPr lang="en-US" dirty="0"/>
          </a:p>
        </p:txBody>
      </p:sp>
    </p:spTree>
    <p:extLst>
      <p:ext uri="{BB962C8B-B14F-4D97-AF65-F5344CB8AC3E}">
        <p14:creationId xmlns:p14="http://schemas.microsoft.com/office/powerpoint/2010/main" val="1578726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7B1B70-690D-5945-90C2-196E1304B45D}"/>
              </a:ext>
            </a:extLst>
          </p:cNvPr>
          <p:cNvSpPr>
            <a:spLocks noGrp="1"/>
          </p:cNvSpPr>
          <p:nvPr>
            <p:ph type="sldNum" sz="quarter" idx="12"/>
          </p:nvPr>
        </p:nvSpPr>
        <p:spPr/>
        <p:txBody>
          <a:bodyPr/>
          <a:lstStyle/>
          <a:p>
            <a:fld id="{5075537C-CA84-1446-933C-8E9D027F9201}" type="slidenum">
              <a:rPr lang="en-US" smtClean="0"/>
              <a:t>13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635588"/>
            <a:ext cx="10134210" cy="3590617"/>
          </a:xfrm>
          <a:prstGeom prst="rect">
            <a:avLst/>
          </a:prstGeom>
        </p:spPr>
        <p:txBody>
          <a:bodyPr lIns="91440" tIns="45720" rIns="91440" bIns="45720" anchor="t"/>
          <a:lstStyle/>
          <a:p>
            <a:pPr marL="0" indent="0">
              <a:lnSpc>
                <a:spcPct val="100000"/>
              </a:lnSpc>
              <a:spcBef>
                <a:spcPts val="1400"/>
              </a:spcBef>
              <a:buNone/>
            </a:pPr>
            <a:r>
              <a:rPr lang="en-US" sz="2600" dirty="0">
                <a:solidFill>
                  <a:schemeClr val="accent3">
                    <a:lumMod val="25000"/>
                  </a:schemeClr>
                </a:solidFill>
                <a:latin typeface="Abadi"/>
              </a:rPr>
              <a:t>SQL queries performed using SQL Cell Magic</a:t>
            </a:r>
            <a:endParaRPr lang="en-US" sz="26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Booster Version Analytics:</a:t>
            </a:r>
          </a:p>
          <a:p>
            <a:pPr lvl="1">
              <a:lnSpc>
                <a:spcPct val="100000"/>
              </a:lnSpc>
              <a:spcBef>
                <a:spcPts val="1400"/>
              </a:spcBef>
            </a:pPr>
            <a:r>
              <a:rPr lang="en-US" sz="1800" dirty="0">
                <a:solidFill>
                  <a:schemeClr val="accent3">
                    <a:lumMod val="25000"/>
                  </a:schemeClr>
                </a:solidFill>
                <a:latin typeface="Abadi" panose="020B0604020104020204" pitchFamily="34" charset="0"/>
              </a:rPr>
              <a:t>Average Payload Mass carried by F9 v1.1 has been calculated</a:t>
            </a:r>
          </a:p>
          <a:p>
            <a:pPr lvl="1">
              <a:lnSpc>
                <a:spcPct val="100000"/>
              </a:lnSpc>
              <a:spcBef>
                <a:spcPts val="1400"/>
              </a:spcBef>
            </a:pPr>
            <a:r>
              <a:rPr lang="en-US" sz="1800" dirty="0">
                <a:solidFill>
                  <a:schemeClr val="accent3">
                    <a:lumMod val="25000"/>
                  </a:schemeClr>
                </a:solidFill>
                <a:latin typeface="Abadi" panose="020B0604020104020204" pitchFamily="34" charset="0"/>
              </a:rPr>
              <a:t>Overview of boosters carrying 4000 kg to 6000 kg Payload Mass with landing success in drone ship</a:t>
            </a:r>
          </a:p>
          <a:p>
            <a:pPr lvl="1">
              <a:lnSpc>
                <a:spcPct val="100000"/>
              </a:lnSpc>
              <a:spcBef>
                <a:spcPts val="1400"/>
              </a:spcBef>
            </a:pPr>
            <a:r>
              <a:rPr lang="en-US" sz="1800" dirty="0">
                <a:solidFill>
                  <a:schemeClr val="accent3">
                    <a:lumMod val="25000"/>
                  </a:schemeClr>
                </a:solidFill>
                <a:latin typeface="Abadi" panose="020B0604020104020204" pitchFamily="34" charset="0"/>
              </a:rPr>
              <a:t>Summary of boosters carrying maximum Payload Mass for the analyzed period of time</a:t>
            </a:r>
            <a:endParaRPr lang="en-US" dirty="0"/>
          </a:p>
          <a:p>
            <a:pPr marL="0" indent="0">
              <a:buNone/>
            </a:pPr>
            <a:endParaRPr lang="en-US" dirty="0"/>
          </a:p>
          <a:p>
            <a:pPr marL="0" indent="0">
              <a:buNone/>
            </a:pPr>
            <a:endParaRPr lang="en-US" dirty="0"/>
          </a:p>
        </p:txBody>
      </p:sp>
      <p:sp>
        <p:nvSpPr>
          <p:cNvPr id="3" name="Title 1">
            <a:extLst>
              <a:ext uri="{FF2B5EF4-FFF2-40B4-BE49-F238E27FC236}">
                <a16:creationId xmlns:a16="http://schemas.microsoft.com/office/drawing/2014/main" id="{32405FDA-CB27-4506-BA80-B7DD00CB25C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SQL</a:t>
            </a:r>
            <a:endParaRPr lang="en-US" dirty="0">
              <a:solidFill>
                <a:srgbClr val="0B49CB"/>
              </a:solidFill>
            </a:endParaRPr>
          </a:p>
        </p:txBody>
      </p:sp>
      <p:sp>
        <p:nvSpPr>
          <p:cNvPr id="6" name="TextBox 5">
            <a:extLst>
              <a:ext uri="{FF2B5EF4-FFF2-40B4-BE49-F238E27FC236}">
                <a16:creationId xmlns:a16="http://schemas.microsoft.com/office/drawing/2014/main" id="{2A0CC77E-1BF9-EA46-2325-3BF1629F1B9D}"/>
              </a:ext>
            </a:extLst>
          </p:cNvPr>
          <p:cNvSpPr txBox="1"/>
          <p:nvPr/>
        </p:nvSpPr>
        <p:spPr>
          <a:xfrm>
            <a:off x="820738" y="5525633"/>
            <a:ext cx="4472374" cy="369332"/>
          </a:xfrm>
          <a:prstGeom prst="rect">
            <a:avLst/>
          </a:prstGeom>
          <a:noFill/>
        </p:spPr>
        <p:txBody>
          <a:bodyPr wrap="square" rtlCol="0">
            <a:spAutoFit/>
          </a:bodyPr>
          <a:lstStyle/>
          <a:p>
            <a:r>
              <a:rPr lang="en-US" dirty="0">
                <a:solidFill>
                  <a:schemeClr val="accent3">
                    <a:lumMod val="25000"/>
                  </a:schemeClr>
                </a:solidFill>
                <a:latin typeface="Abadi"/>
                <a:hlinkClick r:id="rId3"/>
              </a:rPr>
              <a:t>GitHub Link to EDA with SQL</a:t>
            </a:r>
            <a:endParaRPr lang="en-US" dirty="0"/>
          </a:p>
        </p:txBody>
      </p:sp>
    </p:spTree>
    <p:extLst>
      <p:ext uri="{BB962C8B-B14F-4D97-AF65-F5344CB8AC3E}">
        <p14:creationId xmlns:p14="http://schemas.microsoft.com/office/powerpoint/2010/main" val="2844969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7B1B70-690D-5945-90C2-196E1304B45D}"/>
              </a:ext>
            </a:extLst>
          </p:cNvPr>
          <p:cNvSpPr>
            <a:spLocks noGrp="1"/>
          </p:cNvSpPr>
          <p:nvPr>
            <p:ph type="sldNum" sz="quarter" idx="12"/>
          </p:nvPr>
        </p:nvSpPr>
        <p:spPr/>
        <p:txBody>
          <a:bodyPr/>
          <a:lstStyle/>
          <a:p>
            <a:fld id="{5075537C-CA84-1446-933C-8E9D027F9201}" type="slidenum">
              <a:rPr lang="en-US" smtClean="0"/>
              <a:t>14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635590"/>
            <a:ext cx="10134210" cy="3590615"/>
          </a:xfrm>
          <a:prstGeom prst="rect">
            <a:avLst/>
          </a:prstGeom>
        </p:spPr>
        <p:txBody>
          <a:bodyPr lIns="91440" tIns="45720" rIns="91440" bIns="45720" anchor="t"/>
          <a:lstStyle/>
          <a:p>
            <a:pPr marL="0" indent="0">
              <a:lnSpc>
                <a:spcPct val="100000"/>
              </a:lnSpc>
              <a:spcBef>
                <a:spcPts val="1400"/>
              </a:spcBef>
              <a:buNone/>
            </a:pPr>
            <a:r>
              <a:rPr lang="en-US" sz="2600" dirty="0">
                <a:solidFill>
                  <a:schemeClr val="accent3">
                    <a:lumMod val="25000"/>
                  </a:schemeClr>
                </a:solidFill>
                <a:latin typeface="Abadi"/>
              </a:rPr>
              <a:t>SQL queries performed using SQL Cell Magic</a:t>
            </a:r>
            <a:endParaRPr lang="en-US" sz="26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Landing Outcome Evaluation:</a:t>
            </a:r>
          </a:p>
          <a:p>
            <a:pPr lvl="1">
              <a:lnSpc>
                <a:spcPct val="100000"/>
              </a:lnSpc>
              <a:spcBef>
                <a:spcPts val="1400"/>
              </a:spcBef>
            </a:pPr>
            <a:r>
              <a:rPr lang="en-US" sz="1800" dirty="0">
                <a:solidFill>
                  <a:schemeClr val="accent3">
                    <a:lumMod val="25000"/>
                  </a:schemeClr>
                </a:solidFill>
                <a:latin typeface="Abadi" panose="020B0604020104020204" pitchFamily="34" charset="0"/>
              </a:rPr>
              <a:t>Date of the first successful landing in ground pad identified</a:t>
            </a:r>
          </a:p>
          <a:p>
            <a:pPr lvl="1">
              <a:lnSpc>
                <a:spcPct val="100000"/>
              </a:lnSpc>
              <a:spcBef>
                <a:spcPts val="1400"/>
              </a:spcBef>
            </a:pPr>
            <a:r>
              <a:rPr lang="en-US" sz="1800" dirty="0">
                <a:solidFill>
                  <a:schemeClr val="accent3">
                    <a:lumMod val="25000"/>
                  </a:schemeClr>
                </a:solidFill>
                <a:latin typeface="Abadi" panose="020B0604020104020204" pitchFamily="34" charset="0"/>
              </a:rPr>
              <a:t>Boosters with failure in drone ship landing in 2015 identified</a:t>
            </a:r>
          </a:p>
          <a:p>
            <a:pPr lvl="1">
              <a:lnSpc>
                <a:spcPct val="100000"/>
              </a:lnSpc>
              <a:spcBef>
                <a:spcPts val="1400"/>
              </a:spcBef>
            </a:pPr>
            <a:r>
              <a:rPr lang="en-US" sz="1800" dirty="0">
                <a:solidFill>
                  <a:schemeClr val="accent3">
                    <a:lumMod val="25000"/>
                  </a:schemeClr>
                </a:solidFill>
                <a:latin typeface="Abadi" panose="020B0604020104020204" pitchFamily="34" charset="0"/>
              </a:rPr>
              <a:t>Aggregation of landing outcomes in the years 2010 to 2017</a:t>
            </a:r>
          </a:p>
          <a:p>
            <a:pPr>
              <a:lnSpc>
                <a:spcPct val="100000"/>
              </a:lnSpc>
              <a:spcBef>
                <a:spcPts val="1400"/>
              </a:spcBef>
            </a:pPr>
            <a:r>
              <a:rPr lang="en-US" sz="2200" dirty="0">
                <a:solidFill>
                  <a:schemeClr val="accent3">
                    <a:lumMod val="25000"/>
                  </a:schemeClr>
                </a:solidFill>
                <a:latin typeface="Abadi" panose="020B0604020104020204" pitchFamily="34" charset="0"/>
              </a:rPr>
              <a:t>Mission Outcome Analysis – aggregated successes and failures of the analyzed missions</a:t>
            </a:r>
          </a:p>
          <a:p>
            <a:endParaRPr lang="en-US" dirty="0"/>
          </a:p>
          <a:p>
            <a:pPr marL="0" indent="0">
              <a:buNone/>
            </a:pPr>
            <a:endParaRPr lang="en-US" dirty="0"/>
          </a:p>
          <a:p>
            <a:pPr marL="0" indent="0">
              <a:buNone/>
            </a:pPr>
            <a:endParaRPr lang="en-US" dirty="0"/>
          </a:p>
        </p:txBody>
      </p:sp>
      <p:sp>
        <p:nvSpPr>
          <p:cNvPr id="3" name="Title 1">
            <a:extLst>
              <a:ext uri="{FF2B5EF4-FFF2-40B4-BE49-F238E27FC236}">
                <a16:creationId xmlns:a16="http://schemas.microsoft.com/office/drawing/2014/main" id="{32405FDA-CB27-4506-BA80-B7DD00CB25C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SQL</a:t>
            </a:r>
            <a:endParaRPr lang="en-US" dirty="0">
              <a:solidFill>
                <a:srgbClr val="0B49CB"/>
              </a:solidFill>
            </a:endParaRPr>
          </a:p>
        </p:txBody>
      </p:sp>
      <p:sp>
        <p:nvSpPr>
          <p:cNvPr id="6" name="TextBox 5">
            <a:extLst>
              <a:ext uri="{FF2B5EF4-FFF2-40B4-BE49-F238E27FC236}">
                <a16:creationId xmlns:a16="http://schemas.microsoft.com/office/drawing/2014/main" id="{AC58C45D-C901-621A-2042-250191119A0E}"/>
              </a:ext>
            </a:extLst>
          </p:cNvPr>
          <p:cNvSpPr txBox="1"/>
          <p:nvPr/>
        </p:nvSpPr>
        <p:spPr>
          <a:xfrm>
            <a:off x="820738" y="5525633"/>
            <a:ext cx="4472374" cy="369332"/>
          </a:xfrm>
          <a:prstGeom prst="rect">
            <a:avLst/>
          </a:prstGeom>
          <a:noFill/>
        </p:spPr>
        <p:txBody>
          <a:bodyPr wrap="square" rtlCol="0">
            <a:spAutoFit/>
          </a:bodyPr>
          <a:lstStyle/>
          <a:p>
            <a:r>
              <a:rPr lang="en-US" dirty="0">
                <a:solidFill>
                  <a:schemeClr val="accent3">
                    <a:lumMod val="25000"/>
                  </a:schemeClr>
                </a:solidFill>
                <a:latin typeface="Abadi"/>
                <a:hlinkClick r:id="rId3"/>
              </a:rPr>
              <a:t>GitHub Link to EDA with SQL</a:t>
            </a:r>
            <a:endParaRPr lang="en-US" dirty="0"/>
          </a:p>
        </p:txBody>
      </p:sp>
    </p:spTree>
    <p:extLst>
      <p:ext uri="{BB962C8B-B14F-4D97-AF65-F5344CB8AC3E}">
        <p14:creationId xmlns:p14="http://schemas.microsoft.com/office/powerpoint/2010/main" val="2654428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15</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838200" y="1369536"/>
            <a:ext cx="10515600" cy="4079694"/>
          </a:xfrm>
          <a:prstGeom prst="rect">
            <a:avLst/>
          </a:prstGeom>
        </p:spPr>
        <p:txBody>
          <a:bodyPr>
            <a:normAutofit/>
          </a:bodyPr>
          <a:lstStyle/>
          <a:p>
            <a:pPr marL="0" indent="0">
              <a:lnSpc>
                <a:spcPct val="100000"/>
              </a:lnSpc>
              <a:spcBef>
                <a:spcPts val="1800"/>
              </a:spcBef>
              <a:buNone/>
            </a:pPr>
            <a:r>
              <a:rPr lang="en-US" sz="2400" b="1" dirty="0">
                <a:solidFill>
                  <a:schemeClr val="accent3">
                    <a:lumMod val="25000"/>
                  </a:schemeClr>
                </a:solidFill>
                <a:latin typeface="Abadi" panose="020B0604020104020204" pitchFamily="34" charset="0"/>
              </a:rPr>
              <a:t>Folium map</a:t>
            </a:r>
            <a:r>
              <a:rPr lang="en-US" sz="2400" dirty="0">
                <a:solidFill>
                  <a:schemeClr val="accent3">
                    <a:lumMod val="25000"/>
                  </a:schemeClr>
                </a:solidFill>
                <a:latin typeface="Abadi" panose="020B0604020104020204" pitchFamily="34" charset="0"/>
              </a:rPr>
              <a:t> was used to capture locations of SpaceX Launch Sites</a:t>
            </a:r>
          </a:p>
          <a:p>
            <a:pPr marL="0" indent="0">
              <a:lnSpc>
                <a:spcPct val="100000"/>
              </a:lnSpc>
              <a:spcBef>
                <a:spcPts val="1800"/>
              </a:spcBef>
              <a:buNone/>
            </a:pPr>
            <a:r>
              <a:rPr lang="en-US" sz="2200" dirty="0">
                <a:solidFill>
                  <a:schemeClr val="accent3">
                    <a:lumMod val="25000"/>
                  </a:schemeClr>
                </a:solidFill>
                <a:latin typeface="Abadi" panose="020B0604020104020204" pitchFamily="34" charset="0"/>
              </a:rPr>
              <a:t>Various </a:t>
            </a:r>
            <a:r>
              <a:rPr lang="en-US" sz="2200" b="1" dirty="0">
                <a:solidFill>
                  <a:schemeClr val="accent3">
                    <a:lumMod val="25000"/>
                  </a:schemeClr>
                </a:solidFill>
                <a:latin typeface="Abadi" panose="020B0604020104020204" pitchFamily="34" charset="0"/>
              </a:rPr>
              <a:t>map objects</a:t>
            </a:r>
            <a:r>
              <a:rPr lang="en-US" sz="2200" dirty="0">
                <a:solidFill>
                  <a:schemeClr val="accent3">
                    <a:lumMod val="25000"/>
                  </a:schemeClr>
                </a:solidFill>
                <a:latin typeface="Abadi" panose="020B0604020104020204" pitchFamily="34" charset="0"/>
              </a:rPr>
              <a:t> were utilized to highlight selected properties:</a:t>
            </a:r>
          </a:p>
          <a:p>
            <a:r>
              <a:rPr lang="en-US" sz="2000" dirty="0">
                <a:solidFill>
                  <a:schemeClr val="accent3">
                    <a:lumMod val="25000"/>
                  </a:schemeClr>
                </a:solidFill>
                <a:latin typeface="Abadi" panose="020B0604020104020204" pitchFamily="34" charset="0"/>
              </a:rPr>
              <a:t>Circles – identify exact location of each launch site with 1 km radius</a:t>
            </a:r>
          </a:p>
          <a:p>
            <a:r>
              <a:rPr lang="en-US" sz="2000" dirty="0">
                <a:solidFill>
                  <a:schemeClr val="accent3">
                    <a:lumMod val="25000"/>
                  </a:schemeClr>
                </a:solidFill>
                <a:latin typeface="Abadi" panose="020B0604020104020204" pitchFamily="34" charset="0"/>
              </a:rPr>
              <a:t>Markers – added to the map to visualize:</a:t>
            </a:r>
          </a:p>
          <a:p>
            <a:pPr lvl="1"/>
            <a:r>
              <a:rPr lang="en-US" sz="1800" dirty="0">
                <a:solidFill>
                  <a:schemeClr val="accent3">
                    <a:lumMod val="25000"/>
                  </a:schemeClr>
                </a:solidFill>
                <a:latin typeface="Abadi" panose="020B0604020104020204" pitchFamily="34" charset="0"/>
              </a:rPr>
              <a:t>Names of Launch Sites</a:t>
            </a:r>
          </a:p>
          <a:p>
            <a:pPr lvl="1"/>
            <a:r>
              <a:rPr lang="en-US" sz="1800" dirty="0">
                <a:solidFill>
                  <a:schemeClr val="accent3">
                    <a:lumMod val="25000"/>
                  </a:schemeClr>
                </a:solidFill>
                <a:latin typeface="Abadi" panose="020B0604020104020204" pitchFamily="34" charset="0"/>
              </a:rPr>
              <a:t>Individual launches and their landing outcome (green – success, red – failure)</a:t>
            </a:r>
          </a:p>
          <a:p>
            <a:pPr lvl="1"/>
            <a:r>
              <a:rPr lang="en-US" sz="1800" dirty="0">
                <a:solidFill>
                  <a:schemeClr val="accent3">
                    <a:lumMod val="25000"/>
                  </a:schemeClr>
                </a:solidFill>
                <a:latin typeface="Abadi" panose="020B0604020104020204" pitchFamily="34" charset="0"/>
              </a:rPr>
              <a:t>Distance from the Launch Sites to closest points in their proximities (coastline, city, highway, railway)</a:t>
            </a:r>
          </a:p>
          <a:p>
            <a:r>
              <a:rPr lang="en-US" sz="2000" dirty="0">
                <a:solidFill>
                  <a:schemeClr val="accent3">
                    <a:lumMod val="25000"/>
                  </a:schemeClr>
                </a:solidFill>
                <a:latin typeface="Abadi" panose="020B0604020104020204" pitchFamily="34" charset="0"/>
              </a:rPr>
              <a:t>Marker Cluster – utilized to simplify the map by dynamically grouping individual launch markers, since many of them share the same coordinates</a:t>
            </a:r>
          </a:p>
          <a:p>
            <a:r>
              <a:rPr lang="en-US" sz="2000" dirty="0">
                <a:solidFill>
                  <a:schemeClr val="accent3">
                    <a:lumMod val="25000"/>
                  </a:schemeClr>
                </a:solidFill>
                <a:latin typeface="Abadi" panose="020B0604020104020204" pitchFamily="34" charset="0"/>
              </a:rPr>
              <a:t>Lines – utilized as a trace to closest points in the proximities of Launch Sites</a:t>
            </a:r>
          </a:p>
          <a:p>
            <a:endParaRPr lang="en-US" dirty="0"/>
          </a:p>
        </p:txBody>
      </p:sp>
      <p:sp>
        <p:nvSpPr>
          <p:cNvPr id="3" name="Title 1">
            <a:extLst>
              <a:ext uri="{FF2B5EF4-FFF2-40B4-BE49-F238E27FC236}">
                <a16:creationId xmlns:a16="http://schemas.microsoft.com/office/drawing/2014/main" id="{B28946E4-5BEF-46F0-A56A-E7E85ACA148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an Interactive Map with Folium</a:t>
            </a:r>
            <a:endParaRPr lang="en-US" dirty="0">
              <a:solidFill>
                <a:srgbClr val="0B49CB"/>
              </a:solidFill>
            </a:endParaRPr>
          </a:p>
        </p:txBody>
      </p:sp>
      <p:sp>
        <p:nvSpPr>
          <p:cNvPr id="2" name="TextBox 1">
            <a:extLst>
              <a:ext uri="{FF2B5EF4-FFF2-40B4-BE49-F238E27FC236}">
                <a16:creationId xmlns:a16="http://schemas.microsoft.com/office/drawing/2014/main" id="{143961C5-6476-D40D-6BF8-63EECB2C814A}"/>
              </a:ext>
            </a:extLst>
          </p:cNvPr>
          <p:cNvSpPr txBox="1"/>
          <p:nvPr/>
        </p:nvSpPr>
        <p:spPr>
          <a:xfrm>
            <a:off x="984289" y="5704695"/>
            <a:ext cx="4472374" cy="369332"/>
          </a:xfrm>
          <a:prstGeom prst="rect">
            <a:avLst/>
          </a:prstGeom>
          <a:noFill/>
        </p:spPr>
        <p:txBody>
          <a:bodyPr wrap="square" rtlCol="0">
            <a:spAutoFit/>
          </a:bodyPr>
          <a:lstStyle/>
          <a:p>
            <a:r>
              <a:rPr lang="en-US" dirty="0">
                <a:solidFill>
                  <a:schemeClr val="accent3">
                    <a:lumMod val="25000"/>
                  </a:schemeClr>
                </a:solidFill>
                <a:latin typeface="Abadi"/>
                <a:hlinkClick r:id="rId3" tooltip="GitHub Link"/>
              </a:rPr>
              <a:t>GitHub Link to Interactive Map with Folium</a:t>
            </a:r>
            <a:endParaRPr lang="en-US" dirty="0"/>
          </a:p>
        </p:txBody>
      </p:sp>
      <p:sp>
        <p:nvSpPr>
          <p:cNvPr id="6" name="TextBox 5">
            <a:extLst>
              <a:ext uri="{FF2B5EF4-FFF2-40B4-BE49-F238E27FC236}">
                <a16:creationId xmlns:a16="http://schemas.microsoft.com/office/drawing/2014/main" id="{4D2AC988-E685-27A9-F9F4-0E50557B98DA}"/>
              </a:ext>
            </a:extLst>
          </p:cNvPr>
          <p:cNvSpPr txBox="1"/>
          <p:nvPr/>
        </p:nvSpPr>
        <p:spPr>
          <a:xfrm>
            <a:off x="5619455" y="5704695"/>
            <a:ext cx="4892428" cy="369332"/>
          </a:xfrm>
          <a:prstGeom prst="rect">
            <a:avLst/>
          </a:prstGeom>
          <a:noFill/>
        </p:spPr>
        <p:txBody>
          <a:bodyPr wrap="square" rtlCol="0">
            <a:spAutoFit/>
          </a:bodyPr>
          <a:lstStyle/>
          <a:p>
            <a:r>
              <a:rPr lang="en-US" dirty="0">
                <a:solidFill>
                  <a:schemeClr val="accent3">
                    <a:lumMod val="25000"/>
                  </a:schemeClr>
                </a:solidFill>
                <a:latin typeface="Abadi"/>
                <a:hlinkClick r:id="rId4" tooltip="View interactive Folium maps with nbviewer if they do not load on GitHub."/>
              </a:rPr>
              <a:t>Nbviewer Link to Interactive Map with Folium</a:t>
            </a:r>
            <a:endParaRPr lang="en-US" dirty="0"/>
          </a:p>
        </p:txBody>
      </p:sp>
    </p:spTree>
    <p:extLst>
      <p:ext uri="{BB962C8B-B14F-4D97-AF65-F5344CB8AC3E}">
        <p14:creationId xmlns:p14="http://schemas.microsoft.com/office/powerpoint/2010/main" val="148114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16</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387013"/>
            <a:ext cx="9745589" cy="4351338"/>
          </a:xfrm>
          <a:prstGeom prst="rect">
            <a:avLst/>
          </a:prstGeom>
        </p:spPr>
        <p:txBody>
          <a:bodyPr vert="horz" lIns="91440" tIns="45720" rIns="91440" bIns="45720" rtlCol="0" anchor="t">
            <a:normAutofit fontScale="77500" lnSpcReduction="20000"/>
          </a:bodyPr>
          <a:lstStyle/>
          <a:p>
            <a:pPr marL="0" indent="0">
              <a:lnSpc>
                <a:spcPct val="100000"/>
              </a:lnSpc>
              <a:spcBef>
                <a:spcPts val="1400"/>
              </a:spcBef>
              <a:buNone/>
            </a:pPr>
            <a:r>
              <a:rPr lang="en-US" sz="2600" dirty="0">
                <a:solidFill>
                  <a:schemeClr val="accent3">
                    <a:lumMod val="25000"/>
                  </a:schemeClr>
                </a:solidFill>
                <a:latin typeface="Abadi" panose="020B0604020104020204" pitchFamily="34" charset="0"/>
              </a:rPr>
              <a:t>SpaceX Launch Records Dashboard contains:</a:t>
            </a:r>
          </a:p>
          <a:p>
            <a:pPr>
              <a:lnSpc>
                <a:spcPct val="100000"/>
              </a:lnSpc>
              <a:spcBef>
                <a:spcPts val="1400"/>
              </a:spcBef>
            </a:pPr>
            <a:r>
              <a:rPr lang="en-US" sz="2200" dirty="0">
                <a:solidFill>
                  <a:schemeClr val="accent3">
                    <a:lumMod val="25000"/>
                  </a:schemeClr>
                </a:solidFill>
                <a:latin typeface="Abadi" panose="020B0604020104020204" pitchFamily="34" charset="0"/>
              </a:rPr>
              <a:t>Dropdown Box – provides option to select All Sites for the overview of all launches or a specific Launch Site for the analysis of a specific site</a:t>
            </a:r>
          </a:p>
          <a:p>
            <a:pPr>
              <a:lnSpc>
                <a:spcPct val="100000"/>
              </a:lnSpc>
              <a:spcBef>
                <a:spcPts val="1400"/>
              </a:spcBef>
            </a:pPr>
            <a:r>
              <a:rPr lang="en-US" sz="2200" dirty="0">
                <a:solidFill>
                  <a:schemeClr val="accent3">
                    <a:lumMod val="25000"/>
                  </a:schemeClr>
                </a:solidFill>
                <a:latin typeface="Abadi" panose="020B0604020104020204" pitchFamily="34" charset="0"/>
              </a:rPr>
              <a:t>Range Slider – possibility to select a certain payload range to be analyzed </a:t>
            </a:r>
          </a:p>
          <a:p>
            <a:pPr>
              <a:lnSpc>
                <a:spcPct val="100000"/>
              </a:lnSpc>
              <a:spcBef>
                <a:spcPts val="1400"/>
              </a:spcBef>
            </a:pPr>
            <a:r>
              <a:rPr lang="en-US" sz="2200" dirty="0">
                <a:solidFill>
                  <a:schemeClr val="accent3">
                    <a:lumMod val="25000"/>
                  </a:schemeClr>
                </a:solidFill>
                <a:latin typeface="Abadi" panose="020B0604020104020204" pitchFamily="34" charset="0"/>
              </a:rPr>
              <a:t>Pie Chart – visualizes success rates of all sites if All Sites are selected in a dropdown. If a specific site is picked in a dropdown, then success and failures portions of the site is presented</a:t>
            </a:r>
          </a:p>
          <a:p>
            <a:pPr>
              <a:lnSpc>
                <a:spcPct val="100000"/>
              </a:lnSpc>
              <a:spcBef>
                <a:spcPts val="1400"/>
              </a:spcBef>
            </a:pPr>
            <a:r>
              <a:rPr lang="en-US" sz="2200" dirty="0">
                <a:solidFill>
                  <a:schemeClr val="accent3">
                    <a:lumMod val="25000"/>
                  </a:schemeClr>
                </a:solidFill>
                <a:latin typeface="Abadi" panose="020B0604020104020204" pitchFamily="34" charset="0"/>
              </a:rPr>
              <a:t>Scatter chart – utilized to analyze correlation between Success, Payload and Booster Version Category. Represent all sites or a specific site, depending on the Dropdown Box selection. Payload range selected in the Range Slider is rendered.</a:t>
            </a: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The components and their interactions provides flexible visual analytics on SpaceX Launch Success of selected site / all sites. </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Dashboard also presents success of individual launches for a selectable Payload range, all this with indication of the respective Booster Version Category.  </a:t>
            </a:r>
          </a:p>
        </p:txBody>
      </p:sp>
      <p:sp>
        <p:nvSpPr>
          <p:cNvPr id="3" name="Title 1">
            <a:extLst>
              <a:ext uri="{FF2B5EF4-FFF2-40B4-BE49-F238E27FC236}">
                <a16:creationId xmlns:a16="http://schemas.microsoft.com/office/drawing/2014/main" id="{519FC08B-7D2E-43A5-A528-821DCDCCCC8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 Dashboard with Plotly Dash</a:t>
            </a:r>
          </a:p>
        </p:txBody>
      </p:sp>
      <p:sp>
        <p:nvSpPr>
          <p:cNvPr id="2" name="TextBox 1">
            <a:extLst>
              <a:ext uri="{FF2B5EF4-FFF2-40B4-BE49-F238E27FC236}">
                <a16:creationId xmlns:a16="http://schemas.microsoft.com/office/drawing/2014/main" id="{23E53519-0E2B-F4C1-C8D5-EF553E48CD62}"/>
              </a:ext>
            </a:extLst>
          </p:cNvPr>
          <p:cNvSpPr txBox="1"/>
          <p:nvPr/>
        </p:nvSpPr>
        <p:spPr>
          <a:xfrm>
            <a:off x="770011" y="5763358"/>
            <a:ext cx="4472374" cy="369332"/>
          </a:xfrm>
          <a:prstGeom prst="rect">
            <a:avLst/>
          </a:prstGeom>
          <a:noFill/>
        </p:spPr>
        <p:txBody>
          <a:bodyPr wrap="square" rtlCol="0">
            <a:spAutoFit/>
          </a:bodyPr>
          <a:lstStyle/>
          <a:p>
            <a:r>
              <a:rPr lang="en-US" dirty="0">
                <a:solidFill>
                  <a:schemeClr val="accent3">
                    <a:lumMod val="25000"/>
                  </a:schemeClr>
                </a:solidFill>
                <a:latin typeface="Abadi"/>
                <a:hlinkClick r:id="rId3" tooltip="GitHub Link"/>
              </a:rPr>
              <a:t>GitHub Link to Dashboard with Plotly Dash</a:t>
            </a:r>
            <a:endParaRPr lang="en-US" dirty="0"/>
          </a:p>
        </p:txBody>
      </p:sp>
    </p:spTree>
    <p:extLst>
      <p:ext uri="{BB962C8B-B14F-4D97-AF65-F5344CB8AC3E}">
        <p14:creationId xmlns:p14="http://schemas.microsoft.com/office/powerpoint/2010/main" val="334532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12"/>
          </p:nvPr>
        </p:nvSpPr>
        <p:spPr/>
        <p:txBody>
          <a:bodyPr/>
          <a:lstStyle/>
          <a:p>
            <a:fld id="{5075537C-CA84-1446-933C-8E9D027F9201}" type="slidenum">
              <a:rPr lang="en-US" smtClean="0"/>
              <a:t>17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463040"/>
            <a:ext cx="9745589" cy="4045326"/>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Feature engineering – performed one-hot encoding of categorical variables (EDA with Data Visualization notebook) prior to predictive analysis</a:t>
            </a:r>
          </a:p>
          <a:p>
            <a:pPr>
              <a:lnSpc>
                <a:spcPct val="100000"/>
              </a:lnSpc>
              <a:spcBef>
                <a:spcPts val="1400"/>
              </a:spcBef>
            </a:pPr>
            <a:r>
              <a:rPr lang="en-US" sz="2200" dirty="0">
                <a:solidFill>
                  <a:schemeClr val="accent3">
                    <a:lumMod val="25000"/>
                  </a:schemeClr>
                </a:solidFill>
                <a:latin typeface="Abadi" panose="020B0604020104020204" pitchFamily="34" charset="0"/>
              </a:rPr>
              <a:t>Used libraries: Pandas, NumPy, Matplotlib, Seaborn, Scikit-Learn</a:t>
            </a:r>
          </a:p>
          <a:p>
            <a:pPr>
              <a:lnSpc>
                <a:spcPct val="100000"/>
              </a:lnSpc>
              <a:spcBef>
                <a:spcPts val="1400"/>
              </a:spcBef>
            </a:pPr>
            <a:r>
              <a:rPr lang="en-US" sz="2200" dirty="0">
                <a:solidFill>
                  <a:schemeClr val="accent3">
                    <a:lumMod val="25000"/>
                  </a:schemeClr>
                </a:solidFill>
                <a:latin typeface="Abadi" panose="020B0604020104020204" pitchFamily="34" charset="0"/>
              </a:rPr>
              <a:t>Features were loaded to variable X (83 columns), Target to variable Y</a:t>
            </a:r>
          </a:p>
          <a:p>
            <a:pPr>
              <a:lnSpc>
                <a:spcPct val="100000"/>
              </a:lnSpc>
              <a:spcBef>
                <a:spcPts val="1400"/>
              </a:spcBef>
            </a:pPr>
            <a:r>
              <a:rPr lang="en-US" sz="2200" dirty="0">
                <a:solidFill>
                  <a:schemeClr val="accent3">
                    <a:lumMod val="25000"/>
                  </a:schemeClr>
                </a:solidFill>
                <a:latin typeface="Abadi" panose="020B0604020104020204" pitchFamily="34" charset="0"/>
              </a:rPr>
              <a:t>Features were standardized using StandardScaler()</a:t>
            </a:r>
          </a:p>
          <a:p>
            <a:pPr>
              <a:lnSpc>
                <a:spcPct val="100000"/>
              </a:lnSpc>
              <a:spcBef>
                <a:spcPts val="1400"/>
              </a:spcBef>
            </a:pPr>
            <a:r>
              <a:rPr lang="en-US" sz="2200" dirty="0">
                <a:solidFill>
                  <a:schemeClr val="accent3">
                    <a:lumMod val="25000"/>
                  </a:schemeClr>
                </a:solidFill>
                <a:latin typeface="Abadi" panose="020B0604020104020204" pitchFamily="34" charset="0"/>
              </a:rPr>
              <a:t>Both X and Y were split to training and testing data via </a:t>
            </a:r>
            <a:r>
              <a:rPr lang="en-US" sz="2200" dirty="0" err="1">
                <a:solidFill>
                  <a:schemeClr val="accent3">
                    <a:lumMod val="25000"/>
                  </a:schemeClr>
                </a:solidFill>
                <a:latin typeface="Abadi" panose="020B0604020104020204" pitchFamily="34" charset="0"/>
              </a:rPr>
              <a:t>train_test_split</a:t>
            </a:r>
            <a:r>
              <a:rPr lang="en-US" sz="2200" dirty="0">
                <a:solidFill>
                  <a:schemeClr val="accent3">
                    <a:lumMod val="25000"/>
                  </a:schemeClr>
                </a:solidFill>
                <a:latin typeface="Abadi" panose="020B0604020104020204" pitchFamily="34" charset="0"/>
              </a:rPr>
              <a:t>() with stratification</a:t>
            </a:r>
          </a:p>
          <a:p>
            <a:pPr>
              <a:lnSpc>
                <a:spcPct val="100000"/>
              </a:lnSpc>
              <a:spcBef>
                <a:spcPts val="1400"/>
              </a:spcBef>
            </a:pPr>
            <a:r>
              <a:rPr lang="en-US" sz="2200" dirty="0">
                <a:solidFill>
                  <a:schemeClr val="accent3">
                    <a:lumMod val="25000"/>
                  </a:schemeClr>
                </a:solidFill>
                <a:latin typeface="Abadi" panose="020B0604020104020204" pitchFamily="34" charset="0"/>
              </a:rPr>
              <a:t>Classification models using Logistic Regression, Support Vector Machine, Decision Tree, and k-Nearest Neighbors were built, improved, and evaluated</a:t>
            </a:r>
          </a:p>
        </p:txBody>
      </p:sp>
      <p:sp>
        <p:nvSpPr>
          <p:cNvPr id="3" name="Title 1">
            <a:extLst>
              <a:ext uri="{FF2B5EF4-FFF2-40B4-BE49-F238E27FC236}">
                <a16:creationId xmlns:a16="http://schemas.microsoft.com/office/drawing/2014/main" id="{FC857EDD-A3A7-434D-B8D5-401E872498D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(Classification)</a:t>
            </a:r>
          </a:p>
        </p:txBody>
      </p:sp>
      <p:sp>
        <p:nvSpPr>
          <p:cNvPr id="8" name="TextBox 7">
            <a:extLst>
              <a:ext uri="{FF2B5EF4-FFF2-40B4-BE49-F238E27FC236}">
                <a16:creationId xmlns:a16="http://schemas.microsoft.com/office/drawing/2014/main" id="{51E06CF6-FA74-452D-CC7E-53325E9E6688}"/>
              </a:ext>
            </a:extLst>
          </p:cNvPr>
          <p:cNvSpPr txBox="1"/>
          <p:nvPr/>
        </p:nvSpPr>
        <p:spPr>
          <a:xfrm>
            <a:off x="770011" y="5852562"/>
            <a:ext cx="4472374" cy="369332"/>
          </a:xfrm>
          <a:prstGeom prst="rect">
            <a:avLst/>
          </a:prstGeom>
          <a:noFill/>
        </p:spPr>
        <p:txBody>
          <a:bodyPr wrap="square" rtlCol="0">
            <a:spAutoFit/>
          </a:bodyPr>
          <a:lstStyle/>
          <a:p>
            <a:r>
              <a:rPr lang="en-US" dirty="0">
                <a:solidFill>
                  <a:schemeClr val="accent3">
                    <a:lumMod val="25000"/>
                  </a:schemeClr>
                </a:solidFill>
                <a:latin typeface="Abadi"/>
                <a:hlinkClick r:id="rId3"/>
              </a:rPr>
              <a:t>GitHub Link to Predictive Analysis</a:t>
            </a:r>
            <a:endParaRPr lang="en-US" dirty="0"/>
          </a:p>
        </p:txBody>
      </p:sp>
    </p:spTree>
    <p:extLst>
      <p:ext uri="{BB962C8B-B14F-4D97-AF65-F5344CB8AC3E}">
        <p14:creationId xmlns:p14="http://schemas.microsoft.com/office/powerpoint/2010/main" val="1813711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12"/>
          </p:nvPr>
        </p:nvSpPr>
        <p:spPr/>
        <p:txBody>
          <a:bodyPr/>
          <a:lstStyle/>
          <a:p>
            <a:fld id="{5075537C-CA84-1446-933C-8E9D027F9201}" type="slidenum">
              <a:rPr lang="en-US" smtClean="0"/>
              <a:t>18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465273"/>
            <a:ext cx="10002068" cy="4162374"/>
          </a:xfrm>
          <a:prstGeom prst="rect">
            <a:avLst/>
          </a:prstGeom>
        </p:spPr>
        <p:txBody>
          <a:bodyPr>
            <a:normAutofit lnSpcReduction="10000"/>
          </a:bodyPr>
          <a:lstStyle/>
          <a:p>
            <a:pPr marL="0" indent="0">
              <a:lnSpc>
                <a:spcPct val="100000"/>
              </a:lnSpc>
              <a:spcBef>
                <a:spcPts val="1400"/>
              </a:spcBef>
              <a:buNone/>
            </a:pPr>
            <a:r>
              <a:rPr lang="en-US" sz="2400" dirty="0">
                <a:solidFill>
                  <a:schemeClr val="accent3">
                    <a:lumMod val="25000"/>
                  </a:schemeClr>
                </a:solidFill>
                <a:latin typeface="Abadi" panose="020B0604020104020204" pitchFamily="34" charset="0"/>
              </a:rPr>
              <a:t>The same process was applied to each of the Classification models</a:t>
            </a:r>
          </a:p>
          <a:p>
            <a:pPr>
              <a:lnSpc>
                <a:spcPct val="100000"/>
              </a:lnSpc>
              <a:spcBef>
                <a:spcPts val="1400"/>
              </a:spcBef>
            </a:pPr>
            <a:r>
              <a:rPr lang="en-US" sz="2200" dirty="0">
                <a:solidFill>
                  <a:schemeClr val="accent3">
                    <a:lumMod val="25000"/>
                  </a:schemeClr>
                </a:solidFill>
                <a:latin typeface="Abadi" panose="020B0604020104020204" pitchFamily="34" charset="0"/>
              </a:rPr>
              <a:t>Define Hyperparameter Space – build the parameters grid to be used for hyperparameters tuning (model improvement)</a:t>
            </a:r>
          </a:p>
          <a:p>
            <a:pPr>
              <a:lnSpc>
                <a:spcPct val="100000"/>
              </a:lnSpc>
              <a:spcBef>
                <a:spcPts val="1400"/>
              </a:spcBef>
            </a:pPr>
            <a:r>
              <a:rPr lang="en-US" sz="2200" dirty="0">
                <a:solidFill>
                  <a:schemeClr val="accent3">
                    <a:lumMod val="25000"/>
                  </a:schemeClr>
                </a:solidFill>
                <a:latin typeface="Abadi" panose="020B0604020104020204" pitchFamily="34" charset="0"/>
              </a:rPr>
              <a:t>Define the Estimator – build the classification model to be used</a:t>
            </a:r>
          </a:p>
          <a:p>
            <a:pPr>
              <a:lnSpc>
                <a:spcPct val="100000"/>
              </a:lnSpc>
              <a:spcBef>
                <a:spcPts val="1400"/>
              </a:spcBef>
            </a:pPr>
            <a:r>
              <a:rPr lang="en-US" sz="2200" dirty="0">
                <a:solidFill>
                  <a:schemeClr val="accent3">
                    <a:lumMod val="25000"/>
                  </a:schemeClr>
                </a:solidFill>
                <a:latin typeface="Abadi" panose="020B0604020104020204" pitchFamily="34" charset="0"/>
              </a:rPr>
              <a:t>Define GridSearchCV object – build the object for hyperparameter tuning with defined Estimator and Hyperparameter Space, using 10-fold cross validation and accuracy as the default classification scoring metric</a:t>
            </a:r>
          </a:p>
          <a:p>
            <a:pPr>
              <a:lnSpc>
                <a:spcPct val="100000"/>
              </a:lnSpc>
              <a:spcBef>
                <a:spcPts val="1400"/>
              </a:spcBef>
            </a:pPr>
            <a:r>
              <a:rPr lang="en-US" sz="2200" dirty="0">
                <a:solidFill>
                  <a:schemeClr val="accent3">
                    <a:lumMod val="25000"/>
                  </a:schemeClr>
                </a:solidFill>
                <a:latin typeface="Abadi" panose="020B0604020104020204" pitchFamily="34" charset="0"/>
              </a:rPr>
              <a:t>Fit/Train GridSearchCV – improve the model using train data and find the best combination of hyperparameters</a:t>
            </a:r>
          </a:p>
          <a:p>
            <a:pPr>
              <a:lnSpc>
                <a:spcPct val="100000"/>
              </a:lnSpc>
              <a:spcBef>
                <a:spcPts val="1400"/>
              </a:spcBef>
            </a:pPr>
            <a:r>
              <a:rPr lang="en-US" sz="2200" dirty="0">
                <a:solidFill>
                  <a:schemeClr val="accent3">
                    <a:lumMod val="25000"/>
                  </a:schemeClr>
                </a:solidFill>
                <a:latin typeface="Abadi" panose="020B0604020104020204" pitchFamily="34" charset="0"/>
              </a:rPr>
              <a:t>Evaluate the model using test data with .score( ) method and confusion matrix</a:t>
            </a:r>
          </a:p>
        </p:txBody>
      </p:sp>
      <p:sp>
        <p:nvSpPr>
          <p:cNvPr id="3" name="Title 1">
            <a:extLst>
              <a:ext uri="{FF2B5EF4-FFF2-40B4-BE49-F238E27FC236}">
                <a16:creationId xmlns:a16="http://schemas.microsoft.com/office/drawing/2014/main" id="{FC857EDD-A3A7-434D-B8D5-401E872498D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(Classification)</a:t>
            </a:r>
          </a:p>
        </p:txBody>
      </p:sp>
      <p:sp>
        <p:nvSpPr>
          <p:cNvPr id="9" name="TextBox 8">
            <a:extLst>
              <a:ext uri="{FF2B5EF4-FFF2-40B4-BE49-F238E27FC236}">
                <a16:creationId xmlns:a16="http://schemas.microsoft.com/office/drawing/2014/main" id="{6FFDDC0D-E3C8-2C7B-E3DB-BB332B7C9E4E}"/>
              </a:ext>
            </a:extLst>
          </p:cNvPr>
          <p:cNvSpPr txBox="1"/>
          <p:nvPr/>
        </p:nvSpPr>
        <p:spPr>
          <a:xfrm>
            <a:off x="770011" y="5852562"/>
            <a:ext cx="4472374" cy="369332"/>
          </a:xfrm>
          <a:prstGeom prst="rect">
            <a:avLst/>
          </a:prstGeom>
          <a:noFill/>
        </p:spPr>
        <p:txBody>
          <a:bodyPr wrap="square" rtlCol="0">
            <a:spAutoFit/>
          </a:bodyPr>
          <a:lstStyle/>
          <a:p>
            <a:r>
              <a:rPr lang="en-US" dirty="0">
                <a:solidFill>
                  <a:schemeClr val="accent3">
                    <a:lumMod val="25000"/>
                  </a:schemeClr>
                </a:solidFill>
                <a:latin typeface="Abadi"/>
                <a:hlinkClick r:id="rId3"/>
              </a:rPr>
              <a:t>GitHub Link to Predictive Analysis</a:t>
            </a:r>
            <a:endParaRPr lang="en-US" dirty="0"/>
          </a:p>
        </p:txBody>
      </p:sp>
    </p:spTree>
    <p:extLst>
      <p:ext uri="{BB962C8B-B14F-4D97-AF65-F5344CB8AC3E}">
        <p14:creationId xmlns:p14="http://schemas.microsoft.com/office/powerpoint/2010/main" val="885239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12"/>
          </p:nvPr>
        </p:nvSpPr>
        <p:spPr/>
        <p:txBody>
          <a:bodyPr/>
          <a:lstStyle/>
          <a:p>
            <a:fld id="{5075537C-CA84-1446-933C-8E9D027F9201}" type="slidenum">
              <a:rPr lang="en-US" smtClean="0"/>
              <a:t>19</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463040"/>
            <a:ext cx="10002068" cy="4504344"/>
          </a:xfrm>
          <a:prstGeom prst="rect">
            <a:avLst/>
          </a:prstGeom>
        </p:spPr>
        <p:txBody>
          <a:bodyPr>
            <a:normAutofit/>
          </a:bodyPr>
          <a:lstStyle/>
          <a:p>
            <a:pPr marL="0" indent="0">
              <a:lnSpc>
                <a:spcPct val="100000"/>
              </a:lnSpc>
              <a:spcBef>
                <a:spcPts val="1400"/>
              </a:spcBef>
              <a:buNone/>
            </a:pPr>
            <a:r>
              <a:rPr lang="en-US" sz="2400" dirty="0">
                <a:solidFill>
                  <a:schemeClr val="accent3">
                    <a:lumMod val="25000"/>
                  </a:schemeClr>
                </a:solidFill>
                <a:latin typeface="Abadi" panose="020B0604020104020204" pitchFamily="34" charset="0"/>
              </a:rPr>
              <a:t>The approach to identify the best classification performing model</a:t>
            </a:r>
          </a:p>
          <a:p>
            <a:pPr>
              <a:lnSpc>
                <a:spcPct val="100000"/>
              </a:lnSpc>
              <a:spcBef>
                <a:spcPts val="1400"/>
              </a:spcBef>
            </a:pPr>
            <a:r>
              <a:rPr lang="en-US" sz="2200" dirty="0">
                <a:solidFill>
                  <a:schemeClr val="accent3">
                    <a:lumMod val="25000"/>
                  </a:schemeClr>
                </a:solidFill>
                <a:latin typeface="Abadi" panose="020B0604020104020204" pitchFamily="34" charset="0"/>
              </a:rPr>
              <a:t>Metric: Accuracy</a:t>
            </a:r>
          </a:p>
          <a:p>
            <a:pPr>
              <a:lnSpc>
                <a:spcPct val="100000"/>
              </a:lnSpc>
              <a:spcBef>
                <a:spcPts val="1400"/>
              </a:spcBef>
            </a:pPr>
            <a:r>
              <a:rPr lang="en-US" sz="2200" dirty="0">
                <a:solidFill>
                  <a:schemeClr val="accent3">
                    <a:lumMod val="25000"/>
                  </a:schemeClr>
                </a:solidFill>
                <a:latin typeface="Abadi" panose="020B0604020104020204" pitchFamily="34" charset="0"/>
              </a:rPr>
              <a:t>Visual Analytics: Confusion Matrix</a:t>
            </a:r>
          </a:p>
          <a:p>
            <a:pPr>
              <a:lnSpc>
                <a:spcPct val="100000"/>
              </a:lnSpc>
              <a:spcBef>
                <a:spcPts val="1400"/>
              </a:spcBef>
            </a:pPr>
            <a:r>
              <a:rPr lang="en-US" sz="2200" dirty="0">
                <a:solidFill>
                  <a:schemeClr val="accent3">
                    <a:lumMod val="25000"/>
                  </a:schemeClr>
                </a:solidFill>
                <a:latin typeface="Abadi" panose="020B0604020104020204" pitchFamily="34" charset="0"/>
              </a:rPr>
              <a:t>Models were sorted in descending order of their evaluation results (test data)</a:t>
            </a:r>
          </a:p>
          <a:p>
            <a:pPr>
              <a:lnSpc>
                <a:spcPct val="100000"/>
              </a:lnSpc>
              <a:spcBef>
                <a:spcPts val="1400"/>
              </a:spcBef>
            </a:pPr>
            <a:r>
              <a:rPr lang="en-US" sz="2200" dirty="0">
                <a:solidFill>
                  <a:schemeClr val="accent3">
                    <a:lumMod val="25000"/>
                  </a:schemeClr>
                </a:solidFill>
                <a:latin typeface="Abadi" panose="020B0604020104020204" pitchFamily="34" charset="0"/>
              </a:rPr>
              <a:t>The highest accuracy of 83.3% was reached by Logistic Regression and Support Vector Machine models</a:t>
            </a:r>
          </a:p>
          <a:p>
            <a:pPr>
              <a:lnSpc>
                <a:spcPct val="100000"/>
              </a:lnSpc>
              <a:spcBef>
                <a:spcPts val="1400"/>
              </a:spcBef>
            </a:pPr>
            <a:r>
              <a:rPr lang="en-US" sz="2200" dirty="0">
                <a:solidFill>
                  <a:schemeClr val="accent3">
                    <a:lumMod val="25000"/>
                  </a:schemeClr>
                </a:solidFill>
                <a:latin typeface="Abadi" panose="020B0604020104020204" pitchFamily="34" charset="0"/>
              </a:rPr>
              <a:t>Then the model with smaller gap between test and train accuracy, i.e. indicating better generalization was selected as the best performing model</a:t>
            </a:r>
          </a:p>
          <a:p>
            <a:pPr marL="0" indent="0" algn="ctr">
              <a:lnSpc>
                <a:spcPct val="100000"/>
              </a:lnSpc>
              <a:spcBef>
                <a:spcPts val="1400"/>
              </a:spcBef>
              <a:buNone/>
            </a:pPr>
            <a:r>
              <a:rPr lang="en-US" sz="2600" b="1" u="sng" dirty="0">
                <a:solidFill>
                  <a:schemeClr val="accent3">
                    <a:lumMod val="25000"/>
                  </a:schemeClr>
                </a:solidFill>
                <a:latin typeface="Abadi" panose="020B0604020104020204" pitchFamily="34" charset="0"/>
              </a:rPr>
              <a:t>Logistic Regression</a:t>
            </a:r>
          </a:p>
        </p:txBody>
      </p:sp>
      <p:sp>
        <p:nvSpPr>
          <p:cNvPr id="3" name="Title 1">
            <a:extLst>
              <a:ext uri="{FF2B5EF4-FFF2-40B4-BE49-F238E27FC236}">
                <a16:creationId xmlns:a16="http://schemas.microsoft.com/office/drawing/2014/main" id="{FC857EDD-A3A7-434D-B8D5-401E872498D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(Classification)</a:t>
            </a:r>
          </a:p>
        </p:txBody>
      </p:sp>
      <p:sp>
        <p:nvSpPr>
          <p:cNvPr id="2" name="TextBox 1">
            <a:extLst>
              <a:ext uri="{FF2B5EF4-FFF2-40B4-BE49-F238E27FC236}">
                <a16:creationId xmlns:a16="http://schemas.microsoft.com/office/drawing/2014/main" id="{72BF149C-1C44-80D3-A91E-D45C3D878859}"/>
              </a:ext>
            </a:extLst>
          </p:cNvPr>
          <p:cNvSpPr txBox="1"/>
          <p:nvPr/>
        </p:nvSpPr>
        <p:spPr>
          <a:xfrm>
            <a:off x="770011" y="5852562"/>
            <a:ext cx="4472374" cy="369332"/>
          </a:xfrm>
          <a:prstGeom prst="rect">
            <a:avLst/>
          </a:prstGeom>
          <a:noFill/>
        </p:spPr>
        <p:txBody>
          <a:bodyPr wrap="square" rtlCol="0">
            <a:spAutoFit/>
          </a:bodyPr>
          <a:lstStyle/>
          <a:p>
            <a:r>
              <a:rPr lang="en-US" dirty="0">
                <a:solidFill>
                  <a:schemeClr val="accent3">
                    <a:lumMod val="25000"/>
                  </a:schemeClr>
                </a:solidFill>
                <a:latin typeface="Abadi"/>
                <a:hlinkClick r:id="rId3"/>
              </a:rPr>
              <a:t>GitHub Link to Predictive Analysis</a:t>
            </a:r>
            <a:endParaRPr lang="en-US" dirty="0"/>
          </a:p>
        </p:txBody>
      </p:sp>
    </p:spTree>
    <p:extLst>
      <p:ext uri="{BB962C8B-B14F-4D97-AF65-F5344CB8AC3E}">
        <p14:creationId xmlns:p14="http://schemas.microsoft.com/office/powerpoint/2010/main" val="3592079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33" name="Rectangle: Rounded Corners 232">
            <a:extLst>
              <a:ext uri="{FF2B5EF4-FFF2-40B4-BE49-F238E27FC236}">
                <a16:creationId xmlns:a16="http://schemas.microsoft.com/office/drawing/2014/main" id="{8DE40EF6-67B2-FCF0-3B04-2FCEADE1C14D}"/>
              </a:ext>
            </a:extLst>
          </p:cNvPr>
          <p:cNvSpPr/>
          <p:nvPr/>
        </p:nvSpPr>
        <p:spPr>
          <a:xfrm>
            <a:off x="1615440" y="2750944"/>
            <a:ext cx="9842532" cy="1080419"/>
          </a:xfrm>
          <a:prstGeom prst="roundRect">
            <a:avLst>
              <a:gd name="adj" fmla="val 7761"/>
            </a:avLst>
          </a:prstGeom>
          <a:solidFill>
            <a:schemeClr val="accent2">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20000"/>
                  <a:lumOff val="80000"/>
                </a:schemeClr>
              </a:solidFill>
            </a:endParaRPr>
          </a:p>
        </p:txBody>
      </p:sp>
      <p:sp>
        <p:nvSpPr>
          <p:cNvPr id="234" name="Rectangle: Rounded Corners 233">
            <a:extLst>
              <a:ext uri="{FF2B5EF4-FFF2-40B4-BE49-F238E27FC236}">
                <a16:creationId xmlns:a16="http://schemas.microsoft.com/office/drawing/2014/main" id="{82FC17B8-AE86-7C61-B5DF-67DF0F88FF24}"/>
              </a:ext>
            </a:extLst>
          </p:cNvPr>
          <p:cNvSpPr/>
          <p:nvPr/>
        </p:nvSpPr>
        <p:spPr>
          <a:xfrm>
            <a:off x="1615440" y="3861251"/>
            <a:ext cx="9842532" cy="1667106"/>
          </a:xfrm>
          <a:prstGeom prst="roundRect">
            <a:avLst>
              <a:gd name="adj" fmla="val 7761"/>
            </a:avLst>
          </a:prstGeom>
          <a:solidFill>
            <a:schemeClr val="accent6">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20000"/>
                  <a:lumOff val="80000"/>
                </a:schemeClr>
              </a:solidFill>
            </a:endParaRPr>
          </a:p>
        </p:txBody>
      </p:sp>
      <p:sp>
        <p:nvSpPr>
          <p:cNvPr id="232" name="Rectangle: Rounded Corners 231">
            <a:extLst>
              <a:ext uri="{FF2B5EF4-FFF2-40B4-BE49-F238E27FC236}">
                <a16:creationId xmlns:a16="http://schemas.microsoft.com/office/drawing/2014/main" id="{90469629-D828-1437-2233-AA602A38B523}"/>
              </a:ext>
            </a:extLst>
          </p:cNvPr>
          <p:cNvSpPr/>
          <p:nvPr/>
        </p:nvSpPr>
        <p:spPr>
          <a:xfrm>
            <a:off x="1615440" y="1356360"/>
            <a:ext cx="9842532" cy="1368938"/>
          </a:xfrm>
          <a:prstGeom prst="roundRect">
            <a:avLst>
              <a:gd name="adj" fmla="val 7761"/>
            </a:avLst>
          </a:prstGeom>
          <a:solidFill>
            <a:schemeClr val="tx2">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20000"/>
                  <a:lumOff val="80000"/>
                </a:schemeClr>
              </a:solidFill>
            </a:endParaRPr>
          </a:p>
        </p:txBody>
      </p:sp>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12"/>
          </p:nvPr>
        </p:nvSpPr>
        <p:spPr/>
        <p:txBody>
          <a:bodyPr/>
          <a:lstStyle/>
          <a:p>
            <a:fld id="{5075537C-CA84-1446-933C-8E9D027F9201}" type="slidenum">
              <a:rPr lang="en-US" smtClean="0"/>
              <a:t>20</a:t>
            </a:fld>
            <a:endParaRPr lang="en-US" dirty="0"/>
          </a:p>
        </p:txBody>
      </p:sp>
      <p:sp>
        <p:nvSpPr>
          <p:cNvPr id="3" name="Title 1">
            <a:extLst>
              <a:ext uri="{FF2B5EF4-FFF2-40B4-BE49-F238E27FC236}">
                <a16:creationId xmlns:a16="http://schemas.microsoft.com/office/drawing/2014/main" id="{FC857EDD-A3A7-434D-B8D5-401E872498D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(Classification)</a:t>
            </a:r>
          </a:p>
        </p:txBody>
      </p:sp>
      <p:sp>
        <p:nvSpPr>
          <p:cNvPr id="6" name="Flowchart: Terminator 5">
            <a:extLst>
              <a:ext uri="{FF2B5EF4-FFF2-40B4-BE49-F238E27FC236}">
                <a16:creationId xmlns:a16="http://schemas.microsoft.com/office/drawing/2014/main" id="{811D0A46-E617-C002-0B67-344267BCE2ED}"/>
              </a:ext>
            </a:extLst>
          </p:cNvPr>
          <p:cNvSpPr/>
          <p:nvPr/>
        </p:nvSpPr>
        <p:spPr>
          <a:xfrm>
            <a:off x="825439" y="1802117"/>
            <a:ext cx="700965" cy="444326"/>
          </a:xfrm>
          <a:prstGeom prst="flowChartTerminator">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Start</a:t>
            </a:r>
          </a:p>
        </p:txBody>
      </p:sp>
      <p:sp>
        <p:nvSpPr>
          <p:cNvPr id="7" name="Flowchart: Data 6">
            <a:extLst>
              <a:ext uri="{FF2B5EF4-FFF2-40B4-BE49-F238E27FC236}">
                <a16:creationId xmlns:a16="http://schemas.microsoft.com/office/drawing/2014/main" id="{9F3A24B9-242B-5A9D-945E-E0AB553DF177}"/>
              </a:ext>
            </a:extLst>
          </p:cNvPr>
          <p:cNvSpPr/>
          <p:nvPr/>
        </p:nvSpPr>
        <p:spPr>
          <a:xfrm>
            <a:off x="1759635" y="1444876"/>
            <a:ext cx="1161787" cy="444326"/>
          </a:xfrm>
          <a:prstGeom prst="flowChartInputOutpu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Dataset</a:t>
            </a:r>
          </a:p>
        </p:txBody>
      </p:sp>
      <p:sp>
        <p:nvSpPr>
          <p:cNvPr id="9" name="Flowchart: Decision 8">
            <a:extLst>
              <a:ext uri="{FF2B5EF4-FFF2-40B4-BE49-F238E27FC236}">
                <a16:creationId xmlns:a16="http://schemas.microsoft.com/office/drawing/2014/main" id="{4496EBD6-414D-CAAE-DF35-E539F45226C3}"/>
              </a:ext>
            </a:extLst>
          </p:cNvPr>
          <p:cNvSpPr/>
          <p:nvPr/>
        </p:nvSpPr>
        <p:spPr>
          <a:xfrm>
            <a:off x="3658512" y="3925544"/>
            <a:ext cx="2478423" cy="972617"/>
          </a:xfrm>
          <a:prstGeom prst="flowChartDecision">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lang="en-US" sz="1200" dirty="0">
                <a:solidFill>
                  <a:schemeClr val="bg1"/>
                </a:solidFill>
              </a:rPr>
              <a:t>Are All Selected Models Evaluated</a:t>
            </a:r>
          </a:p>
        </p:txBody>
      </p:sp>
      <p:sp>
        <p:nvSpPr>
          <p:cNvPr id="10" name="Flowchart: Process 9">
            <a:extLst>
              <a:ext uri="{FF2B5EF4-FFF2-40B4-BE49-F238E27FC236}">
                <a16:creationId xmlns:a16="http://schemas.microsoft.com/office/drawing/2014/main" id="{FB6D4F85-87F2-55BA-E2F2-CBE18B9A4338}"/>
              </a:ext>
            </a:extLst>
          </p:cNvPr>
          <p:cNvSpPr/>
          <p:nvPr/>
        </p:nvSpPr>
        <p:spPr>
          <a:xfrm>
            <a:off x="4177189" y="3617420"/>
            <a:ext cx="390314" cy="246067"/>
          </a:xfrm>
          <a:prstGeom prst="flowChart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200" dirty="0">
                <a:solidFill>
                  <a:schemeClr val="tx1"/>
                </a:solidFill>
              </a:rPr>
              <a:t>No</a:t>
            </a:r>
          </a:p>
        </p:txBody>
      </p:sp>
      <p:sp>
        <p:nvSpPr>
          <p:cNvPr id="12" name="Flowchart: Process 11">
            <a:extLst>
              <a:ext uri="{FF2B5EF4-FFF2-40B4-BE49-F238E27FC236}">
                <a16:creationId xmlns:a16="http://schemas.microsoft.com/office/drawing/2014/main" id="{9CA9B4B7-7C0C-6DB2-EA95-E5FFBB6E46CC}"/>
              </a:ext>
            </a:extLst>
          </p:cNvPr>
          <p:cNvSpPr/>
          <p:nvPr/>
        </p:nvSpPr>
        <p:spPr>
          <a:xfrm>
            <a:off x="3139115" y="4286013"/>
            <a:ext cx="390314" cy="246067"/>
          </a:xfrm>
          <a:prstGeom prst="flowChart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200" dirty="0">
                <a:solidFill>
                  <a:schemeClr val="tx1"/>
                </a:solidFill>
              </a:rPr>
              <a:t>Yes</a:t>
            </a:r>
          </a:p>
        </p:txBody>
      </p:sp>
      <p:cxnSp>
        <p:nvCxnSpPr>
          <p:cNvPr id="17" name="Connector: Elbow 16">
            <a:extLst>
              <a:ext uri="{FF2B5EF4-FFF2-40B4-BE49-F238E27FC236}">
                <a16:creationId xmlns:a16="http://schemas.microsoft.com/office/drawing/2014/main" id="{966C516F-224B-7FDF-4E06-A605C37DDAC5}"/>
              </a:ext>
            </a:extLst>
          </p:cNvPr>
          <p:cNvCxnSpPr>
            <a:cxnSpLocks/>
            <a:stCxn id="10" idx="3"/>
            <a:endCxn id="9" idx="0"/>
          </p:cNvCxnSpPr>
          <p:nvPr/>
        </p:nvCxnSpPr>
        <p:spPr>
          <a:xfrm>
            <a:off x="4567503" y="3740454"/>
            <a:ext cx="330221" cy="185090"/>
          </a:xfrm>
          <a:prstGeom prst="bentConnector2">
            <a:avLst/>
          </a:prstGeom>
          <a:ln w="9525">
            <a:tailEnd type="non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7E61A88E-347B-FA2B-949A-3F5A78888FE6}"/>
              </a:ext>
            </a:extLst>
          </p:cNvPr>
          <p:cNvCxnSpPr>
            <a:cxnSpLocks/>
            <a:stCxn id="6" idx="3"/>
            <a:endCxn id="7" idx="2"/>
          </p:cNvCxnSpPr>
          <p:nvPr/>
        </p:nvCxnSpPr>
        <p:spPr>
          <a:xfrm flipV="1">
            <a:off x="1526404" y="1667039"/>
            <a:ext cx="349410" cy="357241"/>
          </a:xfrm>
          <a:prstGeom prst="bentConnector3">
            <a:avLst>
              <a:gd name="adj1" fmla="val 50000"/>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47" name="Flowchart: Process 46">
            <a:extLst>
              <a:ext uri="{FF2B5EF4-FFF2-40B4-BE49-F238E27FC236}">
                <a16:creationId xmlns:a16="http://schemas.microsoft.com/office/drawing/2014/main" id="{7125CC2E-15BE-F73D-32D7-2B5E7459314E}"/>
              </a:ext>
            </a:extLst>
          </p:cNvPr>
          <p:cNvSpPr/>
          <p:nvPr/>
        </p:nvSpPr>
        <p:spPr>
          <a:xfrm>
            <a:off x="3253811" y="1444876"/>
            <a:ext cx="1161786"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Load Target to NumPy Array</a:t>
            </a:r>
          </a:p>
        </p:txBody>
      </p:sp>
      <p:sp>
        <p:nvSpPr>
          <p:cNvPr id="49" name="Flowchart: Data 48">
            <a:extLst>
              <a:ext uri="{FF2B5EF4-FFF2-40B4-BE49-F238E27FC236}">
                <a16:creationId xmlns:a16="http://schemas.microsoft.com/office/drawing/2014/main" id="{27444569-E0D6-67F5-4DF9-11B12C4B89E0}"/>
              </a:ext>
            </a:extLst>
          </p:cNvPr>
          <p:cNvSpPr/>
          <p:nvPr/>
        </p:nvSpPr>
        <p:spPr>
          <a:xfrm>
            <a:off x="4977556" y="1444876"/>
            <a:ext cx="1789468" cy="444326"/>
          </a:xfrm>
          <a:prstGeom prst="flowChartInputOutpu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NumPy Array:</a:t>
            </a:r>
          </a:p>
          <a:p>
            <a:pPr algn="ctr"/>
            <a:r>
              <a:rPr lang="en-US" sz="1200" dirty="0">
                <a:solidFill>
                  <a:schemeClr val="tx1"/>
                </a:solidFill>
              </a:rPr>
              <a:t>Y</a:t>
            </a:r>
          </a:p>
        </p:txBody>
      </p:sp>
      <p:cxnSp>
        <p:nvCxnSpPr>
          <p:cNvPr id="58" name="Straight Arrow Connector 57">
            <a:extLst>
              <a:ext uri="{FF2B5EF4-FFF2-40B4-BE49-F238E27FC236}">
                <a16:creationId xmlns:a16="http://schemas.microsoft.com/office/drawing/2014/main" id="{DB0A1465-EBB5-FB9A-9E61-EBB2A040192A}"/>
              </a:ext>
            </a:extLst>
          </p:cNvPr>
          <p:cNvCxnSpPr>
            <a:cxnSpLocks/>
            <a:stCxn id="47" idx="3"/>
            <a:endCxn id="49" idx="2"/>
          </p:cNvCxnSpPr>
          <p:nvPr/>
        </p:nvCxnSpPr>
        <p:spPr>
          <a:xfrm>
            <a:off x="4415597" y="1667039"/>
            <a:ext cx="740906" cy="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62" name="Flowchart: Process 61">
            <a:extLst>
              <a:ext uri="{FF2B5EF4-FFF2-40B4-BE49-F238E27FC236}">
                <a16:creationId xmlns:a16="http://schemas.microsoft.com/office/drawing/2014/main" id="{6B61D1C4-D5B5-5652-9613-A16B213788D0}"/>
              </a:ext>
            </a:extLst>
          </p:cNvPr>
          <p:cNvSpPr/>
          <p:nvPr/>
        </p:nvSpPr>
        <p:spPr>
          <a:xfrm>
            <a:off x="2987837" y="2159358"/>
            <a:ext cx="1693735"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Features Preprocessing:</a:t>
            </a:r>
          </a:p>
          <a:p>
            <a:pPr algn="ctr"/>
            <a:r>
              <a:rPr lang="en-US" sz="1200" dirty="0"/>
              <a:t>StandardScaler</a:t>
            </a:r>
          </a:p>
        </p:txBody>
      </p:sp>
      <p:sp>
        <p:nvSpPr>
          <p:cNvPr id="67" name="Flowchart: Data 66">
            <a:extLst>
              <a:ext uri="{FF2B5EF4-FFF2-40B4-BE49-F238E27FC236}">
                <a16:creationId xmlns:a16="http://schemas.microsoft.com/office/drawing/2014/main" id="{54FEA029-6DCA-4DB5-1895-0B2CAE494CAC}"/>
              </a:ext>
            </a:extLst>
          </p:cNvPr>
          <p:cNvSpPr/>
          <p:nvPr/>
        </p:nvSpPr>
        <p:spPr>
          <a:xfrm>
            <a:off x="4977556" y="2159358"/>
            <a:ext cx="1789468" cy="444326"/>
          </a:xfrm>
          <a:prstGeom prst="flowChartInputOutpu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NumPy Array:</a:t>
            </a:r>
          </a:p>
          <a:p>
            <a:pPr algn="ctr"/>
            <a:r>
              <a:rPr lang="en-US" sz="1200" dirty="0">
                <a:solidFill>
                  <a:schemeClr val="tx1"/>
                </a:solidFill>
              </a:rPr>
              <a:t>X</a:t>
            </a:r>
          </a:p>
        </p:txBody>
      </p:sp>
      <p:cxnSp>
        <p:nvCxnSpPr>
          <p:cNvPr id="69" name="Straight Arrow Connector 68">
            <a:extLst>
              <a:ext uri="{FF2B5EF4-FFF2-40B4-BE49-F238E27FC236}">
                <a16:creationId xmlns:a16="http://schemas.microsoft.com/office/drawing/2014/main" id="{072FC29F-F59B-7E11-5033-72683D0DD42F}"/>
              </a:ext>
            </a:extLst>
          </p:cNvPr>
          <p:cNvCxnSpPr>
            <a:cxnSpLocks/>
            <a:stCxn id="62" idx="3"/>
            <a:endCxn id="67" idx="2"/>
          </p:cNvCxnSpPr>
          <p:nvPr/>
        </p:nvCxnSpPr>
        <p:spPr>
          <a:xfrm>
            <a:off x="4681572" y="2381521"/>
            <a:ext cx="474931" cy="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100" name="Flowchart: Process 99">
            <a:extLst>
              <a:ext uri="{FF2B5EF4-FFF2-40B4-BE49-F238E27FC236}">
                <a16:creationId xmlns:a16="http://schemas.microsoft.com/office/drawing/2014/main" id="{38C47058-B550-5839-8F48-75E95EA95D7A}"/>
              </a:ext>
            </a:extLst>
          </p:cNvPr>
          <p:cNvSpPr/>
          <p:nvPr/>
        </p:nvSpPr>
        <p:spPr>
          <a:xfrm>
            <a:off x="7485881" y="1802117"/>
            <a:ext cx="938172"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Train/Test Split</a:t>
            </a:r>
          </a:p>
        </p:txBody>
      </p:sp>
      <p:cxnSp>
        <p:nvCxnSpPr>
          <p:cNvPr id="103" name="Connector: Elbow 102">
            <a:extLst>
              <a:ext uri="{FF2B5EF4-FFF2-40B4-BE49-F238E27FC236}">
                <a16:creationId xmlns:a16="http://schemas.microsoft.com/office/drawing/2014/main" id="{48F18517-C760-D3F0-2981-3D6F791E52CD}"/>
              </a:ext>
            </a:extLst>
          </p:cNvPr>
          <p:cNvCxnSpPr>
            <a:cxnSpLocks/>
            <a:stCxn id="49" idx="5"/>
            <a:endCxn id="100" idx="0"/>
          </p:cNvCxnSpPr>
          <p:nvPr/>
        </p:nvCxnSpPr>
        <p:spPr>
          <a:xfrm>
            <a:off x="6588077" y="1667039"/>
            <a:ext cx="1366890" cy="135078"/>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275FC1A7-3FB8-7944-E527-EF3F8DD6F928}"/>
              </a:ext>
            </a:extLst>
          </p:cNvPr>
          <p:cNvCxnSpPr>
            <a:cxnSpLocks/>
            <a:stCxn id="67" idx="5"/>
            <a:endCxn id="100" idx="2"/>
          </p:cNvCxnSpPr>
          <p:nvPr/>
        </p:nvCxnSpPr>
        <p:spPr>
          <a:xfrm flipV="1">
            <a:off x="6588077" y="2246443"/>
            <a:ext cx="1366890" cy="135078"/>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165" name="Flowchart: Data 164">
            <a:extLst>
              <a:ext uri="{FF2B5EF4-FFF2-40B4-BE49-F238E27FC236}">
                <a16:creationId xmlns:a16="http://schemas.microsoft.com/office/drawing/2014/main" id="{DD810279-879D-E841-3137-EA1088791E2D}"/>
              </a:ext>
            </a:extLst>
          </p:cNvPr>
          <p:cNvSpPr/>
          <p:nvPr/>
        </p:nvSpPr>
        <p:spPr>
          <a:xfrm>
            <a:off x="9239660" y="2159358"/>
            <a:ext cx="1981945" cy="444326"/>
          </a:xfrm>
          <a:prstGeom prst="flowChartInputOutpu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Train Data:</a:t>
            </a:r>
          </a:p>
          <a:p>
            <a:pPr algn="ctr"/>
            <a:r>
              <a:rPr lang="en-US" sz="1200" dirty="0">
                <a:solidFill>
                  <a:schemeClr val="tx1"/>
                </a:solidFill>
              </a:rPr>
              <a:t>X_Train, Y_Train</a:t>
            </a:r>
          </a:p>
        </p:txBody>
      </p:sp>
      <p:sp>
        <p:nvSpPr>
          <p:cNvPr id="13" name="Flowchart: Data 12">
            <a:extLst>
              <a:ext uri="{FF2B5EF4-FFF2-40B4-BE49-F238E27FC236}">
                <a16:creationId xmlns:a16="http://schemas.microsoft.com/office/drawing/2014/main" id="{2A097FF1-BF8F-9CEE-D59C-299C9FEC8755}"/>
              </a:ext>
            </a:extLst>
          </p:cNvPr>
          <p:cNvSpPr/>
          <p:nvPr/>
        </p:nvSpPr>
        <p:spPr>
          <a:xfrm>
            <a:off x="9239660" y="1444876"/>
            <a:ext cx="1981945" cy="444326"/>
          </a:xfrm>
          <a:prstGeom prst="flowChartInputOutpu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Test Data:</a:t>
            </a:r>
          </a:p>
          <a:p>
            <a:pPr algn="ctr"/>
            <a:r>
              <a:rPr lang="en-US" sz="1200" dirty="0">
                <a:solidFill>
                  <a:schemeClr val="tx1"/>
                </a:solidFill>
              </a:rPr>
              <a:t>X_Test, Y_Test</a:t>
            </a:r>
          </a:p>
        </p:txBody>
      </p:sp>
      <p:cxnSp>
        <p:nvCxnSpPr>
          <p:cNvPr id="21" name="Straight Arrow Connector 20">
            <a:extLst>
              <a:ext uri="{FF2B5EF4-FFF2-40B4-BE49-F238E27FC236}">
                <a16:creationId xmlns:a16="http://schemas.microsoft.com/office/drawing/2014/main" id="{1435687A-E980-681B-9DFC-D49B6AB78C64}"/>
              </a:ext>
            </a:extLst>
          </p:cNvPr>
          <p:cNvCxnSpPr>
            <a:cxnSpLocks/>
            <a:stCxn id="7" idx="5"/>
            <a:endCxn id="47" idx="1"/>
          </p:cNvCxnSpPr>
          <p:nvPr/>
        </p:nvCxnSpPr>
        <p:spPr>
          <a:xfrm>
            <a:off x="2805243" y="1667039"/>
            <a:ext cx="448568" cy="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DF35DCBD-2490-B518-FA33-1F78631FE960}"/>
              </a:ext>
            </a:extLst>
          </p:cNvPr>
          <p:cNvCxnSpPr>
            <a:cxnSpLocks/>
            <a:stCxn id="7" idx="4"/>
            <a:endCxn id="62" idx="1"/>
          </p:cNvCxnSpPr>
          <p:nvPr/>
        </p:nvCxnSpPr>
        <p:spPr>
          <a:xfrm rot="16200000" flipH="1">
            <a:off x="2418024" y="1811707"/>
            <a:ext cx="492319" cy="647308"/>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2E582617-5E17-E6C2-8093-AFA344F0B870}"/>
              </a:ext>
            </a:extLst>
          </p:cNvPr>
          <p:cNvSpPr/>
          <p:nvPr/>
        </p:nvSpPr>
        <p:spPr>
          <a:xfrm>
            <a:off x="1836545" y="3055512"/>
            <a:ext cx="1007967"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Selection of Models</a:t>
            </a:r>
          </a:p>
        </p:txBody>
      </p:sp>
      <p:cxnSp>
        <p:nvCxnSpPr>
          <p:cNvPr id="35" name="Connector: Elbow 34">
            <a:extLst>
              <a:ext uri="{FF2B5EF4-FFF2-40B4-BE49-F238E27FC236}">
                <a16:creationId xmlns:a16="http://schemas.microsoft.com/office/drawing/2014/main" id="{CB5B5E41-AF2F-BAF3-913C-AD2CA505F28D}"/>
              </a:ext>
            </a:extLst>
          </p:cNvPr>
          <p:cNvCxnSpPr>
            <a:cxnSpLocks/>
            <a:stCxn id="6" idx="3"/>
            <a:endCxn id="34" idx="1"/>
          </p:cNvCxnSpPr>
          <p:nvPr/>
        </p:nvCxnSpPr>
        <p:spPr>
          <a:xfrm>
            <a:off x="1526404" y="2024280"/>
            <a:ext cx="310141" cy="1253395"/>
          </a:xfrm>
          <a:prstGeom prst="bentConnector3">
            <a:avLst>
              <a:gd name="adj1" fmla="val 56224"/>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43" name="Flowchart: Preparation 42">
            <a:extLst>
              <a:ext uri="{FF2B5EF4-FFF2-40B4-BE49-F238E27FC236}">
                <a16:creationId xmlns:a16="http://schemas.microsoft.com/office/drawing/2014/main" id="{86A58082-38EB-A05C-EE28-D4B6BA394835}"/>
              </a:ext>
            </a:extLst>
          </p:cNvPr>
          <p:cNvSpPr/>
          <p:nvPr/>
        </p:nvSpPr>
        <p:spPr>
          <a:xfrm>
            <a:off x="4850095" y="2990586"/>
            <a:ext cx="2044390" cy="574178"/>
          </a:xfrm>
          <a:prstGeom prst="flowChartPreparation">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Definition of Hyperparameter Space</a:t>
            </a:r>
          </a:p>
        </p:txBody>
      </p:sp>
      <p:cxnSp>
        <p:nvCxnSpPr>
          <p:cNvPr id="44" name="Straight Arrow Connector 43">
            <a:extLst>
              <a:ext uri="{FF2B5EF4-FFF2-40B4-BE49-F238E27FC236}">
                <a16:creationId xmlns:a16="http://schemas.microsoft.com/office/drawing/2014/main" id="{275D9795-FB5A-966D-C7DC-3FB696D20B92}"/>
              </a:ext>
            </a:extLst>
          </p:cNvPr>
          <p:cNvCxnSpPr>
            <a:cxnSpLocks/>
            <a:stCxn id="34" idx="3"/>
            <a:endCxn id="78" idx="1"/>
          </p:cNvCxnSpPr>
          <p:nvPr/>
        </p:nvCxnSpPr>
        <p:spPr>
          <a:xfrm>
            <a:off x="2844512" y="3277675"/>
            <a:ext cx="3347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Flowchart: Predefined Process 49">
            <a:extLst>
              <a:ext uri="{FF2B5EF4-FFF2-40B4-BE49-F238E27FC236}">
                <a16:creationId xmlns:a16="http://schemas.microsoft.com/office/drawing/2014/main" id="{CB9A1CFB-8504-4976-D8BF-9F598F7D7BDE}"/>
              </a:ext>
            </a:extLst>
          </p:cNvPr>
          <p:cNvSpPr/>
          <p:nvPr/>
        </p:nvSpPr>
        <p:spPr>
          <a:xfrm>
            <a:off x="7110926" y="2990586"/>
            <a:ext cx="1688083" cy="574178"/>
          </a:xfrm>
          <a:prstGeom prst="flowChartPredefinedProcess">
            <a:avLst/>
          </a:prstGeom>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GridSearchCV Fit</a:t>
            </a:r>
          </a:p>
          <a:p>
            <a:pPr algn="ctr"/>
            <a:r>
              <a:rPr lang="en-US" sz="1200" dirty="0"/>
              <a:t>(10-fold)</a:t>
            </a:r>
          </a:p>
        </p:txBody>
      </p:sp>
      <p:cxnSp>
        <p:nvCxnSpPr>
          <p:cNvPr id="56" name="Straight Arrow Connector 55">
            <a:extLst>
              <a:ext uri="{FF2B5EF4-FFF2-40B4-BE49-F238E27FC236}">
                <a16:creationId xmlns:a16="http://schemas.microsoft.com/office/drawing/2014/main" id="{F6807CBE-F548-5674-B041-D5397F86A96C}"/>
              </a:ext>
            </a:extLst>
          </p:cNvPr>
          <p:cNvCxnSpPr>
            <a:cxnSpLocks/>
            <a:stCxn id="43" idx="3"/>
            <a:endCxn id="50" idx="1"/>
          </p:cNvCxnSpPr>
          <p:nvPr/>
        </p:nvCxnSpPr>
        <p:spPr>
          <a:xfrm>
            <a:off x="6894485" y="3277675"/>
            <a:ext cx="216441" cy="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5" name="Connector: Elbow 4">
            <a:extLst>
              <a:ext uri="{FF2B5EF4-FFF2-40B4-BE49-F238E27FC236}">
                <a16:creationId xmlns:a16="http://schemas.microsoft.com/office/drawing/2014/main" id="{0BF9506D-EA0C-A048-12AB-BB6BE18B91C5}"/>
              </a:ext>
            </a:extLst>
          </p:cNvPr>
          <p:cNvCxnSpPr>
            <a:cxnSpLocks/>
            <a:stCxn id="100" idx="3"/>
            <a:endCxn id="13" idx="2"/>
          </p:cNvCxnSpPr>
          <p:nvPr/>
        </p:nvCxnSpPr>
        <p:spPr>
          <a:xfrm flipV="1">
            <a:off x="8424053" y="1667039"/>
            <a:ext cx="1013802" cy="357241"/>
          </a:xfrm>
          <a:prstGeom prst="bentConnector3">
            <a:avLst>
              <a:gd name="adj1" fmla="val 50000"/>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ECCF9F9C-4D10-02C2-36EA-C995735A371F}"/>
              </a:ext>
            </a:extLst>
          </p:cNvPr>
          <p:cNvCxnSpPr>
            <a:cxnSpLocks/>
            <a:stCxn id="100" idx="3"/>
            <a:endCxn id="165" idx="2"/>
          </p:cNvCxnSpPr>
          <p:nvPr/>
        </p:nvCxnSpPr>
        <p:spPr>
          <a:xfrm>
            <a:off x="8424053" y="2024280"/>
            <a:ext cx="1013802" cy="357241"/>
          </a:xfrm>
          <a:prstGeom prst="bentConnector3">
            <a:avLst>
              <a:gd name="adj1" fmla="val 50000"/>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295C6C3B-DDCD-5B06-B0E9-F65A1CFB54D0}"/>
              </a:ext>
            </a:extLst>
          </p:cNvPr>
          <p:cNvCxnSpPr>
            <a:cxnSpLocks/>
            <a:stCxn id="165" idx="4"/>
            <a:endCxn id="50" idx="0"/>
          </p:cNvCxnSpPr>
          <p:nvPr/>
        </p:nvCxnSpPr>
        <p:spPr>
          <a:xfrm rot="5400000">
            <a:off x="8899350" y="1659303"/>
            <a:ext cx="386902" cy="2275665"/>
          </a:xfrm>
          <a:prstGeom prst="bentConnector3">
            <a:avLst>
              <a:gd name="adj1" fmla="val 50000"/>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23" name="Flowchart: Data 22">
            <a:extLst>
              <a:ext uri="{FF2B5EF4-FFF2-40B4-BE49-F238E27FC236}">
                <a16:creationId xmlns:a16="http://schemas.microsoft.com/office/drawing/2014/main" id="{B132827C-0510-5268-E9F3-7B3B398F2B88}"/>
              </a:ext>
            </a:extLst>
          </p:cNvPr>
          <p:cNvSpPr/>
          <p:nvPr/>
        </p:nvSpPr>
        <p:spPr>
          <a:xfrm>
            <a:off x="9288890" y="3055512"/>
            <a:ext cx="1883484" cy="444326"/>
          </a:xfrm>
          <a:prstGeom prst="flowChartInputOutpu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Tuned Model</a:t>
            </a:r>
          </a:p>
          <a:p>
            <a:pPr algn="ctr"/>
            <a:r>
              <a:rPr lang="en-US" sz="1200" dirty="0">
                <a:solidFill>
                  <a:schemeClr val="tx1"/>
                </a:solidFill>
              </a:rPr>
              <a:t>(.best_params)</a:t>
            </a:r>
          </a:p>
        </p:txBody>
      </p:sp>
      <p:cxnSp>
        <p:nvCxnSpPr>
          <p:cNvPr id="29" name="Straight Arrow Connector 28">
            <a:extLst>
              <a:ext uri="{FF2B5EF4-FFF2-40B4-BE49-F238E27FC236}">
                <a16:creationId xmlns:a16="http://schemas.microsoft.com/office/drawing/2014/main" id="{7A865B5F-8B2B-A754-6D52-5BCB1FD8F558}"/>
              </a:ext>
            </a:extLst>
          </p:cNvPr>
          <p:cNvCxnSpPr>
            <a:cxnSpLocks/>
            <a:stCxn id="50" idx="3"/>
            <a:endCxn id="23" idx="2"/>
          </p:cNvCxnSpPr>
          <p:nvPr/>
        </p:nvCxnSpPr>
        <p:spPr>
          <a:xfrm>
            <a:off x="8799009" y="3277675"/>
            <a:ext cx="678229" cy="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39" name="Flowchart: Process 38">
            <a:extLst>
              <a:ext uri="{FF2B5EF4-FFF2-40B4-BE49-F238E27FC236}">
                <a16:creationId xmlns:a16="http://schemas.microsoft.com/office/drawing/2014/main" id="{1DAC08A1-B9ED-BA12-69A6-DB58EE75D129}"/>
              </a:ext>
            </a:extLst>
          </p:cNvPr>
          <p:cNvSpPr/>
          <p:nvPr/>
        </p:nvSpPr>
        <p:spPr>
          <a:xfrm>
            <a:off x="9597019" y="4189689"/>
            <a:ext cx="1267226"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Model Evaluation (Test Data)</a:t>
            </a:r>
          </a:p>
        </p:txBody>
      </p:sp>
      <p:sp>
        <p:nvSpPr>
          <p:cNvPr id="57" name="Flowchart: Data 56">
            <a:extLst>
              <a:ext uri="{FF2B5EF4-FFF2-40B4-BE49-F238E27FC236}">
                <a16:creationId xmlns:a16="http://schemas.microsoft.com/office/drawing/2014/main" id="{CA8D2A71-D9F1-8942-A7CD-425C2D94D9F9}"/>
              </a:ext>
            </a:extLst>
          </p:cNvPr>
          <p:cNvSpPr/>
          <p:nvPr/>
        </p:nvSpPr>
        <p:spPr>
          <a:xfrm>
            <a:off x="6284272" y="4124763"/>
            <a:ext cx="2853851" cy="574178"/>
          </a:xfrm>
          <a:prstGeom prst="flowChartInputOutpu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Train Score</a:t>
            </a:r>
          </a:p>
          <a:p>
            <a:pPr algn="ctr"/>
            <a:r>
              <a:rPr lang="en-US" sz="1200" dirty="0">
                <a:solidFill>
                  <a:schemeClr val="tx1"/>
                </a:solidFill>
              </a:rPr>
              <a:t>Test Score</a:t>
            </a:r>
          </a:p>
          <a:p>
            <a:pPr algn="ctr"/>
            <a:r>
              <a:rPr lang="en-US" sz="1200" dirty="0">
                <a:solidFill>
                  <a:schemeClr val="tx1"/>
                </a:solidFill>
              </a:rPr>
              <a:t>Confusion Matrix Heatmap</a:t>
            </a:r>
          </a:p>
        </p:txBody>
      </p:sp>
      <p:sp>
        <p:nvSpPr>
          <p:cNvPr id="78" name="Flowchart: Process 77">
            <a:extLst>
              <a:ext uri="{FF2B5EF4-FFF2-40B4-BE49-F238E27FC236}">
                <a16:creationId xmlns:a16="http://schemas.microsoft.com/office/drawing/2014/main" id="{B1DCCE54-F1A1-1AD3-1086-8009ACFA8077}"/>
              </a:ext>
            </a:extLst>
          </p:cNvPr>
          <p:cNvSpPr/>
          <p:nvPr/>
        </p:nvSpPr>
        <p:spPr>
          <a:xfrm>
            <a:off x="3179300" y="3055512"/>
            <a:ext cx="1310808" cy="44432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Definition of Model/Estimator</a:t>
            </a:r>
          </a:p>
        </p:txBody>
      </p:sp>
      <p:cxnSp>
        <p:nvCxnSpPr>
          <p:cNvPr id="81" name="Straight Arrow Connector 80">
            <a:extLst>
              <a:ext uri="{FF2B5EF4-FFF2-40B4-BE49-F238E27FC236}">
                <a16:creationId xmlns:a16="http://schemas.microsoft.com/office/drawing/2014/main" id="{3ECDC5F3-70F3-F016-329C-7950134DD71B}"/>
              </a:ext>
            </a:extLst>
          </p:cNvPr>
          <p:cNvCxnSpPr>
            <a:cxnSpLocks/>
            <a:stCxn id="78" idx="3"/>
            <a:endCxn id="43" idx="1"/>
          </p:cNvCxnSpPr>
          <p:nvPr/>
        </p:nvCxnSpPr>
        <p:spPr>
          <a:xfrm>
            <a:off x="4490108" y="3277675"/>
            <a:ext cx="359987" cy="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99" name="Connector: Elbow 98">
            <a:extLst>
              <a:ext uri="{FF2B5EF4-FFF2-40B4-BE49-F238E27FC236}">
                <a16:creationId xmlns:a16="http://schemas.microsoft.com/office/drawing/2014/main" id="{AD32713A-1C98-DE88-6FDD-29D074650A22}"/>
              </a:ext>
            </a:extLst>
          </p:cNvPr>
          <p:cNvCxnSpPr>
            <a:cxnSpLocks/>
            <a:stCxn id="13" idx="5"/>
            <a:endCxn id="39" idx="3"/>
          </p:cNvCxnSpPr>
          <p:nvPr/>
        </p:nvCxnSpPr>
        <p:spPr>
          <a:xfrm flipH="1">
            <a:off x="10864245" y="1667039"/>
            <a:ext cx="159166" cy="2744813"/>
          </a:xfrm>
          <a:prstGeom prst="bentConnector3">
            <a:avLst>
              <a:gd name="adj1" fmla="val -165388"/>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CEA35A5B-73CB-127C-48D1-60FD9629986C}"/>
              </a:ext>
            </a:extLst>
          </p:cNvPr>
          <p:cNvCxnSpPr>
            <a:cxnSpLocks/>
            <a:stCxn id="39" idx="1"/>
            <a:endCxn id="57" idx="5"/>
          </p:cNvCxnSpPr>
          <p:nvPr/>
        </p:nvCxnSpPr>
        <p:spPr>
          <a:xfrm flipH="1">
            <a:off x="8852738" y="4411852"/>
            <a:ext cx="744281" cy="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62C5B2B7-B926-2846-6F51-212BB1048DC5}"/>
              </a:ext>
            </a:extLst>
          </p:cNvPr>
          <p:cNvCxnSpPr>
            <a:cxnSpLocks/>
            <a:stCxn id="57" idx="2"/>
            <a:endCxn id="9" idx="3"/>
          </p:cNvCxnSpPr>
          <p:nvPr/>
        </p:nvCxnSpPr>
        <p:spPr>
          <a:xfrm flipH="1">
            <a:off x="6136935" y="4411852"/>
            <a:ext cx="432722" cy="1"/>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47A090D7-799A-ACCB-0FE4-DB8DF0BE7D91}"/>
              </a:ext>
            </a:extLst>
          </p:cNvPr>
          <p:cNvCxnSpPr>
            <a:cxnSpLocks/>
            <a:stCxn id="10" idx="1"/>
            <a:endCxn id="78" idx="2"/>
          </p:cNvCxnSpPr>
          <p:nvPr/>
        </p:nvCxnSpPr>
        <p:spPr>
          <a:xfrm rot="10800000">
            <a:off x="3834705" y="3499838"/>
            <a:ext cx="342485" cy="240616"/>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173" name="Flowchart: Process 172">
            <a:extLst>
              <a:ext uri="{FF2B5EF4-FFF2-40B4-BE49-F238E27FC236}">
                <a16:creationId xmlns:a16="http://schemas.microsoft.com/office/drawing/2014/main" id="{B7FE9EF7-74D8-77F1-2D6C-9A32EAF3A6F1}"/>
              </a:ext>
            </a:extLst>
          </p:cNvPr>
          <p:cNvSpPr/>
          <p:nvPr/>
        </p:nvSpPr>
        <p:spPr>
          <a:xfrm>
            <a:off x="1733998" y="4189689"/>
            <a:ext cx="1213061" cy="444326"/>
          </a:xfrm>
          <a:prstGeom prst="flowChartProcess">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Final Model Ranking</a:t>
            </a:r>
          </a:p>
        </p:txBody>
      </p:sp>
      <p:cxnSp>
        <p:nvCxnSpPr>
          <p:cNvPr id="174" name="Straight Arrow Connector 173">
            <a:extLst>
              <a:ext uri="{FF2B5EF4-FFF2-40B4-BE49-F238E27FC236}">
                <a16:creationId xmlns:a16="http://schemas.microsoft.com/office/drawing/2014/main" id="{75C89E15-7698-32CF-F80D-276A9C56E363}"/>
              </a:ext>
            </a:extLst>
          </p:cNvPr>
          <p:cNvCxnSpPr>
            <a:cxnSpLocks/>
            <a:stCxn id="9" idx="1"/>
            <a:endCxn id="12" idx="3"/>
          </p:cNvCxnSpPr>
          <p:nvPr/>
        </p:nvCxnSpPr>
        <p:spPr>
          <a:xfrm flipH="1" flipV="1">
            <a:off x="3529429" y="4409047"/>
            <a:ext cx="129083" cy="2806"/>
          </a:xfrm>
          <a:prstGeom prst="straightConnector1">
            <a:avLst/>
          </a:prstGeom>
          <a:ln w="9525">
            <a:tailEnd type="none"/>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F4ABDF1E-31BD-B07B-575C-682A0134D9DE}"/>
              </a:ext>
            </a:extLst>
          </p:cNvPr>
          <p:cNvCxnSpPr>
            <a:cxnSpLocks/>
            <a:stCxn id="12" idx="1"/>
            <a:endCxn id="173" idx="3"/>
          </p:cNvCxnSpPr>
          <p:nvPr/>
        </p:nvCxnSpPr>
        <p:spPr>
          <a:xfrm flipH="1">
            <a:off x="2947059" y="4409047"/>
            <a:ext cx="192056" cy="2805"/>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187" name="Flowchart: Data 186">
            <a:extLst>
              <a:ext uri="{FF2B5EF4-FFF2-40B4-BE49-F238E27FC236}">
                <a16:creationId xmlns:a16="http://schemas.microsoft.com/office/drawing/2014/main" id="{233D007D-459C-ECEB-8FDA-9AAE287950D9}"/>
              </a:ext>
            </a:extLst>
          </p:cNvPr>
          <p:cNvSpPr/>
          <p:nvPr/>
        </p:nvSpPr>
        <p:spPr>
          <a:xfrm>
            <a:off x="2428584" y="5034538"/>
            <a:ext cx="2292768" cy="444326"/>
          </a:xfrm>
          <a:prstGeom prst="flowChartInputOutpu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Best Model:</a:t>
            </a:r>
            <a:br>
              <a:rPr lang="en-US" sz="1200" dirty="0">
                <a:solidFill>
                  <a:schemeClr val="tx1"/>
                </a:solidFill>
              </a:rPr>
            </a:br>
            <a:r>
              <a:rPr lang="en-US" sz="1200" dirty="0">
                <a:solidFill>
                  <a:schemeClr val="tx1"/>
                </a:solidFill>
              </a:rPr>
              <a:t>Logistic Regression</a:t>
            </a:r>
          </a:p>
        </p:txBody>
      </p:sp>
      <p:sp>
        <p:nvSpPr>
          <p:cNvPr id="191" name="Flowchart: Terminator 190">
            <a:extLst>
              <a:ext uri="{FF2B5EF4-FFF2-40B4-BE49-F238E27FC236}">
                <a16:creationId xmlns:a16="http://schemas.microsoft.com/office/drawing/2014/main" id="{D85D1AEB-9E57-9F98-17DB-2BBE68B77ED0}"/>
              </a:ext>
            </a:extLst>
          </p:cNvPr>
          <p:cNvSpPr/>
          <p:nvPr/>
        </p:nvSpPr>
        <p:spPr>
          <a:xfrm>
            <a:off x="825439" y="5554802"/>
            <a:ext cx="700965" cy="444326"/>
          </a:xfrm>
          <a:prstGeom prst="flowChartTerminator">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End</a:t>
            </a:r>
          </a:p>
        </p:txBody>
      </p:sp>
      <p:cxnSp>
        <p:nvCxnSpPr>
          <p:cNvPr id="210" name="Connector: Elbow 209">
            <a:extLst>
              <a:ext uri="{FF2B5EF4-FFF2-40B4-BE49-F238E27FC236}">
                <a16:creationId xmlns:a16="http://schemas.microsoft.com/office/drawing/2014/main" id="{8F143F9E-9227-5204-6BA0-C78AAD700B46}"/>
              </a:ext>
            </a:extLst>
          </p:cNvPr>
          <p:cNvCxnSpPr>
            <a:cxnSpLocks/>
            <a:stCxn id="187" idx="4"/>
            <a:endCxn id="191" idx="3"/>
          </p:cNvCxnSpPr>
          <p:nvPr/>
        </p:nvCxnSpPr>
        <p:spPr>
          <a:xfrm rot="5400000">
            <a:off x="2401636" y="4603632"/>
            <a:ext cx="298101" cy="2048564"/>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a:extLst>
              <a:ext uri="{FF2B5EF4-FFF2-40B4-BE49-F238E27FC236}">
                <a16:creationId xmlns:a16="http://schemas.microsoft.com/office/drawing/2014/main" id="{B28566A9-D515-544C-CCFB-877D24DDD8FD}"/>
              </a:ext>
            </a:extLst>
          </p:cNvPr>
          <p:cNvCxnSpPr>
            <a:cxnSpLocks/>
            <a:stCxn id="23" idx="4"/>
            <a:endCxn id="39" idx="0"/>
          </p:cNvCxnSpPr>
          <p:nvPr/>
        </p:nvCxnSpPr>
        <p:spPr>
          <a:xfrm>
            <a:off x="10230632" y="3499838"/>
            <a:ext cx="0" cy="689851"/>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237" name="Connector: Elbow 236">
            <a:extLst>
              <a:ext uri="{FF2B5EF4-FFF2-40B4-BE49-F238E27FC236}">
                <a16:creationId xmlns:a16="http://schemas.microsoft.com/office/drawing/2014/main" id="{1A155870-28F1-A6AC-1A73-3B9195297120}"/>
              </a:ext>
            </a:extLst>
          </p:cNvPr>
          <p:cNvCxnSpPr>
            <a:cxnSpLocks/>
            <a:stCxn id="173" idx="2"/>
            <a:endCxn id="187" idx="2"/>
          </p:cNvCxnSpPr>
          <p:nvPr/>
        </p:nvCxnSpPr>
        <p:spPr>
          <a:xfrm rot="16200000" flipH="1">
            <a:off x="2187852" y="4786692"/>
            <a:ext cx="622686" cy="317332"/>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F751E4D3-FC13-0B1D-4B2E-0726B09F28E1}"/>
              </a:ext>
            </a:extLst>
          </p:cNvPr>
          <p:cNvSpPr txBox="1"/>
          <p:nvPr/>
        </p:nvSpPr>
        <p:spPr>
          <a:xfrm>
            <a:off x="7931184" y="5606196"/>
            <a:ext cx="3526788" cy="369332"/>
          </a:xfrm>
          <a:prstGeom prst="rect">
            <a:avLst/>
          </a:prstGeom>
          <a:noFill/>
        </p:spPr>
        <p:txBody>
          <a:bodyPr wrap="square" rtlCol="0">
            <a:spAutoFit/>
          </a:bodyPr>
          <a:lstStyle/>
          <a:p>
            <a:r>
              <a:rPr lang="en-US" dirty="0">
                <a:solidFill>
                  <a:schemeClr val="accent3">
                    <a:lumMod val="25000"/>
                  </a:schemeClr>
                </a:solidFill>
                <a:latin typeface="Abadi"/>
                <a:hlinkClick r:id="rId3"/>
              </a:rPr>
              <a:t>GitHub Link to Predictive Analysis</a:t>
            </a:r>
            <a:endParaRPr lang="en-US" dirty="0"/>
          </a:p>
        </p:txBody>
      </p:sp>
    </p:spTree>
    <p:extLst>
      <p:ext uri="{BB962C8B-B14F-4D97-AF65-F5344CB8AC3E}">
        <p14:creationId xmlns:p14="http://schemas.microsoft.com/office/powerpoint/2010/main" val="198636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7B9C153-C85C-3240-8E7E-523FBC004564}"/>
              </a:ext>
            </a:extLst>
          </p:cNvPr>
          <p:cNvSpPr txBox="1">
            <a:spLocks/>
          </p:cNvSpPr>
          <p:nvPr/>
        </p:nvSpPr>
        <p:spPr>
          <a:xfrm>
            <a:off x="841125" y="1807337"/>
            <a:ext cx="7068725" cy="16216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a:solidFill>
                  <a:schemeClr val="accent3">
                    <a:lumMod val="25000"/>
                  </a:schemeClr>
                </a:solidFill>
                <a:latin typeface="Abadi" panose="020B0604020104020204" pitchFamily="34" charset="0"/>
              </a:rPr>
              <a:t>Exploratory data analysis results</a:t>
            </a:r>
          </a:p>
          <a:p>
            <a:pPr>
              <a:lnSpc>
                <a:spcPct val="100000"/>
              </a:lnSpc>
              <a:spcBef>
                <a:spcPts val="1400"/>
              </a:spcBef>
            </a:pPr>
            <a:r>
              <a:rPr lang="en-US" sz="2200">
                <a:solidFill>
                  <a:schemeClr val="accent3">
                    <a:lumMod val="25000"/>
                  </a:schemeClr>
                </a:solidFill>
                <a:latin typeface="Abadi" panose="020B0604020104020204" pitchFamily="34" charset="0"/>
              </a:rPr>
              <a:t>Interactive analytics demo in screenshots</a:t>
            </a:r>
          </a:p>
          <a:p>
            <a:pPr>
              <a:lnSpc>
                <a:spcPct val="100000"/>
              </a:lnSpc>
              <a:spcBef>
                <a:spcPts val="1400"/>
              </a:spcBef>
            </a:pPr>
            <a:r>
              <a:rPr lang="en-US" sz="2200">
                <a:solidFill>
                  <a:schemeClr val="accent3">
                    <a:lumMod val="25000"/>
                  </a:schemeClr>
                </a:solidFill>
                <a:latin typeface="Abadi" panose="020B0604020104020204" pitchFamily="34" charset="0"/>
              </a:rPr>
              <a:t>Predictive analysis results</a:t>
            </a:r>
          </a:p>
          <a:p>
            <a:pPr lvl="1"/>
            <a:endParaRPr lang="en-US" sz="1800"/>
          </a:p>
          <a:p>
            <a:pPr marL="457200" lvl="1" indent="0">
              <a:buNone/>
            </a:pPr>
            <a:endParaRPr lang="en-US" sz="1800"/>
          </a:p>
        </p:txBody>
      </p:sp>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12"/>
          </p:nvPr>
        </p:nvSpPr>
        <p:spPr/>
        <p:txBody>
          <a:bodyPr/>
          <a:lstStyle/>
          <a:p>
            <a:fld id="{5075537C-CA84-1446-933C-8E9D027F9201}" type="slidenum">
              <a:rPr lang="en-US" smtClean="0"/>
              <a:t>21</a:t>
            </a:fld>
            <a:endParaRPr lang="en-US"/>
          </a:p>
        </p:txBody>
      </p:sp>
      <p:sp>
        <p:nvSpPr>
          <p:cNvPr id="7" name="Title 1">
            <a:extLst>
              <a:ext uri="{FF2B5EF4-FFF2-40B4-BE49-F238E27FC236}">
                <a16:creationId xmlns:a16="http://schemas.microsoft.com/office/drawing/2014/main" id="{330F9542-6794-4F57-BB45-868D94AD06B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spTree>
    <p:extLst>
      <p:ext uri="{BB962C8B-B14F-4D97-AF65-F5344CB8AC3E}">
        <p14:creationId xmlns:p14="http://schemas.microsoft.com/office/powerpoint/2010/main" val="321008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18B93D-8F11-6347-95EE-BF68474E5B1F}"/>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2</a:t>
            </a:r>
          </a:p>
        </p:txBody>
      </p:sp>
    </p:spTree>
    <p:extLst>
      <p:ext uri="{BB962C8B-B14F-4D97-AF65-F5344CB8AC3E}">
        <p14:creationId xmlns:p14="http://schemas.microsoft.com/office/powerpoint/2010/main" val="178270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23</a:t>
            </a:fld>
            <a:endParaRPr lang="en-US"/>
          </a:p>
        </p:txBody>
      </p:sp>
      <p:sp>
        <p:nvSpPr>
          <p:cNvPr id="4" name="Title 1">
            <a:extLst>
              <a:ext uri="{FF2B5EF4-FFF2-40B4-BE49-F238E27FC236}">
                <a16:creationId xmlns:a16="http://schemas.microsoft.com/office/drawing/2014/main" id="{54F4FCC5-6E7E-4FF0-BE45-680EEC392C9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Launch Site</a:t>
            </a:r>
            <a:endParaRPr lang="en-US" dirty="0">
              <a:solidFill>
                <a:srgbClr val="0B49CB"/>
              </a:solidFill>
            </a:endParaRPr>
          </a:p>
        </p:txBody>
      </p:sp>
      <p:pic>
        <p:nvPicPr>
          <p:cNvPr id="8" name="Picture 7" descr="A diagram of flight number&#10;&#10;AI-generated content may be incorrect.">
            <a:extLst>
              <a:ext uri="{FF2B5EF4-FFF2-40B4-BE49-F238E27FC236}">
                <a16:creationId xmlns:a16="http://schemas.microsoft.com/office/drawing/2014/main" id="{1350C585-37AE-25FD-59F6-3E696F0F43D3}"/>
              </a:ext>
            </a:extLst>
          </p:cNvPr>
          <p:cNvPicPr>
            <a:picLocks noChangeAspect="1"/>
          </p:cNvPicPr>
          <p:nvPr/>
        </p:nvPicPr>
        <p:blipFill>
          <a:blip r:embed="rId3"/>
          <a:stretch>
            <a:fillRect/>
          </a:stretch>
        </p:blipFill>
        <p:spPr>
          <a:xfrm>
            <a:off x="886571" y="1636247"/>
            <a:ext cx="10399040" cy="3342311"/>
          </a:xfrm>
          <a:prstGeom prst="rect">
            <a:avLst/>
          </a:prstGeom>
        </p:spPr>
      </p:pic>
    </p:spTree>
    <p:extLst>
      <p:ext uri="{BB962C8B-B14F-4D97-AF65-F5344CB8AC3E}">
        <p14:creationId xmlns:p14="http://schemas.microsoft.com/office/powerpoint/2010/main" val="38656059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24</a:t>
            </a:fld>
            <a:endParaRPr lang="en-US"/>
          </a:p>
        </p:txBody>
      </p:sp>
      <p:sp>
        <p:nvSpPr>
          <p:cNvPr id="4" name="Title 1">
            <a:extLst>
              <a:ext uri="{FF2B5EF4-FFF2-40B4-BE49-F238E27FC236}">
                <a16:creationId xmlns:a16="http://schemas.microsoft.com/office/drawing/2014/main" id="{54F4FCC5-6E7E-4FF0-BE45-680EEC392C9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Launch Site</a:t>
            </a:r>
            <a:endParaRPr lang="en-US" dirty="0">
              <a:solidFill>
                <a:srgbClr val="0B49CB"/>
              </a:solidFill>
            </a:endParaRPr>
          </a:p>
        </p:txBody>
      </p:sp>
      <p:pic>
        <p:nvPicPr>
          <p:cNvPr id="2" name="Picture 1" descr="A diagram of flight number&#10;&#10;AI-generated content may be incorrect.">
            <a:extLst>
              <a:ext uri="{FF2B5EF4-FFF2-40B4-BE49-F238E27FC236}">
                <a16:creationId xmlns:a16="http://schemas.microsoft.com/office/drawing/2014/main" id="{E559E674-43C5-39BB-BBA3-C10F5B98F64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81521" y="1348800"/>
            <a:ext cx="7240859" cy="2327253"/>
          </a:xfrm>
          <a:prstGeom prst="rect">
            <a:avLst/>
          </a:prstGeom>
        </p:spPr>
      </p:pic>
      <p:sp>
        <p:nvSpPr>
          <p:cNvPr id="6" name="Content Placeholder 2">
            <a:extLst>
              <a:ext uri="{FF2B5EF4-FFF2-40B4-BE49-F238E27FC236}">
                <a16:creationId xmlns:a16="http://schemas.microsoft.com/office/drawing/2014/main" id="{D4CF3036-09D9-5529-DE1B-6C1EFA2A0B1B}"/>
              </a:ext>
            </a:extLst>
          </p:cNvPr>
          <p:cNvSpPr txBox="1">
            <a:spLocks/>
          </p:cNvSpPr>
          <p:nvPr/>
        </p:nvSpPr>
        <p:spPr>
          <a:xfrm>
            <a:off x="881521" y="3800403"/>
            <a:ext cx="8329385" cy="2327253"/>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Arial" panose="020B0604020202020204" pitchFamily="34" charset="0"/>
              <a:buChar char="•"/>
            </a:pPr>
            <a:r>
              <a:rPr lang="en-US" b="0" i="0" dirty="0">
                <a:effectLst/>
                <a:latin typeface="system-ui"/>
              </a:rPr>
              <a:t>First set of flights (25) had a low rate of successful returns of stage 1. Most of them were launched from CCAFS SLC 40.</a:t>
            </a:r>
          </a:p>
          <a:p>
            <a:pPr algn="l">
              <a:buFont typeface="Arial" panose="020B0604020202020204" pitchFamily="34" charset="0"/>
              <a:buChar char="•"/>
            </a:pPr>
            <a:r>
              <a:rPr lang="en-US" dirty="0">
                <a:latin typeface="system-ui"/>
              </a:rPr>
              <a:t>For </a:t>
            </a:r>
            <a:r>
              <a:rPr lang="en-US" b="0" i="0" dirty="0">
                <a:effectLst/>
                <a:latin typeface="system-ui"/>
              </a:rPr>
              <a:t>later launches (starting from #26), overall portion of successful returns increased.</a:t>
            </a:r>
          </a:p>
          <a:p>
            <a:pPr marL="742950" lvl="1" indent="-285750" algn="l">
              <a:buFont typeface="Arial" panose="020B0604020202020204" pitchFamily="34" charset="0"/>
              <a:buChar char="•"/>
            </a:pPr>
            <a:r>
              <a:rPr lang="en-US" b="0" i="0" dirty="0">
                <a:effectLst/>
                <a:latin typeface="system-ui"/>
              </a:rPr>
              <a:t>VAFB SLC 4E has the highest rate of successful returns in later flights</a:t>
            </a:r>
          </a:p>
          <a:p>
            <a:pPr marL="742950" lvl="1" indent="-285750" algn="l">
              <a:buFont typeface="Arial" panose="020B0604020202020204" pitchFamily="34" charset="0"/>
              <a:buChar char="•"/>
            </a:pPr>
            <a:r>
              <a:rPr lang="en-US" b="0" i="0" dirty="0">
                <a:effectLst/>
                <a:latin typeface="system-ui"/>
              </a:rPr>
              <a:t>CCAFS SLC 40 and KSLC 39A shows similar successful returns ratio in later flights</a:t>
            </a:r>
          </a:p>
          <a:p>
            <a:pPr marL="742950" lvl="1" indent="-285750" algn="l">
              <a:buFont typeface="Arial" panose="020B0604020202020204" pitchFamily="34" charset="0"/>
              <a:buChar char="•"/>
            </a:pPr>
            <a:r>
              <a:rPr lang="en-US" b="0" i="0" dirty="0">
                <a:effectLst/>
                <a:latin typeface="system-ui"/>
              </a:rPr>
              <a:t>CCAFS SLC 40 successful returns ratio improved during the last 20 flights</a:t>
            </a:r>
          </a:p>
        </p:txBody>
      </p:sp>
    </p:spTree>
    <p:extLst>
      <p:ext uri="{BB962C8B-B14F-4D97-AF65-F5344CB8AC3E}">
        <p14:creationId xmlns:p14="http://schemas.microsoft.com/office/powerpoint/2010/main" val="27778456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25</a:t>
            </a:fld>
            <a:endParaRPr lang="en-US"/>
          </a:p>
        </p:txBody>
      </p:sp>
      <p:sp>
        <p:nvSpPr>
          <p:cNvPr id="4" name="Title 1">
            <a:extLst>
              <a:ext uri="{FF2B5EF4-FFF2-40B4-BE49-F238E27FC236}">
                <a16:creationId xmlns:a16="http://schemas.microsoft.com/office/drawing/2014/main" id="{B6CCD949-E788-4375-9B07-478FA5684BC1}"/>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Launch Site</a:t>
            </a:r>
          </a:p>
        </p:txBody>
      </p:sp>
      <p:pic>
        <p:nvPicPr>
          <p:cNvPr id="6" name="Picture 5" descr="A graph of a graph&#10;&#10;AI-generated content may be incorrect.">
            <a:extLst>
              <a:ext uri="{FF2B5EF4-FFF2-40B4-BE49-F238E27FC236}">
                <a16:creationId xmlns:a16="http://schemas.microsoft.com/office/drawing/2014/main" id="{843FBD1B-5619-7733-C2A6-4BA1A7A4B09D}"/>
              </a:ext>
            </a:extLst>
          </p:cNvPr>
          <p:cNvPicPr>
            <a:picLocks noChangeAspect="1"/>
          </p:cNvPicPr>
          <p:nvPr/>
        </p:nvPicPr>
        <p:blipFill>
          <a:blip r:embed="rId3"/>
          <a:stretch>
            <a:fillRect/>
          </a:stretch>
        </p:blipFill>
        <p:spPr>
          <a:xfrm>
            <a:off x="888363" y="1633261"/>
            <a:ext cx="10412707" cy="3346704"/>
          </a:xfrm>
          <a:prstGeom prst="rect">
            <a:avLst/>
          </a:prstGeom>
        </p:spPr>
      </p:pic>
    </p:spTree>
    <p:extLst>
      <p:ext uri="{BB962C8B-B14F-4D97-AF65-F5344CB8AC3E}">
        <p14:creationId xmlns:p14="http://schemas.microsoft.com/office/powerpoint/2010/main" val="38697892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pic>
        <p:nvPicPr>
          <p:cNvPr id="2" name="Picture 1" descr="A graph of a graph&#10;&#10;AI-generated content may be incorrect.">
            <a:extLst>
              <a:ext uri="{FF2B5EF4-FFF2-40B4-BE49-F238E27FC236}">
                <a16:creationId xmlns:a16="http://schemas.microsoft.com/office/drawing/2014/main" id="{FF70C47C-DA1F-393F-3395-47EF338FB58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87772" y="1373065"/>
            <a:ext cx="7254755" cy="2331720"/>
          </a:xfrm>
          <a:prstGeom prst="rect">
            <a:avLst/>
          </a:prstGeom>
        </p:spPr>
      </p:pic>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26</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880336" y="4252329"/>
            <a:ext cx="9401088" cy="1256371"/>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VAFB SLC 4E </a:t>
            </a:r>
            <a:r>
              <a:rPr lang="sk-SK" sz="2200" dirty="0">
                <a:solidFill>
                  <a:schemeClr val="accent3">
                    <a:lumMod val="25000"/>
                  </a:schemeClr>
                </a:solidFill>
                <a:latin typeface="Abadi" panose="020B0604020104020204" pitchFamily="34" charset="0"/>
              </a:rPr>
              <a:t>– </a:t>
            </a:r>
            <a:r>
              <a:rPr lang="en-US" sz="2200" dirty="0">
                <a:solidFill>
                  <a:schemeClr val="accent3">
                    <a:lumMod val="25000"/>
                  </a:schemeClr>
                </a:solidFill>
                <a:latin typeface="Abadi" panose="020B0604020104020204" pitchFamily="34" charset="0"/>
              </a:rPr>
              <a:t>maximum launched payload mass 10000 kg</a:t>
            </a:r>
          </a:p>
          <a:p>
            <a:pPr>
              <a:lnSpc>
                <a:spcPct val="100000"/>
              </a:lnSpc>
              <a:spcBef>
                <a:spcPts val="1400"/>
              </a:spcBef>
            </a:pPr>
            <a:r>
              <a:rPr lang="en-US" sz="2200" dirty="0">
                <a:solidFill>
                  <a:schemeClr val="accent3">
                    <a:lumMod val="25000"/>
                  </a:schemeClr>
                </a:solidFill>
                <a:latin typeface="Abadi" panose="020B0604020104020204" pitchFamily="34" charset="0"/>
              </a:rPr>
              <a:t>Almost all Payloads 10000 kg (+/-10%) are launched from VAFB SLC 4E   </a:t>
            </a:r>
          </a:p>
        </p:txBody>
      </p:sp>
      <p:sp>
        <p:nvSpPr>
          <p:cNvPr id="4" name="Title 1">
            <a:extLst>
              <a:ext uri="{FF2B5EF4-FFF2-40B4-BE49-F238E27FC236}">
                <a16:creationId xmlns:a16="http://schemas.microsoft.com/office/drawing/2014/main" id="{B6CCD949-E788-4375-9B07-478FA5684BC1}"/>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Launch Site</a:t>
            </a:r>
          </a:p>
        </p:txBody>
      </p:sp>
    </p:spTree>
    <p:extLst>
      <p:ext uri="{BB962C8B-B14F-4D97-AF65-F5344CB8AC3E}">
        <p14:creationId xmlns:p14="http://schemas.microsoft.com/office/powerpoint/2010/main" val="3030591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27</a:t>
            </a:fld>
            <a:endParaRPr lang="en-US"/>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 Rate vs. Orbit Type</a:t>
            </a:r>
            <a:endParaRPr lang="en-US" dirty="0">
              <a:solidFill>
                <a:srgbClr val="0B49CB"/>
              </a:solidFill>
            </a:endParaRPr>
          </a:p>
        </p:txBody>
      </p:sp>
      <p:pic>
        <p:nvPicPr>
          <p:cNvPr id="18" name="Picture 17" descr="A graph showing the number of satellites&#10;&#10;AI-generated content may be incorrect.">
            <a:extLst>
              <a:ext uri="{FF2B5EF4-FFF2-40B4-BE49-F238E27FC236}">
                <a16:creationId xmlns:a16="http://schemas.microsoft.com/office/drawing/2014/main" id="{F99B98FA-3AA1-81C7-BCDD-97198D904F72}"/>
              </a:ext>
            </a:extLst>
          </p:cNvPr>
          <p:cNvPicPr>
            <a:picLocks noChangeAspect="1"/>
          </p:cNvPicPr>
          <p:nvPr/>
        </p:nvPicPr>
        <p:blipFill>
          <a:blip r:embed="rId3">
            <a:alphaModFix amt="85000"/>
          </a:blip>
          <a:stretch>
            <a:fillRect/>
          </a:stretch>
        </p:blipFill>
        <p:spPr>
          <a:xfrm>
            <a:off x="2576059" y="1498500"/>
            <a:ext cx="7039883" cy="4767966"/>
          </a:xfrm>
          <a:prstGeom prst="rect">
            <a:avLst/>
          </a:prstGeom>
          <a:effectLst>
            <a:softEdge rad="25400"/>
          </a:effectLst>
        </p:spPr>
      </p:pic>
    </p:spTree>
    <p:extLst>
      <p:ext uri="{BB962C8B-B14F-4D97-AF65-F5344CB8AC3E}">
        <p14:creationId xmlns:p14="http://schemas.microsoft.com/office/powerpoint/2010/main" val="80090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28</a:t>
            </a:fld>
            <a:endParaRPr lang="en-US"/>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 Rate vs. Orbit Type</a:t>
            </a:r>
            <a:endParaRPr lang="en-US" dirty="0">
              <a:solidFill>
                <a:srgbClr val="0B49CB"/>
              </a:solidFill>
            </a:endParaRPr>
          </a:p>
        </p:txBody>
      </p:sp>
      <p:pic>
        <p:nvPicPr>
          <p:cNvPr id="2" name="Picture 1" descr="A graph showing the number of satellites">
            <a:extLst>
              <a:ext uri="{FF2B5EF4-FFF2-40B4-BE49-F238E27FC236}">
                <a16:creationId xmlns:a16="http://schemas.microsoft.com/office/drawing/2014/main" id="{34C2627E-2646-29EF-C030-47016DD7AA75}"/>
              </a:ext>
            </a:extLst>
          </p:cNvPr>
          <p:cNvPicPr>
            <a:picLocks noChangeAspect="1"/>
          </p:cNvPicPr>
          <p:nvPr/>
        </p:nvPicPr>
        <p:blipFill>
          <a:blip r:embed="rId3">
            <a:alphaModFix amt="85000"/>
          </a:blip>
          <a:stretch>
            <a:fillRect/>
          </a:stretch>
        </p:blipFill>
        <p:spPr>
          <a:xfrm>
            <a:off x="874968" y="1572130"/>
            <a:ext cx="4870512" cy="3298696"/>
          </a:xfrm>
          <a:prstGeom prst="rect">
            <a:avLst/>
          </a:prstGeom>
          <a:effectLst>
            <a:softEdge rad="25400"/>
          </a:effectLst>
        </p:spPr>
      </p:pic>
      <p:sp>
        <p:nvSpPr>
          <p:cNvPr id="6" name="Content Placeholder 2">
            <a:extLst>
              <a:ext uri="{FF2B5EF4-FFF2-40B4-BE49-F238E27FC236}">
                <a16:creationId xmlns:a16="http://schemas.microsoft.com/office/drawing/2014/main" id="{DAABBF31-B9F1-BBBD-9F36-A6C4AD75444F}"/>
              </a:ext>
            </a:extLst>
          </p:cNvPr>
          <p:cNvSpPr txBox="1">
            <a:spLocks/>
          </p:cNvSpPr>
          <p:nvPr/>
        </p:nvSpPr>
        <p:spPr>
          <a:xfrm>
            <a:off x="5918003" y="1572130"/>
            <a:ext cx="5399029" cy="329869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SSO orbit success rate = 100%, with 5 launches</a:t>
            </a:r>
          </a:p>
          <a:p>
            <a:pPr>
              <a:lnSpc>
                <a:spcPct val="100000"/>
              </a:lnSpc>
              <a:spcBef>
                <a:spcPts val="1400"/>
              </a:spcBef>
            </a:pPr>
            <a:r>
              <a:rPr lang="en-US" sz="2200" dirty="0">
                <a:solidFill>
                  <a:schemeClr val="accent3">
                    <a:lumMod val="25000"/>
                  </a:schemeClr>
                </a:solidFill>
                <a:latin typeface="Abadi" panose="020B0604020104020204" pitchFamily="34" charset="0"/>
              </a:rPr>
              <a:t>VLEO shows good rate of 86% for 14 launches</a:t>
            </a:r>
          </a:p>
          <a:p>
            <a:pPr>
              <a:lnSpc>
                <a:spcPct val="100000"/>
              </a:lnSpc>
              <a:spcBef>
                <a:spcPts val="1400"/>
              </a:spcBef>
            </a:pPr>
            <a:r>
              <a:rPr lang="en-US" sz="2200" dirty="0">
                <a:solidFill>
                  <a:schemeClr val="accent3">
                    <a:lumMod val="25000"/>
                  </a:schemeClr>
                </a:solidFill>
                <a:latin typeface="Abadi" panose="020B0604020104020204" pitchFamily="34" charset="0"/>
              </a:rPr>
              <a:t>Orbits ES-L1, GEO, HEO – 100% success rate. Only one launch is available for each =&gt;</a:t>
            </a:r>
            <a:r>
              <a:rPr lang="sk-SK" sz="2200" dirty="0">
                <a:solidFill>
                  <a:schemeClr val="accent3">
                    <a:lumMod val="25000"/>
                  </a:schemeClr>
                </a:solidFill>
                <a:latin typeface="Abadi" panose="020B0604020104020204" pitchFamily="34" charset="0"/>
              </a:rPr>
              <a:t> </a:t>
            </a:r>
            <a:r>
              <a:rPr lang="en-US" sz="2200" dirty="0">
                <a:solidFill>
                  <a:schemeClr val="accent3">
                    <a:lumMod val="25000"/>
                  </a:schemeClr>
                </a:solidFill>
                <a:latin typeface="Abadi" panose="020B0604020104020204" pitchFamily="34" charset="0"/>
              </a:rPr>
              <a:t>low statistical significance</a:t>
            </a:r>
          </a:p>
        </p:txBody>
      </p:sp>
    </p:spTree>
    <p:extLst>
      <p:ext uri="{BB962C8B-B14F-4D97-AF65-F5344CB8AC3E}">
        <p14:creationId xmlns:p14="http://schemas.microsoft.com/office/powerpoint/2010/main" val="3545694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29</a:t>
            </a:fld>
            <a:endParaRPr lang="en-US"/>
          </a:p>
        </p:txBody>
      </p:sp>
      <p:sp>
        <p:nvSpPr>
          <p:cNvPr id="4" name="Title 1">
            <a:extLst>
              <a:ext uri="{FF2B5EF4-FFF2-40B4-BE49-F238E27FC236}">
                <a16:creationId xmlns:a16="http://schemas.microsoft.com/office/drawing/2014/main" id="{021C109C-C017-4D19-928F-AED25AC3012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Orbit Type</a:t>
            </a:r>
            <a:endParaRPr lang="en-US" dirty="0">
              <a:solidFill>
                <a:srgbClr val="0B49CB"/>
              </a:solidFill>
            </a:endParaRPr>
          </a:p>
        </p:txBody>
      </p:sp>
      <p:pic>
        <p:nvPicPr>
          <p:cNvPr id="6" name="Picture 5" descr="A number of small colored dots&#10;&#10;AI-generated content may be incorrect.">
            <a:extLst>
              <a:ext uri="{FF2B5EF4-FFF2-40B4-BE49-F238E27FC236}">
                <a16:creationId xmlns:a16="http://schemas.microsoft.com/office/drawing/2014/main" id="{BE319CDB-32B7-7959-2460-5C03EA4F9AE4}"/>
              </a:ext>
            </a:extLst>
          </p:cNvPr>
          <p:cNvPicPr>
            <a:picLocks noChangeAspect="1"/>
          </p:cNvPicPr>
          <p:nvPr/>
        </p:nvPicPr>
        <p:blipFill>
          <a:blip r:embed="rId3"/>
          <a:stretch>
            <a:fillRect/>
          </a:stretch>
        </p:blipFill>
        <p:spPr>
          <a:xfrm>
            <a:off x="877226" y="1628079"/>
            <a:ext cx="10405328" cy="3346704"/>
          </a:xfrm>
          <a:prstGeom prst="rect">
            <a:avLst/>
          </a:prstGeom>
          <a:effectLst>
            <a:softEdge rad="63500"/>
          </a:effectLst>
        </p:spPr>
      </p:pic>
    </p:spTree>
    <p:extLst>
      <p:ext uri="{BB962C8B-B14F-4D97-AF65-F5344CB8AC3E}">
        <p14:creationId xmlns:p14="http://schemas.microsoft.com/office/powerpoint/2010/main" val="11067275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30</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0" y="3828585"/>
            <a:ext cx="8686223" cy="2040403"/>
          </a:xfrm>
          <a:prstGeom prst="rect">
            <a:avLst/>
          </a:prstGeom>
        </p:spPr>
        <p:txBody>
          <a:bodyPr>
            <a:normAutofit lnSpcReduction="10000"/>
          </a:bodyPr>
          <a:lstStyle/>
          <a:p>
            <a:pPr>
              <a:lnSpc>
                <a:spcPct val="100000"/>
              </a:lnSpc>
              <a:spcBef>
                <a:spcPts val="1400"/>
              </a:spcBef>
            </a:pPr>
            <a:r>
              <a:rPr lang="en-US" sz="2200" dirty="0">
                <a:solidFill>
                  <a:schemeClr val="accent3">
                    <a:lumMod val="25000"/>
                  </a:schemeClr>
                </a:solidFill>
                <a:latin typeface="Abadi" panose="020B0604020104020204" pitchFamily="34" charset="0"/>
              </a:rPr>
              <a:t>LEO – success seems to be related to the number of flights</a:t>
            </a:r>
          </a:p>
          <a:p>
            <a:pPr>
              <a:lnSpc>
                <a:spcPct val="100000"/>
              </a:lnSpc>
              <a:spcBef>
                <a:spcPts val="1400"/>
              </a:spcBef>
            </a:pPr>
            <a:r>
              <a:rPr lang="en-US" sz="2200" dirty="0">
                <a:solidFill>
                  <a:schemeClr val="accent3">
                    <a:lumMod val="25000"/>
                  </a:schemeClr>
                </a:solidFill>
                <a:latin typeface="Abadi" panose="020B0604020104020204" pitchFamily="34" charset="0"/>
              </a:rPr>
              <a:t>GTO – there appears to be no relationship between flight number and success</a:t>
            </a:r>
          </a:p>
          <a:p>
            <a:pPr>
              <a:lnSpc>
                <a:spcPct val="100000"/>
              </a:lnSpc>
              <a:spcBef>
                <a:spcPts val="1400"/>
              </a:spcBef>
            </a:pPr>
            <a:r>
              <a:rPr lang="en-US" sz="2200" dirty="0">
                <a:solidFill>
                  <a:schemeClr val="accent3">
                    <a:lumMod val="25000"/>
                  </a:schemeClr>
                </a:solidFill>
                <a:latin typeface="Abadi" panose="020B0604020104020204" pitchFamily="34" charset="0"/>
              </a:rPr>
              <a:t>VLEO – high success rate, the first launch was #65 (June 2019) – start of Starlink era</a:t>
            </a:r>
          </a:p>
        </p:txBody>
      </p:sp>
      <p:sp>
        <p:nvSpPr>
          <p:cNvPr id="4" name="Title 1">
            <a:extLst>
              <a:ext uri="{FF2B5EF4-FFF2-40B4-BE49-F238E27FC236}">
                <a16:creationId xmlns:a16="http://schemas.microsoft.com/office/drawing/2014/main" id="{AFE7D9E4-306D-49E3-9AC4-15D566FC72A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Orbit Type</a:t>
            </a:r>
            <a:endParaRPr lang="en-US" dirty="0">
              <a:solidFill>
                <a:srgbClr val="0B49CB"/>
              </a:solidFill>
            </a:endParaRPr>
          </a:p>
        </p:txBody>
      </p:sp>
      <p:pic>
        <p:nvPicPr>
          <p:cNvPr id="8" name="Picture 7" descr="A number of small colored dots">
            <a:extLst>
              <a:ext uri="{FF2B5EF4-FFF2-40B4-BE49-F238E27FC236}">
                <a16:creationId xmlns:a16="http://schemas.microsoft.com/office/drawing/2014/main" id="{05495E4C-EFFC-B2A4-B38F-37E4944F89F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77226" y="1397622"/>
            <a:ext cx="7249613" cy="2331720"/>
          </a:xfrm>
          <a:prstGeom prst="rect">
            <a:avLst/>
          </a:prstGeom>
          <a:effectLst>
            <a:softEdge rad="38100"/>
          </a:effectLst>
        </p:spPr>
      </p:pic>
    </p:spTree>
    <p:extLst>
      <p:ext uri="{BB962C8B-B14F-4D97-AF65-F5344CB8AC3E}">
        <p14:creationId xmlns:p14="http://schemas.microsoft.com/office/powerpoint/2010/main" val="31453405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31</a:t>
            </a:fld>
            <a:endParaRPr lang="en-US"/>
          </a:p>
        </p:txBody>
      </p:sp>
      <p:sp>
        <p:nvSpPr>
          <p:cNvPr id="4" name="Title 1">
            <a:extLst>
              <a:ext uri="{FF2B5EF4-FFF2-40B4-BE49-F238E27FC236}">
                <a16:creationId xmlns:a16="http://schemas.microsoft.com/office/drawing/2014/main" id="{6D35FD2D-1BD2-45D7-B015-1A96C241520B}"/>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Success Yearly Trend</a:t>
            </a:r>
          </a:p>
        </p:txBody>
      </p:sp>
      <p:pic>
        <p:nvPicPr>
          <p:cNvPr id="6" name="Picture 5" descr="A graph with a line going up">
            <a:extLst>
              <a:ext uri="{FF2B5EF4-FFF2-40B4-BE49-F238E27FC236}">
                <a16:creationId xmlns:a16="http://schemas.microsoft.com/office/drawing/2014/main" id="{7F977DDA-2E38-9BEF-03AC-9163720A4AFA}"/>
              </a:ext>
            </a:extLst>
          </p:cNvPr>
          <p:cNvPicPr>
            <a:picLocks noChangeAspect="1"/>
          </p:cNvPicPr>
          <p:nvPr/>
        </p:nvPicPr>
        <p:blipFill>
          <a:blip r:embed="rId3"/>
          <a:stretch>
            <a:fillRect/>
          </a:stretch>
        </p:blipFill>
        <p:spPr>
          <a:xfrm>
            <a:off x="3021365" y="1397779"/>
            <a:ext cx="6149271" cy="4921571"/>
          </a:xfrm>
          <a:prstGeom prst="rect">
            <a:avLst/>
          </a:prstGeom>
          <a:effectLst>
            <a:softEdge rad="76200"/>
          </a:effectLst>
        </p:spPr>
      </p:pic>
    </p:spTree>
    <p:extLst>
      <p:ext uri="{BB962C8B-B14F-4D97-AF65-F5344CB8AC3E}">
        <p14:creationId xmlns:p14="http://schemas.microsoft.com/office/powerpoint/2010/main" val="7065944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32</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6354241" y="1708955"/>
            <a:ext cx="5348291" cy="1945485"/>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Success</a:t>
            </a:r>
            <a:r>
              <a:rPr lang="sk-SK" sz="2200" dirty="0">
                <a:solidFill>
                  <a:schemeClr val="accent3">
                    <a:lumMod val="25000"/>
                  </a:schemeClr>
                </a:solidFill>
                <a:latin typeface="Abadi" panose="020B0604020104020204" pitchFamily="34" charset="0"/>
              </a:rPr>
              <a:t> rate </a:t>
            </a:r>
            <a:r>
              <a:rPr lang="en-US" sz="2200" dirty="0">
                <a:solidFill>
                  <a:schemeClr val="accent3">
                    <a:lumMod val="25000"/>
                  </a:schemeClr>
                </a:solidFill>
                <a:latin typeface="Abadi" panose="020B0604020104020204" pitchFamily="34" charset="0"/>
              </a:rPr>
              <a:t>upward trend in the analyzed period since 2013 to 2020 with local dips</a:t>
            </a:r>
          </a:p>
          <a:p>
            <a:pPr>
              <a:lnSpc>
                <a:spcPct val="100000"/>
              </a:lnSpc>
              <a:spcBef>
                <a:spcPts val="1400"/>
              </a:spcBef>
            </a:pPr>
            <a:r>
              <a:rPr lang="en-US" sz="2200" dirty="0">
                <a:solidFill>
                  <a:schemeClr val="accent3">
                    <a:lumMod val="25000"/>
                  </a:schemeClr>
                </a:solidFill>
                <a:latin typeface="Abadi" panose="020B0604020104020204" pitchFamily="34" charset="0"/>
              </a:rPr>
              <a:t>Local dips in 2018 and 2020</a:t>
            </a:r>
          </a:p>
        </p:txBody>
      </p:sp>
      <p:sp>
        <p:nvSpPr>
          <p:cNvPr id="4" name="Title 1">
            <a:extLst>
              <a:ext uri="{FF2B5EF4-FFF2-40B4-BE49-F238E27FC236}">
                <a16:creationId xmlns:a16="http://schemas.microsoft.com/office/drawing/2014/main" id="{6D35FD2D-1BD2-45D7-B015-1A96C241520B}"/>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Success Yearly Trend</a:t>
            </a:r>
          </a:p>
        </p:txBody>
      </p:sp>
      <p:pic>
        <p:nvPicPr>
          <p:cNvPr id="2" name="Picture 1" descr="A graph with a line going up">
            <a:extLst>
              <a:ext uri="{FF2B5EF4-FFF2-40B4-BE49-F238E27FC236}">
                <a16:creationId xmlns:a16="http://schemas.microsoft.com/office/drawing/2014/main" id="{5BF3E0FF-EBB6-F4AA-6057-9846D919D80A}"/>
              </a:ext>
            </a:extLst>
          </p:cNvPr>
          <p:cNvPicPr>
            <a:picLocks noChangeAspect="1"/>
          </p:cNvPicPr>
          <p:nvPr/>
        </p:nvPicPr>
        <p:blipFill>
          <a:blip r:embed="rId3"/>
          <a:stretch>
            <a:fillRect/>
          </a:stretch>
        </p:blipFill>
        <p:spPr>
          <a:xfrm>
            <a:off x="882710" y="1628236"/>
            <a:ext cx="5213290" cy="4172458"/>
          </a:xfrm>
          <a:prstGeom prst="rect">
            <a:avLst/>
          </a:prstGeom>
          <a:effectLst>
            <a:softEdge rad="76200"/>
          </a:effectLst>
        </p:spPr>
      </p:pic>
    </p:spTree>
    <p:extLst>
      <p:ext uri="{BB962C8B-B14F-4D97-AF65-F5344CB8AC3E}">
        <p14:creationId xmlns:p14="http://schemas.microsoft.com/office/powerpoint/2010/main" val="6922789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5676899" y="1860582"/>
            <a:ext cx="6139675" cy="31000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A SELECT statement with DISTINCT clause was utilized to eliminate duplicities from the result</a:t>
            </a:r>
          </a:p>
          <a:p>
            <a:pPr>
              <a:lnSpc>
                <a:spcPct val="100000"/>
              </a:lnSpc>
              <a:spcBef>
                <a:spcPts val="1400"/>
              </a:spcBef>
            </a:pPr>
            <a:r>
              <a:rPr lang="en-US" sz="2200" dirty="0">
                <a:solidFill>
                  <a:schemeClr val="accent3">
                    <a:lumMod val="25000"/>
                  </a:schemeClr>
                </a:solidFill>
                <a:latin typeface="Abadi" panose="020B0604020104020204" pitchFamily="34" charset="0"/>
              </a:rPr>
              <a:t>There are four Launch Sites in the analyzed data</a:t>
            </a:r>
          </a:p>
        </p:txBody>
      </p:sp>
      <p:sp>
        <p:nvSpPr>
          <p:cNvPr id="3" name="Title 1">
            <a:extLst>
              <a:ext uri="{FF2B5EF4-FFF2-40B4-BE49-F238E27FC236}">
                <a16:creationId xmlns:a16="http://schemas.microsoft.com/office/drawing/2014/main" id="{86E60219-AE1B-47B6-9A1D-F2865D04BE5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All Launch Site Names</a:t>
            </a:r>
          </a:p>
        </p:txBody>
      </p:sp>
      <p:pic>
        <p:nvPicPr>
          <p:cNvPr id="6" name="Picture 5">
            <a:extLst>
              <a:ext uri="{FF2B5EF4-FFF2-40B4-BE49-F238E27FC236}">
                <a16:creationId xmlns:a16="http://schemas.microsoft.com/office/drawing/2014/main" id="{20925D9D-360C-0E0E-0250-43AE041CC9AF}"/>
              </a:ext>
            </a:extLst>
          </p:cNvPr>
          <p:cNvPicPr>
            <a:picLocks noChangeAspect="1"/>
          </p:cNvPicPr>
          <p:nvPr/>
        </p:nvPicPr>
        <p:blipFill>
          <a:blip r:embed="rId3"/>
          <a:stretch>
            <a:fillRect/>
          </a:stretch>
        </p:blipFill>
        <p:spPr>
          <a:xfrm>
            <a:off x="814614" y="1860582"/>
            <a:ext cx="4407689" cy="3100038"/>
          </a:xfrm>
          <a:prstGeom prst="rect">
            <a:avLst/>
          </a:prstGeom>
        </p:spPr>
      </p:pic>
    </p:spTree>
    <p:extLst>
      <p:ext uri="{BB962C8B-B14F-4D97-AF65-F5344CB8AC3E}">
        <p14:creationId xmlns:p14="http://schemas.microsoft.com/office/powerpoint/2010/main" val="27278509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34</a:t>
            </a:fld>
            <a:endParaRPr lang="en-US"/>
          </a:p>
        </p:txBody>
      </p:sp>
      <p:sp>
        <p:nvSpPr>
          <p:cNvPr id="3" name="Title 1">
            <a:extLst>
              <a:ext uri="{FF2B5EF4-FFF2-40B4-BE49-F238E27FC236}">
                <a16:creationId xmlns:a16="http://schemas.microsoft.com/office/drawing/2014/main" id="{557C8CBA-1A0E-4CDF-A451-7AAA44D3983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 Names Begin with 'CCA'</a:t>
            </a:r>
          </a:p>
        </p:txBody>
      </p:sp>
      <p:pic>
        <p:nvPicPr>
          <p:cNvPr id="6" name="Picture 5">
            <a:extLst>
              <a:ext uri="{FF2B5EF4-FFF2-40B4-BE49-F238E27FC236}">
                <a16:creationId xmlns:a16="http://schemas.microsoft.com/office/drawing/2014/main" id="{6CF97EA6-82E1-4D61-85F3-CED7E54BF05B}"/>
              </a:ext>
            </a:extLst>
          </p:cNvPr>
          <p:cNvPicPr>
            <a:picLocks noChangeAspect="1"/>
          </p:cNvPicPr>
          <p:nvPr/>
        </p:nvPicPr>
        <p:blipFill>
          <a:blip r:embed="rId3"/>
          <a:stretch>
            <a:fillRect/>
          </a:stretch>
        </p:blipFill>
        <p:spPr>
          <a:xfrm>
            <a:off x="880269" y="1630762"/>
            <a:ext cx="10405342" cy="2185765"/>
          </a:xfrm>
          <a:prstGeom prst="rect">
            <a:avLst/>
          </a:prstGeom>
        </p:spPr>
      </p:pic>
      <p:sp>
        <p:nvSpPr>
          <p:cNvPr id="9" name="Content Placeholder 4">
            <a:extLst>
              <a:ext uri="{FF2B5EF4-FFF2-40B4-BE49-F238E27FC236}">
                <a16:creationId xmlns:a16="http://schemas.microsoft.com/office/drawing/2014/main" id="{6A723346-ADAC-FBE9-8163-D4FC77166638}"/>
              </a:ext>
            </a:extLst>
          </p:cNvPr>
          <p:cNvSpPr txBox="1">
            <a:spLocks/>
          </p:cNvSpPr>
          <p:nvPr/>
        </p:nvSpPr>
        <p:spPr>
          <a:xfrm>
            <a:off x="880269" y="4186772"/>
            <a:ext cx="10405342" cy="1760543"/>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A SELECT statement with WHERE clause containing operator LIKE and using the pattern with wild character % was utilized to pull records with Launch_Site starting with “CCA”. Keyword LIMIT with literal 5 was utilized to restrict number of returned records to 5</a:t>
            </a:r>
          </a:p>
          <a:p>
            <a:pPr>
              <a:lnSpc>
                <a:spcPct val="100000"/>
              </a:lnSpc>
              <a:spcBef>
                <a:spcPts val="1400"/>
              </a:spcBef>
            </a:pPr>
            <a:r>
              <a:rPr lang="en-US" sz="2200" dirty="0">
                <a:solidFill>
                  <a:schemeClr val="accent3">
                    <a:lumMod val="25000"/>
                  </a:schemeClr>
                </a:solidFill>
                <a:latin typeface="Abadi" panose="020B0604020104020204" pitchFamily="34" charset="0"/>
              </a:rPr>
              <a:t>The result shows exactly 5 records, all beginning with “CCA”</a:t>
            </a:r>
          </a:p>
        </p:txBody>
      </p:sp>
    </p:spTree>
    <p:extLst>
      <p:ext uri="{BB962C8B-B14F-4D97-AF65-F5344CB8AC3E}">
        <p14:creationId xmlns:p14="http://schemas.microsoft.com/office/powerpoint/2010/main" val="17947386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35</a:t>
            </a:fld>
            <a:endParaRPr lang="en-US"/>
          </a:p>
        </p:txBody>
      </p:sp>
      <p:sp>
        <p:nvSpPr>
          <p:cNvPr id="3" name="Title 1">
            <a:extLst>
              <a:ext uri="{FF2B5EF4-FFF2-40B4-BE49-F238E27FC236}">
                <a16:creationId xmlns:a16="http://schemas.microsoft.com/office/drawing/2014/main" id="{FD161C47-0660-416F-B4C2-25E4D35D69F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Payload Mass</a:t>
            </a:r>
          </a:p>
        </p:txBody>
      </p:sp>
      <p:pic>
        <p:nvPicPr>
          <p:cNvPr id="6" name="Picture 5">
            <a:extLst>
              <a:ext uri="{FF2B5EF4-FFF2-40B4-BE49-F238E27FC236}">
                <a16:creationId xmlns:a16="http://schemas.microsoft.com/office/drawing/2014/main" id="{A208BE7A-BD16-1A0B-57B0-B469161ED0F9}"/>
              </a:ext>
            </a:extLst>
          </p:cNvPr>
          <p:cNvPicPr>
            <a:picLocks noChangeAspect="1"/>
          </p:cNvPicPr>
          <p:nvPr/>
        </p:nvPicPr>
        <p:blipFill>
          <a:blip r:embed="rId3"/>
          <a:stretch>
            <a:fillRect/>
          </a:stretch>
        </p:blipFill>
        <p:spPr>
          <a:xfrm>
            <a:off x="880829" y="1451438"/>
            <a:ext cx="9745590" cy="1836587"/>
          </a:xfrm>
          <a:prstGeom prst="rect">
            <a:avLst/>
          </a:prstGeom>
        </p:spPr>
      </p:pic>
      <p:sp>
        <p:nvSpPr>
          <p:cNvPr id="7" name="Content Placeholder 4">
            <a:extLst>
              <a:ext uri="{FF2B5EF4-FFF2-40B4-BE49-F238E27FC236}">
                <a16:creationId xmlns:a16="http://schemas.microsoft.com/office/drawing/2014/main" id="{6F665A5F-CBAF-904E-2BFB-D678EB907700}"/>
              </a:ext>
            </a:extLst>
          </p:cNvPr>
          <p:cNvSpPr txBox="1">
            <a:spLocks/>
          </p:cNvSpPr>
          <p:nvPr/>
        </p:nvSpPr>
        <p:spPr>
          <a:xfrm>
            <a:off x="770010" y="3645343"/>
            <a:ext cx="10405342" cy="1580860"/>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A SELECT statement with SUM function and WHERE clause was utilized to pull records with Customer “NASA (CRS)” and summarize the Payload Mass.</a:t>
            </a:r>
          </a:p>
          <a:p>
            <a:pPr>
              <a:lnSpc>
                <a:spcPct val="100000"/>
              </a:lnSpc>
              <a:spcBef>
                <a:spcPts val="1400"/>
              </a:spcBef>
            </a:pPr>
            <a:r>
              <a:rPr lang="en-US" sz="2200" dirty="0">
                <a:solidFill>
                  <a:schemeClr val="accent3">
                    <a:lumMod val="25000"/>
                  </a:schemeClr>
                </a:solidFill>
                <a:latin typeface="Abadi" panose="020B0604020104020204" pitchFamily="34" charset="0"/>
              </a:rPr>
              <a:t>The result shows that a cumulative Payload Mass of 45596 kg was carried for NASA (CRS)</a:t>
            </a:r>
          </a:p>
        </p:txBody>
      </p:sp>
    </p:spTree>
    <p:extLst>
      <p:ext uri="{BB962C8B-B14F-4D97-AF65-F5344CB8AC3E}">
        <p14:creationId xmlns:p14="http://schemas.microsoft.com/office/powerpoint/2010/main" val="40100147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36</a:t>
            </a:fld>
            <a:endParaRPr lang="en-US"/>
          </a:p>
        </p:txBody>
      </p:sp>
      <p:sp>
        <p:nvSpPr>
          <p:cNvPr id="3" name="Title 1">
            <a:extLst>
              <a:ext uri="{FF2B5EF4-FFF2-40B4-BE49-F238E27FC236}">
                <a16:creationId xmlns:a16="http://schemas.microsoft.com/office/drawing/2014/main" id="{AFD52E17-48CB-4D60-BD56-71D197A29B3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Average Payload Mass by F9 v1.1</a:t>
            </a:r>
          </a:p>
        </p:txBody>
      </p:sp>
      <p:pic>
        <p:nvPicPr>
          <p:cNvPr id="6" name="Picture 5">
            <a:extLst>
              <a:ext uri="{FF2B5EF4-FFF2-40B4-BE49-F238E27FC236}">
                <a16:creationId xmlns:a16="http://schemas.microsoft.com/office/drawing/2014/main" id="{2F9B65EC-5B56-2FC1-EB20-BE721BA4965E}"/>
              </a:ext>
            </a:extLst>
          </p:cNvPr>
          <p:cNvPicPr>
            <a:picLocks noChangeAspect="1"/>
          </p:cNvPicPr>
          <p:nvPr/>
        </p:nvPicPr>
        <p:blipFill>
          <a:blip r:embed="rId3"/>
          <a:stretch>
            <a:fillRect/>
          </a:stretch>
        </p:blipFill>
        <p:spPr>
          <a:xfrm>
            <a:off x="878323" y="1624766"/>
            <a:ext cx="8800935" cy="1701839"/>
          </a:xfrm>
          <a:prstGeom prst="rect">
            <a:avLst/>
          </a:prstGeom>
        </p:spPr>
      </p:pic>
      <p:sp>
        <p:nvSpPr>
          <p:cNvPr id="8" name="Content Placeholder 4">
            <a:extLst>
              <a:ext uri="{FF2B5EF4-FFF2-40B4-BE49-F238E27FC236}">
                <a16:creationId xmlns:a16="http://schemas.microsoft.com/office/drawing/2014/main" id="{A6D70092-E24C-2E83-77C3-00ECF1E1C963}"/>
              </a:ext>
            </a:extLst>
          </p:cNvPr>
          <p:cNvSpPr txBox="1">
            <a:spLocks/>
          </p:cNvSpPr>
          <p:nvPr/>
        </p:nvSpPr>
        <p:spPr>
          <a:xfrm>
            <a:off x="770011" y="3733463"/>
            <a:ext cx="10405342" cy="1760543"/>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A SELECT statement with AVG function and WHERE clause containing operator LIKE and using the pattern with wild character % was utilized to pull records with Booster_Version starting with “F9 v1.1”.</a:t>
            </a:r>
          </a:p>
          <a:p>
            <a:pPr>
              <a:lnSpc>
                <a:spcPct val="100000"/>
              </a:lnSpc>
              <a:spcBef>
                <a:spcPts val="1400"/>
              </a:spcBef>
            </a:pPr>
            <a:r>
              <a:rPr lang="en-US" sz="2200" dirty="0">
                <a:solidFill>
                  <a:schemeClr val="accent3">
                    <a:lumMod val="25000"/>
                  </a:schemeClr>
                </a:solidFill>
                <a:latin typeface="Abadi" panose="020B0604020104020204" pitchFamily="34" charset="0"/>
              </a:rPr>
              <a:t>The result shows that an average Payload Mass carried by the Booster_Version F9 v1.1 amounted to 2535 kg</a:t>
            </a:r>
          </a:p>
        </p:txBody>
      </p:sp>
    </p:spTree>
    <p:extLst>
      <p:ext uri="{BB962C8B-B14F-4D97-AF65-F5344CB8AC3E}">
        <p14:creationId xmlns:p14="http://schemas.microsoft.com/office/powerpoint/2010/main" val="27355605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37</a:t>
            </a:fld>
            <a:endParaRPr lang="en-US"/>
          </a:p>
        </p:txBody>
      </p:sp>
      <p:sp>
        <p:nvSpPr>
          <p:cNvPr id="3" name="Title 1">
            <a:extLst>
              <a:ext uri="{FF2B5EF4-FFF2-40B4-BE49-F238E27FC236}">
                <a16:creationId xmlns:a16="http://schemas.microsoft.com/office/drawing/2014/main" id="{7F12CD3C-55B3-4129-817A-84D0B28F713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First Successful Ground Landing Date</a:t>
            </a:r>
          </a:p>
        </p:txBody>
      </p:sp>
      <p:pic>
        <p:nvPicPr>
          <p:cNvPr id="6" name="Picture 5">
            <a:extLst>
              <a:ext uri="{FF2B5EF4-FFF2-40B4-BE49-F238E27FC236}">
                <a16:creationId xmlns:a16="http://schemas.microsoft.com/office/drawing/2014/main" id="{AC163C03-B25C-1B8E-E509-182EE09382AF}"/>
              </a:ext>
            </a:extLst>
          </p:cNvPr>
          <p:cNvPicPr>
            <a:picLocks noChangeAspect="1"/>
          </p:cNvPicPr>
          <p:nvPr/>
        </p:nvPicPr>
        <p:blipFill>
          <a:blip r:embed="rId3"/>
          <a:stretch>
            <a:fillRect/>
          </a:stretch>
        </p:blipFill>
        <p:spPr>
          <a:xfrm>
            <a:off x="874566" y="1625220"/>
            <a:ext cx="8730139" cy="1907524"/>
          </a:xfrm>
          <a:prstGeom prst="rect">
            <a:avLst/>
          </a:prstGeom>
        </p:spPr>
      </p:pic>
      <p:sp>
        <p:nvSpPr>
          <p:cNvPr id="7" name="Content Placeholder 4">
            <a:extLst>
              <a:ext uri="{FF2B5EF4-FFF2-40B4-BE49-F238E27FC236}">
                <a16:creationId xmlns:a16="http://schemas.microsoft.com/office/drawing/2014/main" id="{567B480F-8968-17F5-BBC0-BC8B556D7E87}"/>
              </a:ext>
            </a:extLst>
          </p:cNvPr>
          <p:cNvSpPr txBox="1">
            <a:spLocks/>
          </p:cNvSpPr>
          <p:nvPr/>
        </p:nvSpPr>
        <p:spPr>
          <a:xfrm>
            <a:off x="770011" y="3890884"/>
            <a:ext cx="10515600" cy="1760543"/>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A SELECT statement, with MIN function and WHERE clause was utilized to identify the date of the first successful ground landing</a:t>
            </a:r>
          </a:p>
          <a:p>
            <a:pPr>
              <a:lnSpc>
                <a:spcPct val="100000"/>
              </a:lnSpc>
              <a:spcBef>
                <a:spcPts val="1400"/>
              </a:spcBef>
            </a:pPr>
            <a:r>
              <a:rPr lang="en-US" sz="2200" dirty="0">
                <a:solidFill>
                  <a:schemeClr val="accent3">
                    <a:lumMod val="25000"/>
                  </a:schemeClr>
                </a:solidFill>
                <a:latin typeface="Abadi" panose="020B0604020104020204" pitchFamily="34" charset="0"/>
              </a:rPr>
              <a:t>Using ISO 8601 date format allowed for direct application of the MIN function</a:t>
            </a:r>
          </a:p>
          <a:p>
            <a:pPr>
              <a:lnSpc>
                <a:spcPct val="100000"/>
              </a:lnSpc>
              <a:spcBef>
                <a:spcPts val="1400"/>
              </a:spcBef>
            </a:pPr>
            <a:r>
              <a:rPr lang="en-US" sz="2200" dirty="0">
                <a:solidFill>
                  <a:schemeClr val="accent3">
                    <a:lumMod val="25000"/>
                  </a:schemeClr>
                </a:solidFill>
                <a:latin typeface="Abadi" panose="020B0604020104020204" pitchFamily="34" charset="0"/>
              </a:rPr>
              <a:t>The first successful ground landing was performed on December 22, 2015</a:t>
            </a:r>
          </a:p>
        </p:txBody>
      </p:sp>
    </p:spTree>
    <p:extLst>
      <p:ext uri="{BB962C8B-B14F-4D97-AF65-F5344CB8AC3E}">
        <p14:creationId xmlns:p14="http://schemas.microsoft.com/office/powerpoint/2010/main" val="14346799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38</a:t>
            </a:fld>
            <a:endParaRPr lang="en-US"/>
          </a:p>
        </p:txBody>
      </p:sp>
      <p:sp>
        <p:nvSpPr>
          <p:cNvPr id="8" name="Title 1">
            <a:extLst>
              <a:ext uri="{FF2B5EF4-FFF2-40B4-BE49-F238E27FC236}">
                <a16:creationId xmlns:a16="http://schemas.microsoft.com/office/drawing/2014/main" id="{952C2E9C-C6BE-40BD-A406-CFB441363C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Successful Drone Ship Landing with Payload between 4000 and 6000</a:t>
            </a:r>
          </a:p>
        </p:txBody>
      </p:sp>
      <p:pic>
        <p:nvPicPr>
          <p:cNvPr id="3" name="Picture 2">
            <a:extLst>
              <a:ext uri="{FF2B5EF4-FFF2-40B4-BE49-F238E27FC236}">
                <a16:creationId xmlns:a16="http://schemas.microsoft.com/office/drawing/2014/main" id="{C773526D-8267-642A-757E-76AB9740EE70}"/>
              </a:ext>
            </a:extLst>
          </p:cNvPr>
          <p:cNvPicPr>
            <a:picLocks noChangeAspect="1"/>
          </p:cNvPicPr>
          <p:nvPr/>
        </p:nvPicPr>
        <p:blipFill>
          <a:blip r:embed="rId3"/>
          <a:stretch>
            <a:fillRect/>
          </a:stretch>
        </p:blipFill>
        <p:spPr>
          <a:xfrm>
            <a:off x="879387" y="1607820"/>
            <a:ext cx="4760537" cy="3298716"/>
          </a:xfrm>
          <a:prstGeom prst="rect">
            <a:avLst/>
          </a:prstGeom>
        </p:spPr>
      </p:pic>
      <p:sp>
        <p:nvSpPr>
          <p:cNvPr id="6" name="Content Placeholder 4">
            <a:extLst>
              <a:ext uri="{FF2B5EF4-FFF2-40B4-BE49-F238E27FC236}">
                <a16:creationId xmlns:a16="http://schemas.microsoft.com/office/drawing/2014/main" id="{0914F57F-951D-7B06-5EE2-CDFE2112263B}"/>
              </a:ext>
            </a:extLst>
          </p:cNvPr>
          <p:cNvSpPr txBox="1">
            <a:spLocks/>
          </p:cNvSpPr>
          <p:nvPr/>
        </p:nvSpPr>
        <p:spPr>
          <a:xfrm>
            <a:off x="6004559" y="1607821"/>
            <a:ext cx="5281051" cy="329871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A SELECT statement with WHERE clause using operators AND was utilized to identify successful drone ship landings with Payloads between 4000 kg and 6000 kg</a:t>
            </a:r>
          </a:p>
          <a:p>
            <a:pPr>
              <a:lnSpc>
                <a:spcPct val="100000"/>
              </a:lnSpc>
              <a:spcBef>
                <a:spcPts val="1400"/>
              </a:spcBef>
            </a:pPr>
            <a:r>
              <a:rPr lang="en-US" sz="2200" dirty="0">
                <a:solidFill>
                  <a:schemeClr val="accent3">
                    <a:lumMod val="25000"/>
                  </a:schemeClr>
                </a:solidFill>
                <a:latin typeface="Abadi" panose="020B0604020104020204" pitchFamily="34" charset="0"/>
              </a:rPr>
              <a:t>Four boosters were identified as meeting the specified criteria</a:t>
            </a:r>
          </a:p>
        </p:txBody>
      </p:sp>
    </p:spTree>
    <p:extLst>
      <p:ext uri="{BB962C8B-B14F-4D97-AF65-F5344CB8AC3E}">
        <p14:creationId xmlns:p14="http://schemas.microsoft.com/office/powerpoint/2010/main" val="6393995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39</a:t>
            </a:fld>
            <a:endParaRPr lang="en-US"/>
          </a:p>
        </p:txBody>
      </p:sp>
      <p:sp>
        <p:nvSpPr>
          <p:cNvPr id="3" name="Title 1">
            <a:extLst>
              <a:ext uri="{FF2B5EF4-FFF2-40B4-BE49-F238E27FC236}">
                <a16:creationId xmlns:a16="http://schemas.microsoft.com/office/drawing/2014/main" id="{79B32320-42D4-49FA-8047-C080B444B3A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Number of Successful and Failure Mission Outcomes</a:t>
            </a:r>
          </a:p>
        </p:txBody>
      </p:sp>
      <p:pic>
        <p:nvPicPr>
          <p:cNvPr id="12" name="Picture 11">
            <a:extLst>
              <a:ext uri="{FF2B5EF4-FFF2-40B4-BE49-F238E27FC236}">
                <a16:creationId xmlns:a16="http://schemas.microsoft.com/office/drawing/2014/main" id="{B36AAA9E-8240-3339-620F-F96476385F19}"/>
              </a:ext>
            </a:extLst>
          </p:cNvPr>
          <p:cNvPicPr>
            <a:picLocks noChangeAspect="1"/>
          </p:cNvPicPr>
          <p:nvPr/>
        </p:nvPicPr>
        <p:blipFill>
          <a:blip r:embed="rId3"/>
          <a:stretch>
            <a:fillRect/>
          </a:stretch>
        </p:blipFill>
        <p:spPr>
          <a:xfrm>
            <a:off x="851785" y="1775665"/>
            <a:ext cx="4823878" cy="1866221"/>
          </a:xfrm>
          <a:prstGeom prst="rect">
            <a:avLst/>
          </a:prstGeom>
        </p:spPr>
      </p:pic>
      <p:sp>
        <p:nvSpPr>
          <p:cNvPr id="13" name="Content Placeholder 4">
            <a:extLst>
              <a:ext uri="{FF2B5EF4-FFF2-40B4-BE49-F238E27FC236}">
                <a16:creationId xmlns:a16="http://schemas.microsoft.com/office/drawing/2014/main" id="{0E527DA6-897A-5880-FCA9-35B6C7D966AC}"/>
              </a:ext>
            </a:extLst>
          </p:cNvPr>
          <p:cNvSpPr txBox="1">
            <a:spLocks/>
          </p:cNvSpPr>
          <p:nvPr/>
        </p:nvSpPr>
        <p:spPr>
          <a:xfrm>
            <a:off x="5939882" y="1418825"/>
            <a:ext cx="5345729" cy="374753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Two versions of a query were designed. </a:t>
            </a:r>
            <a:r>
              <a:rPr lang="en-US" sz="2200" b="1" dirty="0">
                <a:solidFill>
                  <a:schemeClr val="accent3">
                    <a:lumMod val="25000"/>
                  </a:schemeClr>
                </a:solidFill>
                <a:latin typeface="Abadi" panose="020B0604020104020204" pitchFamily="34" charset="0"/>
              </a:rPr>
              <a:t>Version 2</a:t>
            </a:r>
            <a:r>
              <a:rPr lang="en-US" sz="2200" dirty="0">
                <a:solidFill>
                  <a:schemeClr val="accent3">
                    <a:lumMod val="25000"/>
                  </a:schemeClr>
                </a:solidFill>
                <a:latin typeface="Abadi" panose="020B0604020104020204" pitchFamily="34" charset="0"/>
              </a:rPr>
              <a:t> is considered the final version.</a:t>
            </a:r>
          </a:p>
          <a:p>
            <a:pPr>
              <a:lnSpc>
                <a:spcPct val="100000"/>
              </a:lnSpc>
              <a:spcBef>
                <a:spcPts val="1400"/>
              </a:spcBef>
            </a:pPr>
            <a:r>
              <a:rPr lang="en-US" sz="2200" dirty="0">
                <a:solidFill>
                  <a:schemeClr val="accent3">
                    <a:lumMod val="25000"/>
                  </a:schemeClr>
                </a:solidFill>
                <a:latin typeface="Abadi" panose="020B0604020104020204" pitchFamily="34" charset="0"/>
              </a:rPr>
              <a:t>A SELECT statement using SUBSTR and COUNT functions with GROUP BY clause was utilized to aggregate successes and failures in Mission Outcome</a:t>
            </a:r>
          </a:p>
          <a:p>
            <a:pPr>
              <a:lnSpc>
                <a:spcPct val="100000"/>
              </a:lnSpc>
              <a:spcBef>
                <a:spcPts val="1400"/>
              </a:spcBef>
            </a:pPr>
            <a:r>
              <a:rPr lang="en-US" sz="2200" dirty="0">
                <a:solidFill>
                  <a:schemeClr val="accent3">
                    <a:lumMod val="25000"/>
                  </a:schemeClr>
                </a:solidFill>
                <a:latin typeface="Abadi" panose="020B0604020104020204" pitchFamily="34" charset="0"/>
              </a:rPr>
              <a:t>One failure and one hundred success were identified in the analyzed records</a:t>
            </a:r>
          </a:p>
        </p:txBody>
      </p:sp>
      <p:sp>
        <p:nvSpPr>
          <p:cNvPr id="14" name="Content Placeholder 4">
            <a:extLst>
              <a:ext uri="{FF2B5EF4-FFF2-40B4-BE49-F238E27FC236}">
                <a16:creationId xmlns:a16="http://schemas.microsoft.com/office/drawing/2014/main" id="{48E742C1-B79B-9922-96F8-762F46C79C3E}"/>
              </a:ext>
            </a:extLst>
          </p:cNvPr>
          <p:cNvSpPr txBox="1">
            <a:spLocks/>
          </p:cNvSpPr>
          <p:nvPr/>
        </p:nvSpPr>
        <p:spPr>
          <a:xfrm>
            <a:off x="770011" y="1419599"/>
            <a:ext cx="1494263" cy="43784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Version 1</a:t>
            </a:r>
          </a:p>
        </p:txBody>
      </p:sp>
      <p:sp>
        <p:nvSpPr>
          <p:cNvPr id="15" name="Content Placeholder 4">
            <a:extLst>
              <a:ext uri="{FF2B5EF4-FFF2-40B4-BE49-F238E27FC236}">
                <a16:creationId xmlns:a16="http://schemas.microsoft.com/office/drawing/2014/main" id="{DDFF703D-2B60-D84E-1DB9-03218DDF0637}"/>
              </a:ext>
            </a:extLst>
          </p:cNvPr>
          <p:cNvSpPr txBox="1">
            <a:spLocks/>
          </p:cNvSpPr>
          <p:nvPr/>
        </p:nvSpPr>
        <p:spPr>
          <a:xfrm>
            <a:off x="770011" y="4144202"/>
            <a:ext cx="1494263" cy="43784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Version 2</a:t>
            </a:r>
          </a:p>
        </p:txBody>
      </p:sp>
      <p:pic>
        <p:nvPicPr>
          <p:cNvPr id="5" name="Picture 4">
            <a:extLst>
              <a:ext uri="{FF2B5EF4-FFF2-40B4-BE49-F238E27FC236}">
                <a16:creationId xmlns:a16="http://schemas.microsoft.com/office/drawing/2014/main" id="{FCB70F16-43BE-D814-7660-4168EB6CE533}"/>
              </a:ext>
            </a:extLst>
          </p:cNvPr>
          <p:cNvPicPr>
            <a:picLocks noChangeAspect="1"/>
          </p:cNvPicPr>
          <p:nvPr/>
        </p:nvPicPr>
        <p:blipFill>
          <a:blip r:embed="rId4"/>
          <a:stretch>
            <a:fillRect/>
          </a:stretch>
        </p:blipFill>
        <p:spPr>
          <a:xfrm>
            <a:off x="851786" y="4531240"/>
            <a:ext cx="4823878" cy="1924419"/>
          </a:xfrm>
          <a:prstGeom prst="rect">
            <a:avLst/>
          </a:prstGeom>
        </p:spPr>
      </p:pic>
    </p:spTree>
    <p:extLst>
      <p:ext uri="{BB962C8B-B14F-4D97-AF65-F5344CB8AC3E}">
        <p14:creationId xmlns:p14="http://schemas.microsoft.com/office/powerpoint/2010/main" val="17569726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40</a:t>
            </a:fld>
            <a:endParaRPr lang="en-US" dirty="0"/>
          </a:p>
        </p:txBody>
      </p:sp>
      <p:sp>
        <p:nvSpPr>
          <p:cNvPr id="3" name="Title 1">
            <a:extLst>
              <a:ext uri="{FF2B5EF4-FFF2-40B4-BE49-F238E27FC236}">
                <a16:creationId xmlns:a16="http://schemas.microsoft.com/office/drawing/2014/main" id="{2A7EB98F-A25F-4357-9775-478FC17F7F83}"/>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Boosters Carried Maximum Payload</a:t>
            </a:r>
          </a:p>
        </p:txBody>
      </p:sp>
      <p:sp>
        <p:nvSpPr>
          <p:cNvPr id="2" name="Content Placeholder 4">
            <a:extLst>
              <a:ext uri="{FF2B5EF4-FFF2-40B4-BE49-F238E27FC236}">
                <a16:creationId xmlns:a16="http://schemas.microsoft.com/office/drawing/2014/main" id="{9C8DDFA7-DCF6-3C25-4226-11069B6BBF77}"/>
              </a:ext>
            </a:extLst>
          </p:cNvPr>
          <p:cNvSpPr txBox="1">
            <a:spLocks/>
          </p:cNvSpPr>
          <p:nvPr/>
        </p:nvSpPr>
        <p:spPr>
          <a:xfrm>
            <a:off x="5099824" y="1418825"/>
            <a:ext cx="6185787" cy="49005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A SELECT statement with WHERE clause using subquery with MAX function, and with ORDER BY clause was utilized to identify the Booster Versions which carried the maximum Payload Mass</a:t>
            </a:r>
          </a:p>
          <a:p>
            <a:pPr>
              <a:lnSpc>
                <a:spcPct val="100000"/>
              </a:lnSpc>
              <a:spcBef>
                <a:spcPts val="1400"/>
              </a:spcBef>
            </a:pPr>
            <a:r>
              <a:rPr lang="en-US" sz="2200" dirty="0">
                <a:solidFill>
                  <a:schemeClr val="accent3">
                    <a:lumMod val="25000"/>
                  </a:schemeClr>
                </a:solidFill>
                <a:latin typeface="Abadi" panose="020B0604020104020204" pitchFamily="34" charset="0"/>
              </a:rPr>
              <a:t>Maximum Payload Mass of 15600 kg was carried by twelve Booster Versions</a:t>
            </a:r>
          </a:p>
          <a:p>
            <a:pPr>
              <a:lnSpc>
                <a:spcPct val="100000"/>
              </a:lnSpc>
              <a:spcBef>
                <a:spcPts val="1400"/>
              </a:spcBef>
            </a:pPr>
            <a:r>
              <a:rPr lang="en-US" sz="2200" dirty="0">
                <a:solidFill>
                  <a:schemeClr val="accent3">
                    <a:lumMod val="25000"/>
                  </a:schemeClr>
                </a:solidFill>
                <a:latin typeface="Abadi" panose="020B0604020104020204" pitchFamily="34" charset="0"/>
              </a:rPr>
              <a:t>The result was sorted by Booster Version in ascending order</a:t>
            </a:r>
          </a:p>
        </p:txBody>
      </p:sp>
      <p:pic>
        <p:nvPicPr>
          <p:cNvPr id="9" name="Picture 8">
            <a:extLst>
              <a:ext uri="{FF2B5EF4-FFF2-40B4-BE49-F238E27FC236}">
                <a16:creationId xmlns:a16="http://schemas.microsoft.com/office/drawing/2014/main" id="{55D3939C-651F-28FE-C6D5-4CBD845813E8}"/>
              </a:ext>
            </a:extLst>
          </p:cNvPr>
          <p:cNvPicPr>
            <a:picLocks noChangeAspect="1"/>
          </p:cNvPicPr>
          <p:nvPr/>
        </p:nvPicPr>
        <p:blipFill>
          <a:blip r:embed="rId3"/>
          <a:stretch>
            <a:fillRect/>
          </a:stretch>
        </p:blipFill>
        <p:spPr>
          <a:xfrm>
            <a:off x="822049" y="1366787"/>
            <a:ext cx="3883766" cy="4920499"/>
          </a:xfrm>
          <a:prstGeom prst="rect">
            <a:avLst/>
          </a:prstGeom>
        </p:spPr>
      </p:pic>
    </p:spTree>
    <p:extLst>
      <p:ext uri="{BB962C8B-B14F-4D97-AF65-F5344CB8AC3E}">
        <p14:creationId xmlns:p14="http://schemas.microsoft.com/office/powerpoint/2010/main" val="35666463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41</a:t>
            </a:fld>
            <a:endParaRPr lang="en-US" dirty="0"/>
          </a:p>
        </p:txBody>
      </p:sp>
      <p:sp>
        <p:nvSpPr>
          <p:cNvPr id="3" name="Title 1">
            <a:extLst>
              <a:ext uri="{FF2B5EF4-FFF2-40B4-BE49-F238E27FC236}">
                <a16:creationId xmlns:a16="http://schemas.microsoft.com/office/drawing/2014/main" id="{964DA114-677C-40D8-8FFA-43531834CFB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2015 Launch Records</a:t>
            </a:r>
          </a:p>
        </p:txBody>
      </p:sp>
      <p:sp>
        <p:nvSpPr>
          <p:cNvPr id="2" name="Content Placeholder 4">
            <a:extLst>
              <a:ext uri="{FF2B5EF4-FFF2-40B4-BE49-F238E27FC236}">
                <a16:creationId xmlns:a16="http://schemas.microsoft.com/office/drawing/2014/main" id="{F09FC252-79DF-87E6-6D40-F02C93327B38}"/>
              </a:ext>
            </a:extLst>
          </p:cNvPr>
          <p:cNvSpPr txBox="1">
            <a:spLocks/>
          </p:cNvSpPr>
          <p:nvPr/>
        </p:nvSpPr>
        <p:spPr>
          <a:xfrm>
            <a:off x="734028" y="4214732"/>
            <a:ext cx="8908060" cy="174745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A SELECT statement with SUBSTR functions and WHERE clause was utilized to identify records with failure Landing Outcome in drone ships in 2015</a:t>
            </a:r>
          </a:p>
          <a:p>
            <a:pPr>
              <a:lnSpc>
                <a:spcPct val="100000"/>
              </a:lnSpc>
              <a:spcBef>
                <a:spcPts val="1400"/>
              </a:spcBef>
            </a:pPr>
            <a:r>
              <a:rPr lang="en-US" sz="2200" dirty="0">
                <a:solidFill>
                  <a:schemeClr val="accent3">
                    <a:lumMod val="25000"/>
                  </a:schemeClr>
                </a:solidFill>
                <a:latin typeface="Abadi" panose="020B0604020104020204" pitchFamily="34" charset="0"/>
              </a:rPr>
              <a:t>Two records have been selected as failure drone ship landings in 2015</a:t>
            </a:r>
          </a:p>
        </p:txBody>
      </p:sp>
      <p:pic>
        <p:nvPicPr>
          <p:cNvPr id="7" name="Picture 6">
            <a:extLst>
              <a:ext uri="{FF2B5EF4-FFF2-40B4-BE49-F238E27FC236}">
                <a16:creationId xmlns:a16="http://schemas.microsoft.com/office/drawing/2014/main" id="{B02BF693-D38C-E050-C4B6-0886FECE04EE}"/>
              </a:ext>
            </a:extLst>
          </p:cNvPr>
          <p:cNvPicPr>
            <a:picLocks noChangeAspect="1"/>
          </p:cNvPicPr>
          <p:nvPr/>
        </p:nvPicPr>
        <p:blipFill>
          <a:blip r:embed="rId3"/>
          <a:stretch>
            <a:fillRect/>
          </a:stretch>
        </p:blipFill>
        <p:spPr>
          <a:xfrm>
            <a:off x="827989" y="1384752"/>
            <a:ext cx="6149873" cy="2484335"/>
          </a:xfrm>
          <a:prstGeom prst="rect">
            <a:avLst/>
          </a:prstGeom>
        </p:spPr>
      </p:pic>
    </p:spTree>
    <p:extLst>
      <p:ext uri="{BB962C8B-B14F-4D97-AF65-F5344CB8AC3E}">
        <p14:creationId xmlns:p14="http://schemas.microsoft.com/office/powerpoint/2010/main" val="13984391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42</a:t>
            </a:fld>
            <a:endParaRPr lang="en-US" dirty="0"/>
          </a:p>
        </p:txBody>
      </p:sp>
      <p:sp>
        <p:nvSpPr>
          <p:cNvPr id="3" name="Title 1">
            <a:extLst>
              <a:ext uri="{FF2B5EF4-FFF2-40B4-BE49-F238E27FC236}">
                <a16:creationId xmlns:a16="http://schemas.microsoft.com/office/drawing/2014/main" id="{04523243-E4D6-45EC-97C8-D44398FB741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Rank Landing Outcomes Between 2010-06-04 and 2017-03-20</a:t>
            </a:r>
          </a:p>
        </p:txBody>
      </p:sp>
      <p:sp>
        <p:nvSpPr>
          <p:cNvPr id="2" name="Content Placeholder 4">
            <a:extLst>
              <a:ext uri="{FF2B5EF4-FFF2-40B4-BE49-F238E27FC236}">
                <a16:creationId xmlns:a16="http://schemas.microsoft.com/office/drawing/2014/main" id="{9FFE887A-37FA-5D34-C4C6-E32DF974D7A1}"/>
              </a:ext>
            </a:extLst>
          </p:cNvPr>
          <p:cNvSpPr txBox="1">
            <a:spLocks/>
          </p:cNvSpPr>
          <p:nvPr/>
        </p:nvSpPr>
        <p:spPr>
          <a:xfrm>
            <a:off x="5003179" y="1472611"/>
            <a:ext cx="6282431" cy="441523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A SELECT statement with COUNT function, WHERE clause using BETWEEN…AND operator, GROUP BY and ORDER BY clauses was utilized to identify records between June 4, 2010 and March 20, 2017 and show aggregated Landing Outcomes</a:t>
            </a:r>
          </a:p>
          <a:p>
            <a:pPr>
              <a:lnSpc>
                <a:spcPct val="100000"/>
              </a:lnSpc>
              <a:spcBef>
                <a:spcPts val="1400"/>
              </a:spcBef>
            </a:pPr>
            <a:r>
              <a:rPr lang="en-US" sz="2200" dirty="0">
                <a:solidFill>
                  <a:schemeClr val="accent3">
                    <a:lumMod val="25000"/>
                  </a:schemeClr>
                </a:solidFill>
                <a:latin typeface="Abadi" panose="020B0604020104020204" pitchFamily="34" charset="0"/>
              </a:rPr>
              <a:t>Landing Outcome categories were sorted by their respective counts in descending order</a:t>
            </a:r>
          </a:p>
        </p:txBody>
      </p:sp>
      <p:pic>
        <p:nvPicPr>
          <p:cNvPr id="7" name="Picture 6">
            <a:extLst>
              <a:ext uri="{FF2B5EF4-FFF2-40B4-BE49-F238E27FC236}">
                <a16:creationId xmlns:a16="http://schemas.microsoft.com/office/drawing/2014/main" id="{722A4E00-1F85-E137-AA82-E2C93ED5E9AC}"/>
              </a:ext>
            </a:extLst>
          </p:cNvPr>
          <p:cNvPicPr>
            <a:picLocks noChangeAspect="1"/>
          </p:cNvPicPr>
          <p:nvPr/>
        </p:nvPicPr>
        <p:blipFill>
          <a:blip r:embed="rId3"/>
          <a:stretch>
            <a:fillRect/>
          </a:stretch>
        </p:blipFill>
        <p:spPr>
          <a:xfrm>
            <a:off x="799747" y="1472610"/>
            <a:ext cx="3673158" cy="4846740"/>
          </a:xfrm>
          <a:prstGeom prst="rect">
            <a:avLst/>
          </a:prstGeom>
        </p:spPr>
      </p:pic>
    </p:spTree>
    <p:extLst>
      <p:ext uri="{BB962C8B-B14F-4D97-AF65-F5344CB8AC3E}">
        <p14:creationId xmlns:p14="http://schemas.microsoft.com/office/powerpoint/2010/main" val="39751684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B25EC16-0638-FF41-B7CF-E42224EF7FA1}"/>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3</a:t>
            </a:r>
          </a:p>
        </p:txBody>
      </p:sp>
    </p:spTree>
    <p:extLst>
      <p:ext uri="{BB962C8B-B14F-4D97-AF65-F5344CB8AC3E}">
        <p14:creationId xmlns:p14="http://schemas.microsoft.com/office/powerpoint/2010/main" val="10233524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44</a:t>
            </a:fld>
            <a:endParaRPr lang="en-US"/>
          </a:p>
        </p:txBody>
      </p:sp>
      <p:sp>
        <p:nvSpPr>
          <p:cNvPr id="2" name="Title 1">
            <a:extLst>
              <a:ext uri="{FF2B5EF4-FFF2-40B4-BE49-F238E27FC236}">
                <a16:creationId xmlns:a16="http://schemas.microsoft.com/office/drawing/2014/main" id="{54176327-8CC4-4356-8BBB-DC4965CE985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Sites Locations</a:t>
            </a:r>
          </a:p>
        </p:txBody>
      </p:sp>
      <p:grpSp>
        <p:nvGrpSpPr>
          <p:cNvPr id="95" name="Group 94">
            <a:extLst>
              <a:ext uri="{FF2B5EF4-FFF2-40B4-BE49-F238E27FC236}">
                <a16:creationId xmlns:a16="http://schemas.microsoft.com/office/drawing/2014/main" id="{38751AE1-5422-1BE9-9DC4-F599DD1ED44E}"/>
              </a:ext>
            </a:extLst>
          </p:cNvPr>
          <p:cNvGrpSpPr>
            <a:grpSpLocks noChangeAspect="1"/>
          </p:cNvGrpSpPr>
          <p:nvPr/>
        </p:nvGrpSpPr>
        <p:grpSpPr>
          <a:xfrm>
            <a:off x="892098" y="1398798"/>
            <a:ext cx="10036095" cy="4725729"/>
            <a:chOff x="944137" y="1366227"/>
            <a:chExt cx="7344936" cy="3458534"/>
          </a:xfrm>
        </p:grpSpPr>
        <p:pic>
          <p:nvPicPr>
            <p:cNvPr id="6" name="Picture 5">
              <a:extLst>
                <a:ext uri="{FF2B5EF4-FFF2-40B4-BE49-F238E27FC236}">
                  <a16:creationId xmlns:a16="http://schemas.microsoft.com/office/drawing/2014/main" id="{B706711B-E01C-B305-DF78-FD66FED8E9B5}"/>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944137" y="1366227"/>
              <a:ext cx="7344936" cy="3458534"/>
            </a:xfrm>
            <a:prstGeom prst="rect">
              <a:avLst/>
            </a:prstGeom>
          </p:spPr>
        </p:pic>
        <p:cxnSp>
          <p:nvCxnSpPr>
            <p:cNvPr id="10" name="Straight Connector 9">
              <a:extLst>
                <a:ext uri="{FF2B5EF4-FFF2-40B4-BE49-F238E27FC236}">
                  <a16:creationId xmlns:a16="http://schemas.microsoft.com/office/drawing/2014/main" id="{4490CEE2-2EDA-B7C5-EE9E-26BF23A38F4B}"/>
                </a:ext>
              </a:extLst>
            </p:cNvPr>
            <p:cNvCxnSpPr>
              <a:cxnSpLocks/>
              <a:stCxn id="57" idx="3"/>
              <a:endCxn id="19" idx="3"/>
            </p:cNvCxnSpPr>
            <p:nvPr/>
          </p:nvCxnSpPr>
          <p:spPr>
            <a:xfrm flipV="1">
              <a:off x="7487835" y="3299949"/>
              <a:ext cx="336418" cy="62383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DB49DC4-61A5-A617-A005-9614B57F11B1}"/>
                </a:ext>
              </a:extLst>
            </p:cNvPr>
            <p:cNvCxnSpPr>
              <a:cxnSpLocks/>
              <a:stCxn id="57" idx="0"/>
              <a:endCxn id="19" idx="0"/>
            </p:cNvCxnSpPr>
            <p:nvPr/>
          </p:nvCxnSpPr>
          <p:spPr>
            <a:xfrm flipV="1">
              <a:off x="5679533" y="3100039"/>
              <a:ext cx="2266431" cy="5125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9B18BDAE-B131-29C2-EE4F-6303961759BC}"/>
                </a:ext>
              </a:extLst>
            </p:cNvPr>
            <p:cNvSpPr/>
            <p:nvPr/>
          </p:nvSpPr>
          <p:spPr>
            <a:xfrm>
              <a:off x="7773839" y="3100039"/>
              <a:ext cx="344249" cy="234209"/>
            </a:xfrm>
            <a:prstGeom prst="ellipse">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D67CE19-6678-E9C0-B2EE-686238795184}"/>
                </a:ext>
              </a:extLst>
            </p:cNvPr>
            <p:cNvSpPr/>
            <p:nvPr/>
          </p:nvSpPr>
          <p:spPr>
            <a:xfrm>
              <a:off x="1131429" y="1933524"/>
              <a:ext cx="344249" cy="234209"/>
            </a:xfrm>
            <a:prstGeom prst="ellipse">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D3651F17-8FC7-6769-6331-E6895ECDF69C}"/>
                </a:ext>
              </a:extLst>
            </p:cNvPr>
            <p:cNvCxnSpPr>
              <a:cxnSpLocks/>
              <a:stCxn id="34" idx="6"/>
              <a:endCxn id="52" idx="0"/>
            </p:cNvCxnSpPr>
            <p:nvPr/>
          </p:nvCxnSpPr>
          <p:spPr>
            <a:xfrm>
              <a:off x="1475678" y="2050629"/>
              <a:ext cx="319247" cy="5791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D2ADB08-9B92-B117-5A65-A86742E399A4}"/>
                </a:ext>
              </a:extLst>
            </p:cNvPr>
            <p:cNvCxnSpPr>
              <a:cxnSpLocks/>
              <a:stCxn id="34" idx="2"/>
              <a:endCxn id="52" idx="1"/>
            </p:cNvCxnSpPr>
            <p:nvPr/>
          </p:nvCxnSpPr>
          <p:spPr>
            <a:xfrm>
              <a:off x="1131429" y="2050629"/>
              <a:ext cx="98855" cy="61221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52" name="Picture 51">
              <a:extLst>
                <a:ext uri="{FF2B5EF4-FFF2-40B4-BE49-F238E27FC236}">
                  <a16:creationId xmlns:a16="http://schemas.microsoft.com/office/drawing/2014/main" id="{D1E242F5-8379-D716-10A2-6673EA52DB4C}"/>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230284" y="2108541"/>
              <a:ext cx="1129282" cy="1108602"/>
            </a:xfrm>
            <a:prstGeom prst="roundRect">
              <a:avLst>
                <a:gd name="adj" fmla="val 50000"/>
              </a:avLst>
            </a:prstGeom>
            <a:ln w="9525">
              <a:solidFill>
                <a:schemeClr val="tx1"/>
              </a:solidFill>
            </a:ln>
          </p:spPr>
        </p:pic>
        <p:pic>
          <p:nvPicPr>
            <p:cNvPr id="57" name="Picture 56">
              <a:extLst>
                <a:ext uri="{FF2B5EF4-FFF2-40B4-BE49-F238E27FC236}">
                  <a16:creationId xmlns:a16="http://schemas.microsoft.com/office/drawing/2014/main" id="{03F3D33D-5801-A19B-D473-0D1E9A77A484}"/>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871230" y="3151293"/>
              <a:ext cx="3616605" cy="1544973"/>
            </a:xfrm>
            <a:prstGeom prst="roundRect">
              <a:avLst>
                <a:gd name="adj" fmla="val 50000"/>
              </a:avLst>
            </a:prstGeom>
            <a:ln w="9525">
              <a:solidFill>
                <a:schemeClr val="tx1"/>
              </a:solidFill>
            </a:ln>
          </p:spPr>
        </p:pic>
      </p:grpSp>
    </p:spTree>
    <p:extLst>
      <p:ext uri="{BB962C8B-B14F-4D97-AF65-F5344CB8AC3E}">
        <p14:creationId xmlns:p14="http://schemas.microsoft.com/office/powerpoint/2010/main" val="9816717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45</a:t>
            </a:fld>
            <a:endParaRPr lang="en-US"/>
          </a:p>
        </p:txBody>
      </p:sp>
      <p:sp>
        <p:nvSpPr>
          <p:cNvPr id="5" name="Content Placeholder 4">
            <a:extLst>
              <a:ext uri="{FF2B5EF4-FFF2-40B4-BE49-F238E27FC236}">
                <a16:creationId xmlns:a16="http://schemas.microsoft.com/office/drawing/2014/main" id="{85D9F803-CDBC-C74C-AF1B-2B5937D1C241}"/>
              </a:ext>
            </a:extLst>
          </p:cNvPr>
          <p:cNvSpPr>
            <a:spLocks noGrp="1"/>
          </p:cNvSpPr>
          <p:nvPr>
            <p:ph idx="4294967295"/>
          </p:nvPr>
        </p:nvSpPr>
        <p:spPr>
          <a:xfrm>
            <a:off x="810325" y="4512275"/>
            <a:ext cx="11121480" cy="1680368"/>
          </a:xfrm>
          <a:prstGeom prst="rect">
            <a:avLst/>
          </a:prstGeom>
        </p:spPr>
        <p:txBody>
          <a:bodyPr lIns="91440" tIns="45720" rIns="91440" bIns="45720" anchor="t">
            <a:normAutofit fontScale="77500" lnSpcReduction="20000"/>
          </a:bodyPr>
          <a:lstStyle/>
          <a:p>
            <a:pPr>
              <a:lnSpc>
                <a:spcPct val="100000"/>
              </a:lnSpc>
              <a:spcBef>
                <a:spcPts val="1400"/>
              </a:spcBef>
            </a:pPr>
            <a:r>
              <a:rPr lang="en-US" sz="2200" dirty="0">
                <a:solidFill>
                  <a:schemeClr val="accent3">
                    <a:lumMod val="25000"/>
                  </a:schemeClr>
                </a:solidFill>
                <a:latin typeface="Abadi"/>
              </a:rPr>
              <a:t>Launch Sites are located close to the shore for safety reasons (rockets are launched towards the ocean to avoid inhabited areas)</a:t>
            </a:r>
          </a:p>
          <a:p>
            <a:pPr>
              <a:lnSpc>
                <a:spcPct val="100000"/>
              </a:lnSpc>
              <a:spcBef>
                <a:spcPts val="1400"/>
              </a:spcBef>
            </a:pPr>
            <a:r>
              <a:rPr lang="en-US" sz="2200" dirty="0">
                <a:solidFill>
                  <a:schemeClr val="accent3">
                    <a:lumMod val="25000"/>
                  </a:schemeClr>
                </a:solidFill>
                <a:latin typeface="Abadi"/>
              </a:rPr>
              <a:t>CCAFS LC-40 and CCAFS SLC-40 refer to the same Launch Site</a:t>
            </a:r>
          </a:p>
          <a:p>
            <a:pPr>
              <a:lnSpc>
                <a:spcPct val="100000"/>
              </a:lnSpc>
              <a:spcBef>
                <a:spcPts val="1400"/>
              </a:spcBef>
            </a:pPr>
            <a:r>
              <a:rPr lang="en-US" sz="2200" dirty="0">
                <a:solidFill>
                  <a:schemeClr val="accent3">
                    <a:lumMod val="25000"/>
                  </a:schemeClr>
                </a:solidFill>
                <a:latin typeface="Abadi"/>
              </a:rPr>
              <a:t>Most Launch sites (2/3) are located on the east coast to benefit the Eastward Boost (Earth’s rotation)</a:t>
            </a:r>
          </a:p>
          <a:p>
            <a:pPr>
              <a:lnSpc>
                <a:spcPct val="100000"/>
              </a:lnSpc>
              <a:spcBef>
                <a:spcPts val="1400"/>
              </a:spcBef>
            </a:pPr>
            <a:r>
              <a:rPr lang="en-US" sz="2200" dirty="0">
                <a:solidFill>
                  <a:schemeClr val="accent3">
                    <a:lumMod val="25000"/>
                  </a:schemeClr>
                </a:solidFill>
                <a:latin typeface="Abadi"/>
              </a:rPr>
              <a:t>VAFB launch site is located on the west coast since it launches South to Polar Orbits </a:t>
            </a:r>
            <a:endParaRPr lang="en-US" dirty="0"/>
          </a:p>
        </p:txBody>
      </p:sp>
      <p:sp>
        <p:nvSpPr>
          <p:cNvPr id="2" name="Title 1">
            <a:extLst>
              <a:ext uri="{FF2B5EF4-FFF2-40B4-BE49-F238E27FC236}">
                <a16:creationId xmlns:a16="http://schemas.microsoft.com/office/drawing/2014/main" id="{54176327-8CC4-4356-8BBB-DC4965CE985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Sites Locations</a:t>
            </a:r>
          </a:p>
        </p:txBody>
      </p:sp>
      <p:grpSp>
        <p:nvGrpSpPr>
          <p:cNvPr id="95" name="Group 94">
            <a:extLst>
              <a:ext uri="{FF2B5EF4-FFF2-40B4-BE49-F238E27FC236}">
                <a16:creationId xmlns:a16="http://schemas.microsoft.com/office/drawing/2014/main" id="{38751AE1-5422-1BE9-9DC4-F599DD1ED44E}"/>
              </a:ext>
            </a:extLst>
          </p:cNvPr>
          <p:cNvGrpSpPr/>
          <p:nvPr/>
        </p:nvGrpSpPr>
        <p:grpSpPr>
          <a:xfrm>
            <a:off x="810325" y="1428535"/>
            <a:ext cx="5754026" cy="2630509"/>
            <a:chOff x="944137" y="1366227"/>
            <a:chExt cx="7344936" cy="3458534"/>
          </a:xfrm>
        </p:grpSpPr>
        <p:pic>
          <p:nvPicPr>
            <p:cNvPr id="6" name="Picture 5">
              <a:extLst>
                <a:ext uri="{FF2B5EF4-FFF2-40B4-BE49-F238E27FC236}">
                  <a16:creationId xmlns:a16="http://schemas.microsoft.com/office/drawing/2014/main" id="{B706711B-E01C-B305-DF78-FD66FED8E9B5}"/>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944137" y="1366227"/>
              <a:ext cx="7344936" cy="3458534"/>
            </a:xfrm>
            <a:prstGeom prst="rect">
              <a:avLst/>
            </a:prstGeom>
          </p:spPr>
        </p:pic>
        <p:cxnSp>
          <p:nvCxnSpPr>
            <p:cNvPr id="10" name="Straight Connector 9">
              <a:extLst>
                <a:ext uri="{FF2B5EF4-FFF2-40B4-BE49-F238E27FC236}">
                  <a16:creationId xmlns:a16="http://schemas.microsoft.com/office/drawing/2014/main" id="{4490CEE2-2EDA-B7C5-EE9E-26BF23A38F4B}"/>
                </a:ext>
              </a:extLst>
            </p:cNvPr>
            <p:cNvCxnSpPr>
              <a:cxnSpLocks/>
              <a:stCxn id="57" idx="3"/>
              <a:endCxn id="19" idx="3"/>
            </p:cNvCxnSpPr>
            <p:nvPr/>
          </p:nvCxnSpPr>
          <p:spPr>
            <a:xfrm flipV="1">
              <a:off x="7487835" y="3299949"/>
              <a:ext cx="336418" cy="62383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DB49DC4-61A5-A617-A005-9614B57F11B1}"/>
                </a:ext>
              </a:extLst>
            </p:cNvPr>
            <p:cNvCxnSpPr>
              <a:cxnSpLocks/>
              <a:stCxn id="57" idx="0"/>
              <a:endCxn id="19" idx="0"/>
            </p:cNvCxnSpPr>
            <p:nvPr/>
          </p:nvCxnSpPr>
          <p:spPr>
            <a:xfrm flipV="1">
              <a:off x="5659286" y="3100039"/>
              <a:ext cx="2286678" cy="5125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9B18BDAE-B131-29C2-EE4F-6303961759BC}"/>
                </a:ext>
              </a:extLst>
            </p:cNvPr>
            <p:cNvSpPr/>
            <p:nvPr/>
          </p:nvSpPr>
          <p:spPr>
            <a:xfrm>
              <a:off x="7773839" y="3100039"/>
              <a:ext cx="344249" cy="234209"/>
            </a:xfrm>
            <a:prstGeom prst="ellipse">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D67CE19-6678-E9C0-B2EE-686238795184}"/>
                </a:ext>
              </a:extLst>
            </p:cNvPr>
            <p:cNvSpPr/>
            <p:nvPr/>
          </p:nvSpPr>
          <p:spPr>
            <a:xfrm>
              <a:off x="1131429" y="1933524"/>
              <a:ext cx="344249" cy="234209"/>
            </a:xfrm>
            <a:prstGeom prst="ellipse">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D3651F17-8FC7-6769-6331-E6895ECDF69C}"/>
                </a:ext>
              </a:extLst>
            </p:cNvPr>
            <p:cNvCxnSpPr>
              <a:cxnSpLocks/>
              <a:stCxn id="34" idx="6"/>
              <a:endCxn id="52" idx="0"/>
            </p:cNvCxnSpPr>
            <p:nvPr/>
          </p:nvCxnSpPr>
          <p:spPr>
            <a:xfrm>
              <a:off x="1475678" y="2050629"/>
              <a:ext cx="319247" cy="5791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D2ADB08-9B92-B117-5A65-A86742E399A4}"/>
                </a:ext>
              </a:extLst>
            </p:cNvPr>
            <p:cNvCxnSpPr>
              <a:cxnSpLocks/>
              <a:stCxn id="34" idx="2"/>
              <a:endCxn id="52" idx="1"/>
            </p:cNvCxnSpPr>
            <p:nvPr/>
          </p:nvCxnSpPr>
          <p:spPr>
            <a:xfrm>
              <a:off x="1131429" y="2050629"/>
              <a:ext cx="98855" cy="61221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52" name="Picture 51">
              <a:extLst>
                <a:ext uri="{FF2B5EF4-FFF2-40B4-BE49-F238E27FC236}">
                  <a16:creationId xmlns:a16="http://schemas.microsoft.com/office/drawing/2014/main" id="{D1E242F5-8379-D716-10A2-6673EA52DB4C}"/>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230284" y="2108541"/>
              <a:ext cx="1129282" cy="1108602"/>
            </a:xfrm>
            <a:prstGeom prst="roundRect">
              <a:avLst>
                <a:gd name="adj" fmla="val 50000"/>
              </a:avLst>
            </a:prstGeom>
            <a:ln w="9525">
              <a:solidFill>
                <a:schemeClr val="tx1"/>
              </a:solidFill>
            </a:ln>
          </p:spPr>
        </p:pic>
        <p:pic>
          <p:nvPicPr>
            <p:cNvPr id="57" name="Picture 56">
              <a:extLst>
                <a:ext uri="{FF2B5EF4-FFF2-40B4-BE49-F238E27FC236}">
                  <a16:creationId xmlns:a16="http://schemas.microsoft.com/office/drawing/2014/main" id="{03F3D33D-5801-A19B-D473-0D1E9A77A484}"/>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830737" y="3151293"/>
              <a:ext cx="3657098" cy="1544973"/>
            </a:xfrm>
            <a:prstGeom prst="roundRect">
              <a:avLst>
                <a:gd name="adj" fmla="val 50000"/>
              </a:avLst>
            </a:prstGeom>
            <a:ln w="9525">
              <a:solidFill>
                <a:schemeClr val="tx1"/>
              </a:solidFill>
            </a:ln>
          </p:spPr>
        </p:pic>
      </p:grpSp>
      <p:sp>
        <p:nvSpPr>
          <p:cNvPr id="98" name="Content Placeholder 4">
            <a:extLst>
              <a:ext uri="{FF2B5EF4-FFF2-40B4-BE49-F238E27FC236}">
                <a16:creationId xmlns:a16="http://schemas.microsoft.com/office/drawing/2014/main" id="{844E3BBC-2A2B-510E-6176-10ACE4F55AD1}"/>
              </a:ext>
            </a:extLst>
          </p:cNvPr>
          <p:cNvSpPr txBox="1">
            <a:spLocks/>
          </p:cNvSpPr>
          <p:nvPr/>
        </p:nvSpPr>
        <p:spPr>
          <a:xfrm>
            <a:off x="7089177" y="1428535"/>
            <a:ext cx="4995027" cy="2532777"/>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400"/>
              </a:spcBef>
              <a:buNone/>
            </a:pPr>
            <a:r>
              <a:rPr lang="en-US" sz="2200" dirty="0">
                <a:solidFill>
                  <a:schemeClr val="accent3">
                    <a:lumMod val="25000"/>
                  </a:schemeClr>
                </a:solidFill>
                <a:latin typeface="Abadi"/>
              </a:rPr>
              <a:t>Launch Sites are highlighted with:</a:t>
            </a:r>
          </a:p>
          <a:p>
            <a:pPr>
              <a:lnSpc>
                <a:spcPct val="100000"/>
              </a:lnSpc>
              <a:spcBef>
                <a:spcPts val="1400"/>
              </a:spcBef>
            </a:pPr>
            <a:r>
              <a:rPr lang="en-US" sz="2200" dirty="0">
                <a:solidFill>
                  <a:schemeClr val="accent3">
                    <a:lumMod val="25000"/>
                  </a:schemeClr>
                </a:solidFill>
                <a:latin typeface="Abadi"/>
              </a:rPr>
              <a:t>Red Circles (1km radius) with pop-up (site name)</a:t>
            </a:r>
          </a:p>
          <a:p>
            <a:pPr>
              <a:lnSpc>
                <a:spcPct val="100000"/>
              </a:lnSpc>
              <a:spcBef>
                <a:spcPts val="1400"/>
              </a:spcBef>
            </a:pPr>
            <a:r>
              <a:rPr lang="en-US" sz="2200" dirty="0">
                <a:solidFill>
                  <a:schemeClr val="accent3">
                    <a:lumMod val="25000"/>
                  </a:schemeClr>
                </a:solidFill>
                <a:latin typeface="Abadi"/>
              </a:rPr>
              <a:t>Red Markers with the site names</a:t>
            </a:r>
          </a:p>
        </p:txBody>
      </p:sp>
    </p:spTree>
    <p:extLst>
      <p:ext uri="{BB962C8B-B14F-4D97-AF65-F5344CB8AC3E}">
        <p14:creationId xmlns:p14="http://schemas.microsoft.com/office/powerpoint/2010/main" val="39937116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46</a:t>
            </a:fld>
            <a:endParaRPr lang="en-US"/>
          </a:p>
        </p:txBody>
      </p:sp>
      <p:sp>
        <p:nvSpPr>
          <p:cNvPr id="8" name="Title 1">
            <a:extLst>
              <a:ext uri="{FF2B5EF4-FFF2-40B4-BE49-F238E27FC236}">
                <a16:creationId xmlns:a16="http://schemas.microsoft.com/office/drawing/2014/main" id="{2E0ECA32-E146-40DA-85CD-9677244BC3E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Outcomes Success / Failure</a:t>
            </a:r>
          </a:p>
        </p:txBody>
      </p:sp>
      <p:pic>
        <p:nvPicPr>
          <p:cNvPr id="4" name="Picture 3">
            <a:extLst>
              <a:ext uri="{FF2B5EF4-FFF2-40B4-BE49-F238E27FC236}">
                <a16:creationId xmlns:a16="http://schemas.microsoft.com/office/drawing/2014/main" id="{35176E5F-5FA6-45A4-C500-6394E8C6DF27}"/>
              </a:ext>
            </a:extLst>
          </p:cNvPr>
          <p:cNvPicPr>
            <a:picLocks noChangeAspect="1"/>
          </p:cNvPicPr>
          <p:nvPr/>
        </p:nvPicPr>
        <p:blipFill>
          <a:blip r:embed="rId3"/>
          <a:stretch>
            <a:fillRect/>
          </a:stretch>
        </p:blipFill>
        <p:spPr>
          <a:xfrm>
            <a:off x="963565" y="1389606"/>
            <a:ext cx="10418823" cy="4645952"/>
          </a:xfrm>
          <a:prstGeom prst="rect">
            <a:avLst/>
          </a:prstGeom>
        </p:spPr>
      </p:pic>
      <p:pic>
        <p:nvPicPr>
          <p:cNvPr id="7" name="Picture 6">
            <a:extLst>
              <a:ext uri="{FF2B5EF4-FFF2-40B4-BE49-F238E27FC236}">
                <a16:creationId xmlns:a16="http://schemas.microsoft.com/office/drawing/2014/main" id="{63100129-4651-AB5E-A3A8-8D105093A0AC}"/>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6193888" y="1552754"/>
            <a:ext cx="2520884" cy="2012748"/>
          </a:xfrm>
          <a:prstGeom prst="roundRect">
            <a:avLst>
              <a:gd name="adj" fmla="val 31464"/>
            </a:avLst>
          </a:prstGeom>
          <a:ln w="9525">
            <a:solidFill>
              <a:schemeClr val="tx1"/>
            </a:solidFill>
          </a:ln>
        </p:spPr>
      </p:pic>
      <p:cxnSp>
        <p:nvCxnSpPr>
          <p:cNvPr id="10" name="Straight Connector 9">
            <a:extLst>
              <a:ext uri="{FF2B5EF4-FFF2-40B4-BE49-F238E27FC236}">
                <a16:creationId xmlns:a16="http://schemas.microsoft.com/office/drawing/2014/main" id="{E3D29A82-F36C-1AA6-5B82-970488C39BB4}"/>
              </a:ext>
            </a:extLst>
          </p:cNvPr>
          <p:cNvCxnSpPr>
            <a:cxnSpLocks/>
            <a:stCxn id="7" idx="3"/>
            <a:endCxn id="11" idx="0"/>
          </p:cNvCxnSpPr>
          <p:nvPr/>
        </p:nvCxnSpPr>
        <p:spPr>
          <a:xfrm>
            <a:off x="8714772" y="2559128"/>
            <a:ext cx="399017" cy="98845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C93CBF39-6E3D-2A5D-E184-E8B44D984BA2}"/>
              </a:ext>
            </a:extLst>
          </p:cNvPr>
          <p:cNvSpPr/>
          <p:nvPr/>
        </p:nvSpPr>
        <p:spPr>
          <a:xfrm>
            <a:off x="8878598" y="3547578"/>
            <a:ext cx="470381" cy="320022"/>
          </a:xfrm>
          <a:prstGeom prst="ellipse">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58CCC186-52AE-3FA5-0A93-810D2A8EA594}"/>
              </a:ext>
            </a:extLst>
          </p:cNvPr>
          <p:cNvCxnSpPr>
            <a:cxnSpLocks/>
            <a:stCxn id="7" idx="2"/>
            <a:endCxn id="11" idx="2"/>
          </p:cNvCxnSpPr>
          <p:nvPr/>
        </p:nvCxnSpPr>
        <p:spPr>
          <a:xfrm>
            <a:off x="7454330" y="3565502"/>
            <a:ext cx="1424268" cy="14208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5978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47</a:t>
            </a:fld>
            <a:endParaRPr lang="en-US"/>
          </a:p>
        </p:txBody>
      </p:sp>
      <p:sp>
        <p:nvSpPr>
          <p:cNvPr id="8" name="Title 1">
            <a:extLst>
              <a:ext uri="{FF2B5EF4-FFF2-40B4-BE49-F238E27FC236}">
                <a16:creationId xmlns:a16="http://schemas.microsoft.com/office/drawing/2014/main" id="{2E0ECA32-E146-40DA-85CD-9677244BC3E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Outcomes Success / Failure</a:t>
            </a:r>
          </a:p>
        </p:txBody>
      </p:sp>
      <p:grpSp>
        <p:nvGrpSpPr>
          <p:cNvPr id="2" name="Group 1">
            <a:extLst>
              <a:ext uri="{FF2B5EF4-FFF2-40B4-BE49-F238E27FC236}">
                <a16:creationId xmlns:a16="http://schemas.microsoft.com/office/drawing/2014/main" id="{AB73B633-598E-F019-FBE7-7D3759ECCD5D}"/>
              </a:ext>
            </a:extLst>
          </p:cNvPr>
          <p:cNvGrpSpPr>
            <a:grpSpLocks noChangeAspect="1"/>
          </p:cNvGrpSpPr>
          <p:nvPr/>
        </p:nvGrpSpPr>
        <p:grpSpPr>
          <a:xfrm>
            <a:off x="829751" y="1375316"/>
            <a:ext cx="6035091" cy="2691162"/>
            <a:chOff x="963565" y="1389606"/>
            <a:chExt cx="10418823" cy="4645952"/>
          </a:xfrm>
        </p:grpSpPr>
        <p:pic>
          <p:nvPicPr>
            <p:cNvPr id="4" name="Picture 3">
              <a:extLst>
                <a:ext uri="{FF2B5EF4-FFF2-40B4-BE49-F238E27FC236}">
                  <a16:creationId xmlns:a16="http://schemas.microsoft.com/office/drawing/2014/main" id="{35176E5F-5FA6-45A4-C500-6394E8C6DF2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63565" y="1389606"/>
              <a:ext cx="10418823" cy="4645952"/>
            </a:xfrm>
            <a:prstGeom prst="rect">
              <a:avLst/>
            </a:prstGeom>
          </p:spPr>
        </p:pic>
        <p:pic>
          <p:nvPicPr>
            <p:cNvPr id="7" name="Picture 6">
              <a:extLst>
                <a:ext uri="{FF2B5EF4-FFF2-40B4-BE49-F238E27FC236}">
                  <a16:creationId xmlns:a16="http://schemas.microsoft.com/office/drawing/2014/main" id="{63100129-4651-AB5E-A3A8-8D105093A0AC}"/>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6193888" y="1552754"/>
              <a:ext cx="2520884" cy="2012748"/>
            </a:xfrm>
            <a:prstGeom prst="roundRect">
              <a:avLst>
                <a:gd name="adj" fmla="val 31464"/>
              </a:avLst>
            </a:prstGeom>
            <a:ln w="9525">
              <a:solidFill>
                <a:schemeClr val="tx1"/>
              </a:solidFill>
            </a:ln>
          </p:spPr>
        </p:pic>
        <p:cxnSp>
          <p:nvCxnSpPr>
            <p:cNvPr id="10" name="Straight Connector 9">
              <a:extLst>
                <a:ext uri="{FF2B5EF4-FFF2-40B4-BE49-F238E27FC236}">
                  <a16:creationId xmlns:a16="http://schemas.microsoft.com/office/drawing/2014/main" id="{E3D29A82-F36C-1AA6-5B82-970488C39BB4}"/>
                </a:ext>
              </a:extLst>
            </p:cNvPr>
            <p:cNvCxnSpPr>
              <a:cxnSpLocks/>
              <a:stCxn id="7" idx="3"/>
              <a:endCxn id="11" idx="0"/>
            </p:cNvCxnSpPr>
            <p:nvPr/>
          </p:nvCxnSpPr>
          <p:spPr>
            <a:xfrm>
              <a:off x="8714772" y="2559128"/>
              <a:ext cx="399017" cy="98845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C93CBF39-6E3D-2A5D-E184-E8B44D984BA2}"/>
                </a:ext>
              </a:extLst>
            </p:cNvPr>
            <p:cNvSpPr/>
            <p:nvPr/>
          </p:nvSpPr>
          <p:spPr>
            <a:xfrm>
              <a:off x="8878598" y="3547578"/>
              <a:ext cx="470381" cy="320022"/>
            </a:xfrm>
            <a:prstGeom prst="ellipse">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58CCC186-52AE-3FA5-0A93-810D2A8EA594}"/>
                </a:ext>
              </a:extLst>
            </p:cNvPr>
            <p:cNvCxnSpPr>
              <a:cxnSpLocks/>
              <a:stCxn id="7" idx="2"/>
              <a:endCxn id="11" idx="2"/>
            </p:cNvCxnSpPr>
            <p:nvPr/>
          </p:nvCxnSpPr>
          <p:spPr>
            <a:xfrm>
              <a:off x="7454330" y="3565502"/>
              <a:ext cx="1424268" cy="14208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5" name="Content Placeholder 4">
            <a:extLst>
              <a:ext uri="{FF2B5EF4-FFF2-40B4-BE49-F238E27FC236}">
                <a16:creationId xmlns:a16="http://schemas.microsoft.com/office/drawing/2014/main" id="{3D1440CB-23A8-F2D9-FAC9-5844EBFA2F3F}"/>
              </a:ext>
            </a:extLst>
          </p:cNvPr>
          <p:cNvSpPr txBox="1">
            <a:spLocks/>
          </p:cNvSpPr>
          <p:nvPr/>
        </p:nvSpPr>
        <p:spPr>
          <a:xfrm>
            <a:off x="7089177" y="1428535"/>
            <a:ext cx="4995027" cy="2532777"/>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For each launch, a marker was created (green – success, red - failure)</a:t>
            </a:r>
          </a:p>
          <a:p>
            <a:pPr>
              <a:lnSpc>
                <a:spcPct val="100000"/>
              </a:lnSpc>
              <a:spcBef>
                <a:spcPts val="1400"/>
              </a:spcBef>
            </a:pPr>
            <a:r>
              <a:rPr lang="en-US" sz="2200" dirty="0">
                <a:solidFill>
                  <a:schemeClr val="accent3">
                    <a:lumMod val="25000"/>
                  </a:schemeClr>
                </a:solidFill>
                <a:latin typeface="Abadi"/>
              </a:rPr>
              <a:t>Many markers share the same location. To improve visibility, markers have been added/grouped to dynamic MarkerCluster object</a:t>
            </a:r>
          </a:p>
        </p:txBody>
      </p:sp>
      <p:sp>
        <p:nvSpPr>
          <p:cNvPr id="6" name="Content Placeholder 4">
            <a:extLst>
              <a:ext uri="{FF2B5EF4-FFF2-40B4-BE49-F238E27FC236}">
                <a16:creationId xmlns:a16="http://schemas.microsoft.com/office/drawing/2014/main" id="{C0F1DAB3-F142-B296-C65E-54F153DFB0B7}"/>
              </a:ext>
            </a:extLst>
          </p:cNvPr>
          <p:cNvSpPr txBox="1">
            <a:spLocks/>
          </p:cNvSpPr>
          <p:nvPr/>
        </p:nvSpPr>
        <p:spPr>
          <a:xfrm>
            <a:off x="829751" y="4544252"/>
            <a:ext cx="10515600" cy="1586487"/>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Most launches are performed from the Launch Sites on the east coast</a:t>
            </a:r>
          </a:p>
          <a:p>
            <a:pPr>
              <a:lnSpc>
                <a:spcPct val="100000"/>
              </a:lnSpc>
              <a:spcBef>
                <a:spcPts val="1400"/>
              </a:spcBef>
            </a:pPr>
            <a:r>
              <a:rPr lang="en-US" sz="2200" dirty="0">
                <a:solidFill>
                  <a:schemeClr val="accent3">
                    <a:lumMod val="25000"/>
                  </a:schemeClr>
                </a:solidFill>
                <a:latin typeface="Abadi"/>
              </a:rPr>
              <a:t>The most frequented launch site is CCAFS SLC-40 with 26 lunches and the lowest success ratio of landing success</a:t>
            </a:r>
          </a:p>
        </p:txBody>
      </p:sp>
    </p:spTree>
    <p:extLst>
      <p:ext uri="{BB962C8B-B14F-4D97-AF65-F5344CB8AC3E}">
        <p14:creationId xmlns:p14="http://schemas.microsoft.com/office/powerpoint/2010/main" val="796231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48</a:t>
            </a:fld>
            <a:endParaRPr lang="en-US" dirty="0"/>
          </a:p>
        </p:txBody>
      </p:sp>
      <p:sp>
        <p:nvSpPr>
          <p:cNvPr id="8" name="Title 1">
            <a:extLst>
              <a:ext uri="{FF2B5EF4-FFF2-40B4-BE49-F238E27FC236}">
                <a16:creationId xmlns:a16="http://schemas.microsoft.com/office/drawing/2014/main" id="{34C97452-C78A-4701-B8AB-ABFE63D5BED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VAFB SLC-4E Launch Site Proximities</a:t>
            </a:r>
          </a:p>
        </p:txBody>
      </p:sp>
      <p:grpSp>
        <p:nvGrpSpPr>
          <p:cNvPr id="41" name="Group 40">
            <a:extLst>
              <a:ext uri="{FF2B5EF4-FFF2-40B4-BE49-F238E27FC236}">
                <a16:creationId xmlns:a16="http://schemas.microsoft.com/office/drawing/2014/main" id="{11D386FC-931B-AA87-DD44-63BC9D213E96}"/>
              </a:ext>
            </a:extLst>
          </p:cNvPr>
          <p:cNvGrpSpPr/>
          <p:nvPr/>
        </p:nvGrpSpPr>
        <p:grpSpPr>
          <a:xfrm>
            <a:off x="970823" y="1401691"/>
            <a:ext cx="10250354" cy="4621626"/>
            <a:chOff x="970823" y="1401691"/>
            <a:chExt cx="10250354" cy="4621626"/>
          </a:xfrm>
        </p:grpSpPr>
        <p:pic>
          <p:nvPicPr>
            <p:cNvPr id="12" name="Picture 11">
              <a:extLst>
                <a:ext uri="{FF2B5EF4-FFF2-40B4-BE49-F238E27FC236}">
                  <a16:creationId xmlns:a16="http://schemas.microsoft.com/office/drawing/2014/main" id="{06E6F56D-936A-3C04-DFA5-4B7F2E5056A4}"/>
                </a:ext>
              </a:extLst>
            </p:cNvPr>
            <p:cNvPicPr>
              <a:picLocks noChangeAspect="1"/>
            </p:cNvPicPr>
            <p:nvPr/>
          </p:nvPicPr>
          <p:blipFill>
            <a:blip r:embed="rId3"/>
            <a:stretch>
              <a:fillRect/>
            </a:stretch>
          </p:blipFill>
          <p:spPr>
            <a:xfrm>
              <a:off x="970823" y="1401691"/>
              <a:ext cx="10250354" cy="4621626"/>
            </a:xfrm>
            <a:prstGeom prst="rect">
              <a:avLst/>
            </a:prstGeom>
          </p:spPr>
        </p:pic>
        <p:pic>
          <p:nvPicPr>
            <p:cNvPr id="16" name="Picture 15">
              <a:extLst>
                <a:ext uri="{FF2B5EF4-FFF2-40B4-BE49-F238E27FC236}">
                  <a16:creationId xmlns:a16="http://schemas.microsoft.com/office/drawing/2014/main" id="{3A9F0792-E976-304D-723D-5EA00505CEDE}"/>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665267" y="4505093"/>
              <a:ext cx="2823380" cy="1414927"/>
            </a:xfrm>
            <a:prstGeom prst="roundRect">
              <a:avLst>
                <a:gd name="adj" fmla="val 31247"/>
              </a:avLst>
            </a:prstGeom>
            <a:ln w="9525">
              <a:solidFill>
                <a:schemeClr val="tx1"/>
              </a:solidFill>
            </a:ln>
          </p:spPr>
        </p:pic>
        <p:cxnSp>
          <p:nvCxnSpPr>
            <p:cNvPr id="17" name="Straight Connector 16">
              <a:extLst>
                <a:ext uri="{FF2B5EF4-FFF2-40B4-BE49-F238E27FC236}">
                  <a16:creationId xmlns:a16="http://schemas.microsoft.com/office/drawing/2014/main" id="{49CA5D1E-5F82-F214-7C73-C61CFB9A4B15}"/>
                </a:ext>
              </a:extLst>
            </p:cNvPr>
            <p:cNvCxnSpPr>
              <a:cxnSpLocks/>
              <a:stCxn id="18" idx="6"/>
              <a:endCxn id="16" idx="0"/>
            </p:cNvCxnSpPr>
            <p:nvPr/>
          </p:nvCxnSpPr>
          <p:spPr>
            <a:xfrm>
              <a:off x="2774078" y="3530758"/>
              <a:ext cx="1302879" cy="97433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59195DF6-0130-DF47-6DE5-D95502960298}"/>
                </a:ext>
              </a:extLst>
            </p:cNvPr>
            <p:cNvSpPr/>
            <p:nvPr/>
          </p:nvSpPr>
          <p:spPr>
            <a:xfrm>
              <a:off x="2303697" y="3370747"/>
              <a:ext cx="470381" cy="320022"/>
            </a:xfrm>
            <a:prstGeom prst="ellipse">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E193A319-6C89-7C7D-62D1-6CD9531EE862}"/>
                </a:ext>
              </a:extLst>
            </p:cNvPr>
            <p:cNvCxnSpPr>
              <a:cxnSpLocks/>
              <a:stCxn id="16" idx="1"/>
              <a:endCxn id="18" idx="2"/>
            </p:cNvCxnSpPr>
            <p:nvPr/>
          </p:nvCxnSpPr>
          <p:spPr>
            <a:xfrm flipH="1" flipV="1">
              <a:off x="2303697" y="3530758"/>
              <a:ext cx="361570" cy="168179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4990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49</a:t>
            </a:fld>
            <a:endParaRPr lang="en-US" dirty="0"/>
          </a:p>
        </p:txBody>
      </p:sp>
      <p:sp>
        <p:nvSpPr>
          <p:cNvPr id="8" name="Title 1">
            <a:extLst>
              <a:ext uri="{FF2B5EF4-FFF2-40B4-BE49-F238E27FC236}">
                <a16:creationId xmlns:a16="http://schemas.microsoft.com/office/drawing/2014/main" id="{34C97452-C78A-4701-B8AB-ABFE63D5BED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VAFB SLC-4E Launch Site Proximities</a:t>
            </a:r>
          </a:p>
        </p:txBody>
      </p:sp>
      <p:grpSp>
        <p:nvGrpSpPr>
          <p:cNvPr id="41" name="Group 40">
            <a:extLst>
              <a:ext uri="{FF2B5EF4-FFF2-40B4-BE49-F238E27FC236}">
                <a16:creationId xmlns:a16="http://schemas.microsoft.com/office/drawing/2014/main" id="{11D386FC-931B-AA87-DD44-63BC9D213E96}"/>
              </a:ext>
            </a:extLst>
          </p:cNvPr>
          <p:cNvGrpSpPr>
            <a:grpSpLocks noChangeAspect="1"/>
          </p:cNvGrpSpPr>
          <p:nvPr/>
        </p:nvGrpSpPr>
        <p:grpSpPr>
          <a:xfrm>
            <a:off x="829574" y="1401691"/>
            <a:ext cx="5580493" cy="2516104"/>
            <a:chOff x="970823" y="1401691"/>
            <a:chExt cx="10250354" cy="4621626"/>
          </a:xfrm>
        </p:grpSpPr>
        <p:pic>
          <p:nvPicPr>
            <p:cNvPr id="12" name="Picture 11">
              <a:extLst>
                <a:ext uri="{FF2B5EF4-FFF2-40B4-BE49-F238E27FC236}">
                  <a16:creationId xmlns:a16="http://schemas.microsoft.com/office/drawing/2014/main" id="{06E6F56D-936A-3C04-DFA5-4B7F2E5056A4}"/>
                </a:ext>
              </a:extLst>
            </p:cNvPr>
            <p:cNvPicPr>
              <a:picLocks noChangeAspect="1"/>
            </p:cNvPicPr>
            <p:nvPr/>
          </p:nvPicPr>
          <p:blipFill>
            <a:blip r:embed="rId3"/>
            <a:stretch>
              <a:fillRect/>
            </a:stretch>
          </p:blipFill>
          <p:spPr>
            <a:xfrm>
              <a:off x="970823" y="1401691"/>
              <a:ext cx="10250354" cy="4621626"/>
            </a:xfrm>
            <a:prstGeom prst="rect">
              <a:avLst/>
            </a:prstGeom>
          </p:spPr>
        </p:pic>
        <p:pic>
          <p:nvPicPr>
            <p:cNvPr id="16" name="Picture 15">
              <a:extLst>
                <a:ext uri="{FF2B5EF4-FFF2-40B4-BE49-F238E27FC236}">
                  <a16:creationId xmlns:a16="http://schemas.microsoft.com/office/drawing/2014/main" id="{3A9F0792-E976-304D-723D-5EA00505CEDE}"/>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665267" y="4505093"/>
              <a:ext cx="2823380" cy="1414927"/>
            </a:xfrm>
            <a:prstGeom prst="roundRect">
              <a:avLst>
                <a:gd name="adj" fmla="val 31247"/>
              </a:avLst>
            </a:prstGeom>
            <a:ln w="9525">
              <a:solidFill>
                <a:schemeClr val="tx1"/>
              </a:solidFill>
            </a:ln>
          </p:spPr>
        </p:pic>
        <p:cxnSp>
          <p:nvCxnSpPr>
            <p:cNvPr id="17" name="Straight Connector 16">
              <a:extLst>
                <a:ext uri="{FF2B5EF4-FFF2-40B4-BE49-F238E27FC236}">
                  <a16:creationId xmlns:a16="http://schemas.microsoft.com/office/drawing/2014/main" id="{49CA5D1E-5F82-F214-7C73-C61CFB9A4B15}"/>
                </a:ext>
              </a:extLst>
            </p:cNvPr>
            <p:cNvCxnSpPr>
              <a:cxnSpLocks/>
              <a:stCxn id="18" idx="6"/>
              <a:endCxn id="16" idx="0"/>
            </p:cNvCxnSpPr>
            <p:nvPr/>
          </p:nvCxnSpPr>
          <p:spPr>
            <a:xfrm>
              <a:off x="2774078" y="3530758"/>
              <a:ext cx="1302879" cy="97433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59195DF6-0130-DF47-6DE5-D95502960298}"/>
                </a:ext>
              </a:extLst>
            </p:cNvPr>
            <p:cNvSpPr/>
            <p:nvPr/>
          </p:nvSpPr>
          <p:spPr>
            <a:xfrm>
              <a:off x="2303697" y="3370747"/>
              <a:ext cx="470381" cy="320022"/>
            </a:xfrm>
            <a:prstGeom prst="ellipse">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E193A319-6C89-7C7D-62D1-6CD9531EE862}"/>
                </a:ext>
              </a:extLst>
            </p:cNvPr>
            <p:cNvCxnSpPr>
              <a:cxnSpLocks/>
              <a:stCxn id="16" idx="1"/>
              <a:endCxn id="18" idx="2"/>
            </p:cNvCxnSpPr>
            <p:nvPr/>
          </p:nvCxnSpPr>
          <p:spPr>
            <a:xfrm flipH="1" flipV="1">
              <a:off x="2303697" y="3530758"/>
              <a:ext cx="361570" cy="168179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2" name="Content Placeholder 4">
            <a:extLst>
              <a:ext uri="{FF2B5EF4-FFF2-40B4-BE49-F238E27FC236}">
                <a16:creationId xmlns:a16="http://schemas.microsoft.com/office/drawing/2014/main" id="{595BC782-AF73-A828-F5F7-59F4097FD5CF}"/>
              </a:ext>
            </a:extLst>
          </p:cNvPr>
          <p:cNvSpPr txBox="1">
            <a:spLocks/>
          </p:cNvSpPr>
          <p:nvPr/>
        </p:nvSpPr>
        <p:spPr>
          <a:xfrm>
            <a:off x="6564352" y="1428535"/>
            <a:ext cx="4781000" cy="2532777"/>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For each Launch Site, markers with distance to its proximities (city, railway, highway) were created</a:t>
            </a:r>
          </a:p>
          <a:p>
            <a:pPr>
              <a:lnSpc>
                <a:spcPct val="100000"/>
              </a:lnSpc>
              <a:spcBef>
                <a:spcPts val="1400"/>
              </a:spcBef>
            </a:pPr>
            <a:r>
              <a:rPr lang="en-US" sz="2200" dirty="0">
                <a:solidFill>
                  <a:schemeClr val="accent3">
                    <a:lumMod val="25000"/>
                  </a:schemeClr>
                </a:solidFill>
                <a:latin typeface="Abadi"/>
              </a:rPr>
              <a:t>Lines (PolyLine) objects were drawn to highlight distances from a Launch Site to its proximities</a:t>
            </a:r>
          </a:p>
        </p:txBody>
      </p:sp>
      <p:sp>
        <p:nvSpPr>
          <p:cNvPr id="4" name="Content Placeholder 4">
            <a:extLst>
              <a:ext uri="{FF2B5EF4-FFF2-40B4-BE49-F238E27FC236}">
                <a16:creationId xmlns:a16="http://schemas.microsoft.com/office/drawing/2014/main" id="{23ADE0D0-E1A3-018B-D810-88813A2117B1}"/>
              </a:ext>
            </a:extLst>
          </p:cNvPr>
          <p:cNvSpPr txBox="1">
            <a:spLocks/>
          </p:cNvSpPr>
          <p:nvPr/>
        </p:nvSpPr>
        <p:spPr>
          <a:xfrm>
            <a:off x="792581" y="4369704"/>
            <a:ext cx="10515600" cy="1756034"/>
          </a:xfrm>
          <a:prstGeom prst="rect">
            <a:avLst/>
          </a:prstGeom>
        </p:spPr>
        <p:txBody>
          <a:bodyPr lIns="91440" tIns="45720" rIns="91440" bIns="4572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400"/>
              </a:spcBef>
              <a:buNone/>
            </a:pPr>
            <a:r>
              <a:rPr lang="en-US" sz="2200" dirty="0">
                <a:solidFill>
                  <a:schemeClr val="accent3">
                    <a:lumMod val="25000"/>
                  </a:schemeClr>
                </a:solidFill>
                <a:latin typeface="Abadi"/>
              </a:rPr>
              <a:t>Launch sites are located:</a:t>
            </a:r>
          </a:p>
          <a:p>
            <a:pPr>
              <a:lnSpc>
                <a:spcPct val="100000"/>
              </a:lnSpc>
              <a:spcBef>
                <a:spcPts val="1400"/>
              </a:spcBef>
            </a:pPr>
            <a:r>
              <a:rPr lang="en-US" sz="2200" dirty="0">
                <a:solidFill>
                  <a:schemeClr val="accent3">
                    <a:lumMod val="25000"/>
                  </a:schemeClr>
                </a:solidFill>
                <a:latin typeface="Abadi"/>
              </a:rPr>
              <a:t>Close to coast, so that rockets can be launched to the area above the ocean (safety)</a:t>
            </a:r>
          </a:p>
          <a:p>
            <a:pPr>
              <a:lnSpc>
                <a:spcPct val="100000"/>
              </a:lnSpc>
              <a:spcBef>
                <a:spcPts val="1400"/>
              </a:spcBef>
            </a:pPr>
            <a:r>
              <a:rPr lang="en-US" sz="2200" dirty="0">
                <a:solidFill>
                  <a:schemeClr val="accent3">
                    <a:lumMod val="25000"/>
                  </a:schemeClr>
                </a:solidFill>
                <a:latin typeface="Abadi"/>
              </a:rPr>
              <a:t>Close to the railway and/or highway, due to transport reasons</a:t>
            </a:r>
          </a:p>
          <a:p>
            <a:pPr>
              <a:lnSpc>
                <a:spcPct val="100000"/>
              </a:lnSpc>
              <a:spcBef>
                <a:spcPts val="1400"/>
              </a:spcBef>
            </a:pPr>
            <a:r>
              <a:rPr lang="en-US" sz="2200" dirty="0">
                <a:solidFill>
                  <a:schemeClr val="accent3">
                    <a:lumMod val="25000"/>
                  </a:schemeClr>
                </a:solidFill>
                <a:latin typeface="Abadi"/>
              </a:rPr>
              <a:t>Farther from cities (safety, elimination of discomfort due to noise and vibrations)</a:t>
            </a:r>
          </a:p>
          <a:p>
            <a:pPr>
              <a:lnSpc>
                <a:spcPct val="100000"/>
              </a:lnSpc>
              <a:spcBef>
                <a:spcPts val="1400"/>
              </a:spcBef>
            </a:pPr>
            <a:endParaRPr lang="en-US" sz="2200" dirty="0">
              <a:solidFill>
                <a:schemeClr val="accent3">
                  <a:lumMod val="25000"/>
                </a:schemeClr>
              </a:solidFill>
              <a:latin typeface="Abadi"/>
            </a:endParaRPr>
          </a:p>
        </p:txBody>
      </p:sp>
    </p:spTree>
    <p:extLst>
      <p:ext uri="{BB962C8B-B14F-4D97-AF65-F5344CB8AC3E}">
        <p14:creationId xmlns:p14="http://schemas.microsoft.com/office/powerpoint/2010/main" val="31299704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8BBD4D-F87B-2648-91EB-CF6A4BF6870A}"/>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4</a:t>
            </a:r>
          </a:p>
        </p:txBody>
      </p:sp>
    </p:spTree>
    <p:extLst>
      <p:ext uri="{BB962C8B-B14F-4D97-AF65-F5344CB8AC3E}">
        <p14:creationId xmlns:p14="http://schemas.microsoft.com/office/powerpoint/2010/main" val="7334617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51</a:t>
            </a:fld>
            <a:endParaRPr lang="en-US"/>
          </a:p>
        </p:txBody>
      </p:sp>
      <p:sp>
        <p:nvSpPr>
          <p:cNvPr id="8" name="Title 1">
            <a:extLst>
              <a:ext uri="{FF2B5EF4-FFF2-40B4-BE49-F238E27FC236}">
                <a16:creationId xmlns:a16="http://schemas.microsoft.com/office/drawing/2014/main" id="{9456A072-47A6-4424-9ABE-F398119040D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Success Launches by Site</a:t>
            </a:r>
          </a:p>
        </p:txBody>
      </p:sp>
      <p:sp>
        <p:nvSpPr>
          <p:cNvPr id="6" name="Content Placeholder 4">
            <a:extLst>
              <a:ext uri="{FF2B5EF4-FFF2-40B4-BE49-F238E27FC236}">
                <a16:creationId xmlns:a16="http://schemas.microsoft.com/office/drawing/2014/main" id="{846D58C4-BCC5-2CB9-E3B7-15C60C5037A6}"/>
              </a:ext>
            </a:extLst>
          </p:cNvPr>
          <p:cNvSpPr txBox="1">
            <a:spLocks/>
          </p:cNvSpPr>
          <p:nvPr/>
        </p:nvSpPr>
        <p:spPr>
          <a:xfrm>
            <a:off x="5278244" y="1428535"/>
            <a:ext cx="6067108" cy="2532777"/>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Application contains a Dropdown box for Launch Site selection</a:t>
            </a:r>
          </a:p>
          <a:p>
            <a:pPr>
              <a:lnSpc>
                <a:spcPct val="100000"/>
              </a:lnSpc>
              <a:spcBef>
                <a:spcPts val="1400"/>
              </a:spcBef>
            </a:pPr>
            <a:r>
              <a:rPr lang="en-US" sz="2200" dirty="0">
                <a:solidFill>
                  <a:schemeClr val="accent3">
                    <a:lumMod val="25000"/>
                  </a:schemeClr>
                </a:solidFill>
                <a:latin typeface="Abadi"/>
              </a:rPr>
              <a:t>If All Sites are selected, then the pie chart (via Plotly Express) shows a summary of successful launches for all sites</a:t>
            </a:r>
          </a:p>
        </p:txBody>
      </p:sp>
      <p:sp>
        <p:nvSpPr>
          <p:cNvPr id="7" name="Content Placeholder 4">
            <a:extLst>
              <a:ext uri="{FF2B5EF4-FFF2-40B4-BE49-F238E27FC236}">
                <a16:creationId xmlns:a16="http://schemas.microsoft.com/office/drawing/2014/main" id="{225A1D55-3060-6B23-81BD-A696DD64AFF4}"/>
              </a:ext>
            </a:extLst>
          </p:cNvPr>
          <p:cNvSpPr txBox="1">
            <a:spLocks/>
          </p:cNvSpPr>
          <p:nvPr/>
        </p:nvSpPr>
        <p:spPr>
          <a:xfrm>
            <a:off x="792581" y="5001593"/>
            <a:ext cx="10515600" cy="1214654"/>
          </a:xfrm>
          <a:prstGeom prst="rect">
            <a:avLst/>
          </a:prstGeom>
        </p:spPr>
        <p:txBody>
          <a:bodyPr lIns="91440" tIns="45720" rIns="91440" bIns="4572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Out of the four launch sites, KSC LC-39A itself performed 41.7% of all successful launches</a:t>
            </a:r>
          </a:p>
          <a:p>
            <a:pPr>
              <a:lnSpc>
                <a:spcPct val="100000"/>
              </a:lnSpc>
              <a:spcBef>
                <a:spcPts val="1400"/>
              </a:spcBef>
            </a:pPr>
            <a:r>
              <a:rPr lang="en-US" sz="2200" dirty="0">
                <a:solidFill>
                  <a:schemeClr val="accent3">
                    <a:lumMod val="25000"/>
                  </a:schemeClr>
                </a:solidFill>
                <a:latin typeface="Abadi"/>
              </a:rPr>
              <a:t>The least portion of 12.5% was performed by CCAFS SLC-40</a:t>
            </a:r>
          </a:p>
        </p:txBody>
      </p:sp>
      <p:pic>
        <p:nvPicPr>
          <p:cNvPr id="10" name="Picture 9">
            <a:extLst>
              <a:ext uri="{FF2B5EF4-FFF2-40B4-BE49-F238E27FC236}">
                <a16:creationId xmlns:a16="http://schemas.microsoft.com/office/drawing/2014/main" id="{2D7B74FB-95EE-028D-75E6-0168DD0FA1D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6648" y="1368784"/>
            <a:ext cx="4289232" cy="3549710"/>
          </a:xfrm>
          <a:prstGeom prst="rect">
            <a:avLst/>
          </a:prstGeom>
          <a:effectLst>
            <a:softEdge rad="12700"/>
          </a:effectLst>
        </p:spPr>
      </p:pic>
    </p:spTree>
    <p:extLst>
      <p:ext uri="{BB962C8B-B14F-4D97-AF65-F5344CB8AC3E}">
        <p14:creationId xmlns:p14="http://schemas.microsoft.com/office/powerpoint/2010/main" val="7001329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52</a:t>
            </a:fld>
            <a:endParaRPr lang="en-US"/>
          </a:p>
        </p:txBody>
      </p:sp>
      <p:sp>
        <p:nvSpPr>
          <p:cNvPr id="8" name="Title 1">
            <a:extLst>
              <a:ext uri="{FF2B5EF4-FFF2-40B4-BE49-F238E27FC236}">
                <a16:creationId xmlns:a16="http://schemas.microsoft.com/office/drawing/2014/main" id="{4EF94599-779E-457E-B57B-6063EBF7A84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Site with The Highest Launch Success Ratio</a:t>
            </a:r>
          </a:p>
        </p:txBody>
      </p:sp>
      <p:pic>
        <p:nvPicPr>
          <p:cNvPr id="11" name="Picture 10">
            <a:extLst>
              <a:ext uri="{FF2B5EF4-FFF2-40B4-BE49-F238E27FC236}">
                <a16:creationId xmlns:a16="http://schemas.microsoft.com/office/drawing/2014/main" id="{6BC8B571-A1D4-81E7-B6DD-4F3704A5652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51785" y="1747954"/>
            <a:ext cx="3918640" cy="3279677"/>
          </a:xfrm>
          <a:prstGeom prst="rect">
            <a:avLst/>
          </a:prstGeom>
        </p:spPr>
      </p:pic>
      <p:sp>
        <p:nvSpPr>
          <p:cNvPr id="6" name="Content Placeholder 4">
            <a:extLst>
              <a:ext uri="{FF2B5EF4-FFF2-40B4-BE49-F238E27FC236}">
                <a16:creationId xmlns:a16="http://schemas.microsoft.com/office/drawing/2014/main" id="{F6B1F803-8394-89B8-0D01-AA131CD57356}"/>
              </a:ext>
            </a:extLst>
          </p:cNvPr>
          <p:cNvSpPr txBox="1">
            <a:spLocks/>
          </p:cNvSpPr>
          <p:nvPr/>
        </p:nvSpPr>
        <p:spPr>
          <a:xfrm>
            <a:off x="5278244" y="1747954"/>
            <a:ext cx="6067108" cy="2147539"/>
          </a:xfrm>
          <a:prstGeom prst="rect">
            <a:avLst/>
          </a:prstGeom>
        </p:spPr>
        <p:txBody>
          <a:bodyPr lIns="91440" tIns="45720" rIns="91440" bIns="4572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Application contains a Dropdown box for Launch Site selected and a Pie Chart linked to the selection</a:t>
            </a:r>
          </a:p>
          <a:p>
            <a:pPr>
              <a:lnSpc>
                <a:spcPct val="100000"/>
              </a:lnSpc>
              <a:spcBef>
                <a:spcPts val="1400"/>
              </a:spcBef>
            </a:pPr>
            <a:r>
              <a:rPr lang="en-US" sz="2200" dirty="0">
                <a:solidFill>
                  <a:schemeClr val="accent3">
                    <a:lumMod val="25000"/>
                  </a:schemeClr>
                </a:solidFill>
                <a:latin typeface="Abadi"/>
              </a:rPr>
              <a:t>If an individual site is selected, then the Pie Chart (via Plotly Express) shows portions of success and failures for the launch site</a:t>
            </a:r>
          </a:p>
        </p:txBody>
      </p:sp>
      <p:sp>
        <p:nvSpPr>
          <p:cNvPr id="7" name="Content Placeholder 4">
            <a:extLst>
              <a:ext uri="{FF2B5EF4-FFF2-40B4-BE49-F238E27FC236}">
                <a16:creationId xmlns:a16="http://schemas.microsoft.com/office/drawing/2014/main" id="{3A847C05-5046-9399-E533-092781F0A2E9}"/>
              </a:ext>
            </a:extLst>
          </p:cNvPr>
          <p:cNvSpPr txBox="1">
            <a:spLocks/>
          </p:cNvSpPr>
          <p:nvPr/>
        </p:nvSpPr>
        <p:spPr>
          <a:xfrm>
            <a:off x="792581" y="5116160"/>
            <a:ext cx="10515600" cy="1344117"/>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KSC LC-39A is the site with the highest launch success ratio of 76.9%</a:t>
            </a:r>
          </a:p>
          <a:p>
            <a:pPr>
              <a:lnSpc>
                <a:spcPct val="100000"/>
              </a:lnSpc>
              <a:spcBef>
                <a:spcPts val="1400"/>
              </a:spcBef>
            </a:pPr>
            <a:r>
              <a:rPr lang="en-US" sz="2200" dirty="0">
                <a:solidFill>
                  <a:schemeClr val="accent3">
                    <a:lumMod val="25000"/>
                  </a:schemeClr>
                </a:solidFill>
                <a:latin typeface="Abadi"/>
              </a:rPr>
              <a:t>As shown on the prior slide, this site has also the highest share of all successful launches</a:t>
            </a:r>
          </a:p>
          <a:p>
            <a:pPr>
              <a:lnSpc>
                <a:spcPct val="100000"/>
              </a:lnSpc>
              <a:spcBef>
                <a:spcPts val="1400"/>
              </a:spcBef>
            </a:pPr>
            <a:endParaRPr lang="en-US" sz="2200" dirty="0">
              <a:solidFill>
                <a:schemeClr val="accent3">
                  <a:lumMod val="25000"/>
                </a:schemeClr>
              </a:solidFill>
              <a:latin typeface="Abadi"/>
            </a:endParaRPr>
          </a:p>
        </p:txBody>
      </p:sp>
      <p:sp>
        <p:nvSpPr>
          <p:cNvPr id="9" name="Title 1">
            <a:extLst>
              <a:ext uri="{FF2B5EF4-FFF2-40B4-BE49-F238E27FC236}">
                <a16:creationId xmlns:a16="http://schemas.microsoft.com/office/drawing/2014/main" id="{A4322AFC-2884-9680-6761-F65F039F49BC}"/>
              </a:ext>
            </a:extLst>
          </p:cNvPr>
          <p:cNvSpPr txBox="1">
            <a:spLocks/>
          </p:cNvSpPr>
          <p:nvPr/>
        </p:nvSpPr>
        <p:spPr>
          <a:xfrm>
            <a:off x="922411" y="1501371"/>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endParaRPr lang="en-US" dirty="0">
              <a:solidFill>
                <a:srgbClr val="0B49CB"/>
              </a:solidFill>
              <a:latin typeface="Abadi"/>
            </a:endParaRPr>
          </a:p>
        </p:txBody>
      </p:sp>
      <p:sp>
        <p:nvSpPr>
          <p:cNvPr id="13" name="Title 1">
            <a:extLst>
              <a:ext uri="{FF2B5EF4-FFF2-40B4-BE49-F238E27FC236}">
                <a16:creationId xmlns:a16="http://schemas.microsoft.com/office/drawing/2014/main" id="{A1AFF68F-B4F6-D786-BA8E-3E0D7668195F}"/>
              </a:ext>
            </a:extLst>
          </p:cNvPr>
          <p:cNvSpPr txBox="1">
            <a:spLocks/>
          </p:cNvSpPr>
          <p:nvPr/>
        </p:nvSpPr>
        <p:spPr>
          <a:xfrm>
            <a:off x="770011" y="1268451"/>
            <a:ext cx="2829270" cy="5490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sz="3000" dirty="0">
                <a:solidFill>
                  <a:srgbClr val="0B49CB"/>
                </a:solidFill>
                <a:latin typeface="Abadi"/>
              </a:rPr>
              <a:t>KSC LC-39A</a:t>
            </a:r>
          </a:p>
        </p:txBody>
      </p:sp>
    </p:spTree>
    <p:extLst>
      <p:ext uri="{BB962C8B-B14F-4D97-AF65-F5344CB8AC3E}">
        <p14:creationId xmlns:p14="http://schemas.microsoft.com/office/powerpoint/2010/main" val="18661607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53</a:t>
            </a:fld>
            <a:endParaRPr lang="en-US"/>
          </a:p>
        </p:txBody>
      </p:sp>
      <p:sp>
        <p:nvSpPr>
          <p:cNvPr id="12" name="Title 1">
            <a:extLst>
              <a:ext uri="{FF2B5EF4-FFF2-40B4-BE49-F238E27FC236}">
                <a16:creationId xmlns:a16="http://schemas.microsoft.com/office/drawing/2014/main" id="{4D271BF5-BAA1-4CEB-A575-76A097FABB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Launch Outcome vs. Booster Version</a:t>
            </a:r>
          </a:p>
        </p:txBody>
      </p:sp>
      <p:pic>
        <p:nvPicPr>
          <p:cNvPr id="4" name="Picture 3">
            <a:extLst>
              <a:ext uri="{FF2B5EF4-FFF2-40B4-BE49-F238E27FC236}">
                <a16:creationId xmlns:a16="http://schemas.microsoft.com/office/drawing/2014/main" id="{C691FF30-8E3D-741C-6A00-5569D1F8F75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620642" y="1329914"/>
            <a:ext cx="9349715" cy="2342061"/>
          </a:xfrm>
          <a:prstGeom prst="rect">
            <a:avLst/>
          </a:prstGeom>
          <a:effectLst>
            <a:softEdge rad="12700"/>
          </a:effectLst>
        </p:spPr>
      </p:pic>
      <p:pic>
        <p:nvPicPr>
          <p:cNvPr id="7" name="Picture 6">
            <a:extLst>
              <a:ext uri="{FF2B5EF4-FFF2-40B4-BE49-F238E27FC236}">
                <a16:creationId xmlns:a16="http://schemas.microsoft.com/office/drawing/2014/main" id="{EF31FF57-FA11-B35B-2F15-4EBBDD47694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620642" y="3768538"/>
            <a:ext cx="9349715" cy="2282854"/>
          </a:xfrm>
          <a:prstGeom prst="rect">
            <a:avLst/>
          </a:prstGeom>
          <a:effectLst>
            <a:softEdge rad="12700"/>
          </a:effectLst>
        </p:spPr>
      </p:pic>
    </p:spTree>
    <p:extLst>
      <p:ext uri="{BB962C8B-B14F-4D97-AF65-F5344CB8AC3E}">
        <p14:creationId xmlns:p14="http://schemas.microsoft.com/office/powerpoint/2010/main" val="2523596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54</a:t>
            </a:fld>
            <a:endParaRPr lang="en-US"/>
          </a:p>
        </p:txBody>
      </p:sp>
      <p:sp>
        <p:nvSpPr>
          <p:cNvPr id="12" name="Title 1">
            <a:extLst>
              <a:ext uri="{FF2B5EF4-FFF2-40B4-BE49-F238E27FC236}">
                <a16:creationId xmlns:a16="http://schemas.microsoft.com/office/drawing/2014/main" id="{4D271BF5-BAA1-4CEB-A575-76A097FABB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Launch Outcome vs. Booster Version</a:t>
            </a:r>
          </a:p>
        </p:txBody>
      </p:sp>
      <p:grpSp>
        <p:nvGrpSpPr>
          <p:cNvPr id="2" name="Group 1">
            <a:extLst>
              <a:ext uri="{FF2B5EF4-FFF2-40B4-BE49-F238E27FC236}">
                <a16:creationId xmlns:a16="http://schemas.microsoft.com/office/drawing/2014/main" id="{A2A0229B-53C2-6B68-8490-7157D5CF557A}"/>
              </a:ext>
            </a:extLst>
          </p:cNvPr>
          <p:cNvGrpSpPr>
            <a:grpSpLocks noChangeAspect="1"/>
          </p:cNvGrpSpPr>
          <p:nvPr/>
        </p:nvGrpSpPr>
        <p:grpSpPr>
          <a:xfrm>
            <a:off x="832624" y="1441425"/>
            <a:ext cx="5605346" cy="2027917"/>
            <a:chOff x="1620642" y="1329914"/>
            <a:chExt cx="9349715" cy="4721478"/>
          </a:xfrm>
        </p:grpSpPr>
        <p:pic>
          <p:nvPicPr>
            <p:cNvPr id="4" name="Picture 3">
              <a:extLst>
                <a:ext uri="{FF2B5EF4-FFF2-40B4-BE49-F238E27FC236}">
                  <a16:creationId xmlns:a16="http://schemas.microsoft.com/office/drawing/2014/main" id="{C691FF30-8E3D-741C-6A00-5569D1F8F75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620642" y="1329914"/>
              <a:ext cx="9349715" cy="2342061"/>
            </a:xfrm>
            <a:prstGeom prst="rect">
              <a:avLst/>
            </a:prstGeom>
            <a:effectLst>
              <a:softEdge rad="12700"/>
            </a:effectLst>
          </p:spPr>
        </p:pic>
        <p:pic>
          <p:nvPicPr>
            <p:cNvPr id="7" name="Picture 6">
              <a:extLst>
                <a:ext uri="{FF2B5EF4-FFF2-40B4-BE49-F238E27FC236}">
                  <a16:creationId xmlns:a16="http://schemas.microsoft.com/office/drawing/2014/main" id="{EF31FF57-FA11-B35B-2F15-4EBBDD47694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620642" y="3768538"/>
              <a:ext cx="9349715" cy="2282854"/>
            </a:xfrm>
            <a:prstGeom prst="rect">
              <a:avLst/>
            </a:prstGeom>
            <a:effectLst>
              <a:softEdge rad="12700"/>
            </a:effectLst>
          </p:spPr>
        </p:pic>
      </p:grpSp>
      <p:sp>
        <p:nvSpPr>
          <p:cNvPr id="5" name="Content Placeholder 4">
            <a:extLst>
              <a:ext uri="{FF2B5EF4-FFF2-40B4-BE49-F238E27FC236}">
                <a16:creationId xmlns:a16="http://schemas.microsoft.com/office/drawing/2014/main" id="{E59C912B-FE6E-693D-EEC8-752C433F372C}"/>
              </a:ext>
            </a:extLst>
          </p:cNvPr>
          <p:cNvSpPr txBox="1">
            <a:spLocks/>
          </p:cNvSpPr>
          <p:nvPr/>
        </p:nvSpPr>
        <p:spPr>
          <a:xfrm>
            <a:off x="6437970" y="1407436"/>
            <a:ext cx="5020001" cy="2250163"/>
          </a:xfrm>
          <a:prstGeom prst="rect">
            <a:avLst/>
          </a:prstGeom>
        </p:spPr>
        <p:txBody>
          <a:bodyPr lIns="91440" tIns="45720" rIns="91440" bIns="4572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Application contains a RangeSlider which allows us to select a Payload range to be analyzed, and a Scatter Plot linked to the selected Payload range</a:t>
            </a:r>
          </a:p>
          <a:p>
            <a:pPr>
              <a:lnSpc>
                <a:spcPct val="100000"/>
              </a:lnSpc>
              <a:spcBef>
                <a:spcPts val="1400"/>
              </a:spcBef>
            </a:pPr>
            <a:r>
              <a:rPr lang="en-US" sz="2200" dirty="0">
                <a:solidFill>
                  <a:schemeClr val="accent3">
                    <a:lumMod val="25000"/>
                  </a:schemeClr>
                </a:solidFill>
                <a:latin typeface="Abadi"/>
              </a:rPr>
              <a:t>The scatter plot shows individual launches for selected Payload range, split to success and failure, with color indicating a booster version</a:t>
            </a:r>
          </a:p>
        </p:txBody>
      </p:sp>
      <p:sp>
        <p:nvSpPr>
          <p:cNvPr id="6" name="Content Placeholder 4">
            <a:extLst>
              <a:ext uri="{FF2B5EF4-FFF2-40B4-BE49-F238E27FC236}">
                <a16:creationId xmlns:a16="http://schemas.microsoft.com/office/drawing/2014/main" id="{E94A1498-1E9E-42EC-154D-699A867923CC}"/>
              </a:ext>
            </a:extLst>
          </p:cNvPr>
          <p:cNvSpPr txBox="1">
            <a:spLocks/>
          </p:cNvSpPr>
          <p:nvPr/>
        </p:nvSpPr>
        <p:spPr>
          <a:xfrm>
            <a:off x="770011" y="3912288"/>
            <a:ext cx="10515600" cy="1745098"/>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Payload range 3000 – 4000 kg shows the highest launch success rate</a:t>
            </a:r>
          </a:p>
          <a:p>
            <a:pPr>
              <a:lnSpc>
                <a:spcPct val="100000"/>
              </a:lnSpc>
              <a:spcBef>
                <a:spcPts val="1400"/>
              </a:spcBef>
            </a:pPr>
            <a:r>
              <a:rPr lang="en-US" sz="2200" dirty="0">
                <a:solidFill>
                  <a:schemeClr val="accent3">
                    <a:lumMod val="25000"/>
                  </a:schemeClr>
                </a:solidFill>
                <a:latin typeface="Abadi"/>
              </a:rPr>
              <a:t>The lowest launch success rate is observed in payload range 6000 – 7000 kg  </a:t>
            </a:r>
          </a:p>
          <a:p>
            <a:pPr>
              <a:lnSpc>
                <a:spcPct val="100000"/>
              </a:lnSpc>
              <a:spcBef>
                <a:spcPts val="1400"/>
              </a:spcBef>
            </a:pPr>
            <a:r>
              <a:rPr lang="en-US" sz="2200" dirty="0">
                <a:solidFill>
                  <a:schemeClr val="accent3">
                    <a:lumMod val="25000"/>
                  </a:schemeClr>
                </a:solidFill>
                <a:latin typeface="Abadi"/>
              </a:rPr>
              <a:t>FT Booster Version shows the highest launch success rate</a:t>
            </a:r>
          </a:p>
          <a:p>
            <a:pPr>
              <a:lnSpc>
                <a:spcPct val="100000"/>
              </a:lnSpc>
              <a:spcBef>
                <a:spcPts val="1400"/>
              </a:spcBef>
            </a:pPr>
            <a:endParaRPr lang="en-US" sz="2200" dirty="0">
              <a:solidFill>
                <a:schemeClr val="accent3">
                  <a:lumMod val="25000"/>
                </a:schemeClr>
              </a:solidFill>
              <a:latin typeface="Abadi"/>
            </a:endParaRPr>
          </a:p>
        </p:txBody>
      </p:sp>
    </p:spTree>
    <p:extLst>
      <p:ext uri="{BB962C8B-B14F-4D97-AF65-F5344CB8AC3E}">
        <p14:creationId xmlns:p14="http://schemas.microsoft.com/office/powerpoint/2010/main" val="39817177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37DFD2-2B76-8445-A1BD-6628DC42C398}"/>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5</a:t>
            </a:r>
          </a:p>
        </p:txBody>
      </p:sp>
    </p:spTree>
    <p:extLst>
      <p:ext uri="{BB962C8B-B14F-4D97-AF65-F5344CB8AC3E}">
        <p14:creationId xmlns:p14="http://schemas.microsoft.com/office/powerpoint/2010/main" val="12903941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56</a:t>
            </a:fld>
            <a:endParaRPr lang="en-US"/>
          </a:p>
        </p:txBody>
      </p:sp>
      <p:sp>
        <p:nvSpPr>
          <p:cNvPr id="9" name="Title 1">
            <a:extLst>
              <a:ext uri="{FF2B5EF4-FFF2-40B4-BE49-F238E27FC236}">
                <a16:creationId xmlns:a16="http://schemas.microsoft.com/office/drawing/2014/main" id="{B68D8986-45AC-4FB5-96E8-C45F9603EB5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Classification Accuracy</a:t>
            </a:r>
            <a:endParaRPr lang="en-US" dirty="0">
              <a:solidFill>
                <a:srgbClr val="0B49CB"/>
              </a:solidFill>
            </a:endParaRPr>
          </a:p>
        </p:txBody>
      </p:sp>
      <p:sp>
        <p:nvSpPr>
          <p:cNvPr id="6" name="Content Placeholder 4">
            <a:extLst>
              <a:ext uri="{FF2B5EF4-FFF2-40B4-BE49-F238E27FC236}">
                <a16:creationId xmlns:a16="http://schemas.microsoft.com/office/drawing/2014/main" id="{DC6CE78C-667F-92B9-DDAC-3282897304B3}"/>
              </a:ext>
            </a:extLst>
          </p:cNvPr>
          <p:cNvSpPr txBox="1">
            <a:spLocks/>
          </p:cNvSpPr>
          <p:nvPr/>
        </p:nvSpPr>
        <p:spPr>
          <a:xfrm>
            <a:off x="5839968" y="1489715"/>
            <a:ext cx="5479834" cy="3752845"/>
          </a:xfrm>
          <a:prstGeom prst="rect">
            <a:avLst/>
          </a:prstGeom>
        </p:spPr>
        <p:txBody>
          <a:bodyPr lIns="91440" tIns="45720" rIns="91440" bIns="4572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b="1" dirty="0">
                <a:solidFill>
                  <a:schemeClr val="accent3">
                    <a:lumMod val="25000"/>
                  </a:schemeClr>
                </a:solidFill>
                <a:latin typeface="Abadi"/>
              </a:rPr>
              <a:t>Results:</a:t>
            </a:r>
            <a:r>
              <a:rPr lang="en-US" sz="2200" dirty="0">
                <a:solidFill>
                  <a:schemeClr val="accent3">
                    <a:lumMod val="25000"/>
                  </a:schemeClr>
                </a:solidFill>
                <a:latin typeface="Abadi"/>
              </a:rPr>
              <a:t> Logistic Regression, Support Vector Machine, Decision Tree models achieved the highest Test Accuracy score of 83.3%</a:t>
            </a:r>
          </a:p>
          <a:p>
            <a:pPr>
              <a:lnSpc>
                <a:spcPct val="100000"/>
              </a:lnSpc>
              <a:spcBef>
                <a:spcPts val="1400"/>
              </a:spcBef>
            </a:pPr>
            <a:r>
              <a:rPr lang="en-US" sz="2200" b="1" dirty="0">
                <a:solidFill>
                  <a:schemeClr val="accent3">
                    <a:lumMod val="25000"/>
                  </a:schemeClr>
                </a:solidFill>
                <a:latin typeface="Abadi"/>
              </a:rPr>
              <a:t>Secondary criterion:</a:t>
            </a:r>
            <a:r>
              <a:rPr lang="en-US" sz="2200" dirty="0">
                <a:solidFill>
                  <a:schemeClr val="accent3">
                    <a:lumMod val="25000"/>
                  </a:schemeClr>
                </a:solidFill>
                <a:latin typeface="Abadi"/>
              </a:rPr>
              <a:t> Generalization Capacity was used to identify the best performing model</a:t>
            </a:r>
          </a:p>
          <a:p>
            <a:pPr>
              <a:lnSpc>
                <a:spcPct val="100000"/>
              </a:lnSpc>
              <a:spcBef>
                <a:spcPts val="1400"/>
              </a:spcBef>
            </a:pPr>
            <a:r>
              <a:rPr lang="en-US" sz="2200" dirty="0">
                <a:solidFill>
                  <a:schemeClr val="accent3">
                    <a:lumMod val="25000"/>
                  </a:schemeClr>
                </a:solidFill>
                <a:latin typeface="Abadi"/>
              </a:rPr>
              <a:t>Generalization Capacity indicates the model captures underlying pattern in training data rather then noise (model is less prone to overfitting)</a:t>
            </a:r>
          </a:p>
        </p:txBody>
      </p:sp>
      <p:pic>
        <p:nvPicPr>
          <p:cNvPr id="15" name="Picture 14">
            <a:extLst>
              <a:ext uri="{FF2B5EF4-FFF2-40B4-BE49-F238E27FC236}">
                <a16:creationId xmlns:a16="http://schemas.microsoft.com/office/drawing/2014/main" id="{0C7C0978-B1A4-757F-3D05-C52A068E759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68678" y="1481327"/>
            <a:ext cx="4828134" cy="3304033"/>
          </a:xfrm>
          <a:prstGeom prst="rect">
            <a:avLst/>
          </a:prstGeom>
        </p:spPr>
      </p:pic>
    </p:spTree>
    <p:extLst>
      <p:ext uri="{BB962C8B-B14F-4D97-AF65-F5344CB8AC3E}">
        <p14:creationId xmlns:p14="http://schemas.microsoft.com/office/powerpoint/2010/main" val="24594460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57</a:t>
            </a:fld>
            <a:endParaRPr lang="en-US" dirty="0"/>
          </a:p>
        </p:txBody>
      </p:sp>
      <p:sp>
        <p:nvSpPr>
          <p:cNvPr id="9" name="Title 1">
            <a:extLst>
              <a:ext uri="{FF2B5EF4-FFF2-40B4-BE49-F238E27FC236}">
                <a16:creationId xmlns:a16="http://schemas.microsoft.com/office/drawing/2014/main" id="{B68D8986-45AC-4FB5-96E8-C45F9603EB5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Classification Accuracy</a:t>
            </a:r>
            <a:endParaRPr lang="en-US" dirty="0">
              <a:solidFill>
                <a:srgbClr val="0B49CB"/>
              </a:solidFill>
            </a:endParaRPr>
          </a:p>
        </p:txBody>
      </p:sp>
      <p:pic>
        <p:nvPicPr>
          <p:cNvPr id="8" name="Picture 7">
            <a:extLst>
              <a:ext uri="{FF2B5EF4-FFF2-40B4-BE49-F238E27FC236}">
                <a16:creationId xmlns:a16="http://schemas.microsoft.com/office/drawing/2014/main" id="{35CFCF76-1074-D04A-781E-1E88DCBE12A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68680" y="1481328"/>
            <a:ext cx="4847685" cy="3291840"/>
          </a:xfrm>
          <a:prstGeom prst="rect">
            <a:avLst/>
          </a:prstGeom>
        </p:spPr>
      </p:pic>
      <p:sp>
        <p:nvSpPr>
          <p:cNvPr id="7" name="Content Placeholder 4">
            <a:extLst>
              <a:ext uri="{FF2B5EF4-FFF2-40B4-BE49-F238E27FC236}">
                <a16:creationId xmlns:a16="http://schemas.microsoft.com/office/drawing/2014/main" id="{016A364A-0007-72DD-03C2-92FFC6ECBC7E}"/>
              </a:ext>
            </a:extLst>
          </p:cNvPr>
          <p:cNvSpPr txBox="1">
            <a:spLocks/>
          </p:cNvSpPr>
          <p:nvPr/>
        </p:nvSpPr>
        <p:spPr>
          <a:xfrm>
            <a:off x="5913120" y="1489715"/>
            <a:ext cx="5406682" cy="3283453"/>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400"/>
              </a:spcBef>
            </a:pPr>
            <a:r>
              <a:rPr lang="en-US" sz="2200" b="1" dirty="0">
                <a:solidFill>
                  <a:schemeClr val="accent3">
                    <a:lumMod val="25000"/>
                  </a:schemeClr>
                </a:solidFill>
                <a:latin typeface="Abadi"/>
              </a:rPr>
              <a:t>Conclusion: Logistic Regression </a:t>
            </a:r>
            <a:r>
              <a:rPr lang="en-US" sz="2200" dirty="0">
                <a:solidFill>
                  <a:schemeClr val="accent3">
                    <a:lumMod val="25000"/>
                  </a:schemeClr>
                </a:solidFill>
                <a:latin typeface="Abadi"/>
              </a:rPr>
              <a:t>model is selected as the best model since it has the smallest delta between testing and training accuracy</a:t>
            </a:r>
          </a:p>
          <a:p>
            <a:pPr>
              <a:lnSpc>
                <a:spcPct val="100000"/>
              </a:lnSpc>
              <a:spcBef>
                <a:spcPts val="1400"/>
              </a:spcBef>
            </a:pPr>
            <a:r>
              <a:rPr lang="en-US" sz="2200" dirty="0">
                <a:solidFill>
                  <a:schemeClr val="accent3">
                    <a:lumMod val="25000"/>
                  </a:schemeClr>
                </a:solidFill>
                <a:latin typeface="Abadi"/>
              </a:rPr>
              <a:t>The smallest gap indicates the best Generalization Capacity, i.e. model is less prone to overfitting</a:t>
            </a:r>
          </a:p>
        </p:txBody>
      </p:sp>
      <p:sp>
        <p:nvSpPr>
          <p:cNvPr id="11" name="Content Placeholder 4">
            <a:extLst>
              <a:ext uri="{FF2B5EF4-FFF2-40B4-BE49-F238E27FC236}">
                <a16:creationId xmlns:a16="http://schemas.microsoft.com/office/drawing/2014/main" id="{8534BE0A-9017-7FF3-3DEE-C8BDC345A03D}"/>
              </a:ext>
            </a:extLst>
          </p:cNvPr>
          <p:cNvSpPr txBox="1">
            <a:spLocks/>
          </p:cNvSpPr>
          <p:nvPr/>
        </p:nvSpPr>
        <p:spPr>
          <a:xfrm>
            <a:off x="868680" y="5059241"/>
            <a:ext cx="10448074" cy="670560"/>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1400"/>
              </a:spcBef>
            </a:pPr>
            <a:r>
              <a:rPr lang="en-US" sz="2200" b="1" dirty="0">
                <a:solidFill>
                  <a:schemeClr val="accent3">
                    <a:lumMod val="25000"/>
                  </a:schemeClr>
                </a:solidFill>
                <a:latin typeface="Abadi"/>
              </a:rPr>
              <a:t>The best parameters: 'C': 0.1, 'penalty': 'l2', 'solver': '</a:t>
            </a:r>
            <a:r>
              <a:rPr lang="en-US" sz="2200" b="1" noProof="1">
                <a:solidFill>
                  <a:schemeClr val="accent3">
                    <a:lumMod val="25000"/>
                  </a:schemeClr>
                </a:solidFill>
                <a:latin typeface="Abadi"/>
              </a:rPr>
              <a:t>lbfgs</a:t>
            </a:r>
            <a:r>
              <a:rPr lang="en-US" sz="2200" b="1" dirty="0">
                <a:solidFill>
                  <a:schemeClr val="accent3">
                    <a:lumMod val="25000"/>
                  </a:schemeClr>
                </a:solidFill>
                <a:latin typeface="Abadi"/>
              </a:rPr>
              <a:t>'</a:t>
            </a:r>
            <a:endParaRPr lang="en-US" sz="2200" dirty="0">
              <a:solidFill>
                <a:schemeClr val="accent3">
                  <a:lumMod val="25000"/>
                </a:schemeClr>
              </a:solidFill>
              <a:latin typeface="Abadi"/>
            </a:endParaRPr>
          </a:p>
        </p:txBody>
      </p:sp>
    </p:spTree>
    <p:extLst>
      <p:ext uri="{BB962C8B-B14F-4D97-AF65-F5344CB8AC3E}">
        <p14:creationId xmlns:p14="http://schemas.microsoft.com/office/powerpoint/2010/main" val="14991237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58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5336178" y="1420718"/>
            <a:ext cx="6027148" cy="3590260"/>
          </a:xfrm>
          <a:prstGeom prst="rect">
            <a:avLst/>
          </a:prstGeom>
        </p:spPr>
        <p:txBody>
          <a:bodyPr>
            <a:normAutofit fontScale="92500" lnSpcReduction="10000"/>
          </a:bodyPr>
          <a:lstStyle/>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Confusion matrix of the Logistic Regression model exhibits:</a:t>
            </a:r>
          </a:p>
          <a:p>
            <a:pPr>
              <a:lnSpc>
                <a:spcPct val="100000"/>
              </a:lnSpc>
              <a:spcBef>
                <a:spcPts val="1400"/>
              </a:spcBef>
            </a:pPr>
            <a:r>
              <a:rPr lang="en-US" sz="2200" dirty="0">
                <a:solidFill>
                  <a:schemeClr val="accent3">
                    <a:lumMod val="25000"/>
                  </a:schemeClr>
                </a:solidFill>
                <a:latin typeface="Abadi" panose="020B0604020104020204" pitchFamily="34" charset="0"/>
              </a:rPr>
              <a:t>Impressive </a:t>
            </a:r>
            <a:r>
              <a:rPr lang="en-US" sz="2200" b="1" dirty="0">
                <a:solidFill>
                  <a:schemeClr val="accent3">
                    <a:lumMod val="25000"/>
                  </a:schemeClr>
                </a:solidFill>
                <a:latin typeface="Abadi" panose="020B0604020104020204" pitchFamily="34" charset="0"/>
              </a:rPr>
              <a:t>Recall</a:t>
            </a:r>
            <a:r>
              <a:rPr lang="en-US" sz="2200" dirty="0">
                <a:solidFill>
                  <a:schemeClr val="accent3">
                    <a:lumMod val="25000"/>
                  </a:schemeClr>
                </a:solidFill>
                <a:latin typeface="Abadi" panose="020B0604020104020204" pitchFamily="34" charset="0"/>
              </a:rPr>
              <a:t> of 100% (12 True Positives, and 0 False Negatives)</a:t>
            </a:r>
          </a:p>
          <a:p>
            <a:pPr>
              <a:lnSpc>
                <a:spcPct val="100000"/>
              </a:lnSpc>
              <a:spcBef>
                <a:spcPts val="1400"/>
              </a:spcBef>
            </a:pPr>
            <a:r>
              <a:rPr lang="en-US" sz="2200" b="1" dirty="0">
                <a:solidFill>
                  <a:schemeClr val="accent3">
                    <a:lumMod val="25000"/>
                  </a:schemeClr>
                </a:solidFill>
                <a:latin typeface="Abadi" panose="020B0604020104020204" pitchFamily="34" charset="0"/>
              </a:rPr>
              <a:t>Accuracy</a:t>
            </a:r>
            <a:r>
              <a:rPr lang="en-US" sz="2200" dirty="0">
                <a:solidFill>
                  <a:schemeClr val="accent3">
                    <a:lumMod val="25000"/>
                  </a:schemeClr>
                </a:solidFill>
                <a:latin typeface="Abadi" panose="020B0604020104020204" pitchFamily="34" charset="0"/>
              </a:rPr>
              <a:t> 83.3% (15 predictions from 18 are correct)</a:t>
            </a:r>
          </a:p>
          <a:p>
            <a:pPr>
              <a:lnSpc>
                <a:spcPct val="100000"/>
              </a:lnSpc>
              <a:spcBef>
                <a:spcPts val="1400"/>
              </a:spcBef>
            </a:pPr>
            <a:r>
              <a:rPr lang="en-US" sz="2200" b="1" dirty="0">
                <a:solidFill>
                  <a:schemeClr val="accent3">
                    <a:lumMod val="25000"/>
                  </a:schemeClr>
                </a:solidFill>
                <a:latin typeface="Abadi" panose="020B0604020104020204" pitchFamily="34" charset="0"/>
              </a:rPr>
              <a:t>Precision</a:t>
            </a:r>
            <a:r>
              <a:rPr lang="en-US" sz="2200" dirty="0">
                <a:solidFill>
                  <a:schemeClr val="accent3">
                    <a:lumMod val="25000"/>
                  </a:schemeClr>
                </a:solidFill>
                <a:latin typeface="Abadi" panose="020B0604020104020204" pitchFamily="34" charset="0"/>
              </a:rPr>
              <a:t> of 80% (12 True Positives, 15 Predicted Positives)</a:t>
            </a:r>
          </a:p>
          <a:p>
            <a:pPr>
              <a:lnSpc>
                <a:spcPct val="100000"/>
              </a:lnSpc>
              <a:spcBef>
                <a:spcPts val="1400"/>
              </a:spcBef>
            </a:pPr>
            <a:r>
              <a:rPr lang="en-US" sz="2200" b="1" u="sng" dirty="0">
                <a:solidFill>
                  <a:schemeClr val="accent3">
                    <a:lumMod val="25000"/>
                  </a:schemeClr>
                </a:solidFill>
                <a:latin typeface="Abadi" panose="020B0604020104020204" pitchFamily="34" charset="0"/>
              </a:rPr>
              <a:t>Specificity</a:t>
            </a:r>
            <a:r>
              <a:rPr lang="en-US" sz="2200" dirty="0">
                <a:solidFill>
                  <a:schemeClr val="accent3">
                    <a:lumMod val="25000"/>
                  </a:schemeClr>
                </a:solidFill>
                <a:latin typeface="Abadi" panose="020B0604020104020204" pitchFamily="34" charset="0"/>
              </a:rPr>
              <a:t> (1-FPR) of 50% is a key model limitation (</a:t>
            </a:r>
            <a:r>
              <a:rPr lang="en-US" sz="2200" b="1" dirty="0">
                <a:solidFill>
                  <a:schemeClr val="accent3">
                    <a:lumMod val="25000"/>
                  </a:schemeClr>
                </a:solidFill>
                <a:latin typeface="Abadi" panose="020B0604020104020204" pitchFamily="34" charset="0"/>
              </a:rPr>
              <a:t>3 False Positives</a:t>
            </a:r>
            <a:r>
              <a:rPr lang="en-US" sz="2200" dirty="0">
                <a:solidFill>
                  <a:schemeClr val="accent3">
                    <a:lumMod val="25000"/>
                  </a:schemeClr>
                </a:solidFill>
                <a:latin typeface="Abadi" panose="020B0604020104020204" pitchFamily="34" charset="0"/>
              </a:rPr>
              <a:t> and 3 True Negatives)</a:t>
            </a:r>
          </a:p>
        </p:txBody>
      </p:sp>
      <p:sp>
        <p:nvSpPr>
          <p:cNvPr id="9" name="Title 1">
            <a:extLst>
              <a:ext uri="{FF2B5EF4-FFF2-40B4-BE49-F238E27FC236}">
                <a16:creationId xmlns:a16="http://schemas.microsoft.com/office/drawing/2014/main" id="{533106AC-60D7-46AE-8E64-7B84ABDBD09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Confusion Matrix</a:t>
            </a:r>
            <a:endParaRPr lang="en-US" dirty="0">
              <a:solidFill>
                <a:srgbClr val="0B49CB"/>
              </a:solidFill>
            </a:endParaRPr>
          </a:p>
        </p:txBody>
      </p:sp>
      <p:pic>
        <p:nvPicPr>
          <p:cNvPr id="2050" name="Picture 2">
            <a:extLst>
              <a:ext uri="{FF2B5EF4-FFF2-40B4-BE49-F238E27FC236}">
                <a16:creationId xmlns:a16="http://schemas.microsoft.com/office/drawing/2014/main" id="{F4F79125-F825-063C-780E-67C2F9F2C1D3}"/>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28675" y="1399224"/>
            <a:ext cx="4200525" cy="3590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50342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59</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404257"/>
            <a:ext cx="4174279" cy="4526280"/>
          </a:xfrm>
          <a:prstGeom prst="rect">
            <a:avLst/>
          </a:prstGeom>
        </p:spPr>
        <p:txBody>
          <a:bodyPr>
            <a:normAutofit fontScale="85000" lnSpcReduction="20000"/>
          </a:bodyPr>
          <a:lstStyle/>
          <a:p>
            <a:pPr marL="0" indent="0">
              <a:lnSpc>
                <a:spcPct val="100000"/>
              </a:lnSpc>
              <a:spcBef>
                <a:spcPts val="1200"/>
              </a:spcBef>
              <a:buNone/>
            </a:pPr>
            <a:r>
              <a:rPr lang="en-US" sz="2400" b="1" dirty="0">
                <a:solidFill>
                  <a:schemeClr val="accent3">
                    <a:lumMod val="25000"/>
                  </a:schemeClr>
                </a:solidFill>
                <a:latin typeface="Abadi" panose="020B0604020104020204" pitchFamily="34" charset="0"/>
              </a:rPr>
              <a:t>Launch Sites Locations </a:t>
            </a:r>
            <a:r>
              <a:rPr lang="en-US" sz="1600" dirty="0">
                <a:solidFill>
                  <a:schemeClr val="accent3">
                    <a:lumMod val="25000"/>
                  </a:schemeClr>
                </a:solidFill>
                <a:latin typeface="Abadi" panose="020B0604020104020204" pitchFamily="34" charset="0"/>
              </a:rPr>
              <a:t>(*)</a:t>
            </a:r>
          </a:p>
          <a:p>
            <a:pPr>
              <a:lnSpc>
                <a:spcPct val="100000"/>
              </a:lnSpc>
              <a:spcBef>
                <a:spcPts val="1200"/>
              </a:spcBef>
            </a:pPr>
            <a:r>
              <a:rPr lang="en-US" sz="2200" dirty="0">
                <a:solidFill>
                  <a:schemeClr val="accent3">
                    <a:lumMod val="25000"/>
                  </a:schemeClr>
                </a:solidFill>
                <a:latin typeface="Abadi" panose="020B0604020104020204" pitchFamily="34" charset="0"/>
              </a:rPr>
              <a:t>Mainly on the east coast (2/3) – Eastward Boost</a:t>
            </a:r>
          </a:p>
          <a:p>
            <a:pPr>
              <a:lnSpc>
                <a:spcPct val="100000"/>
              </a:lnSpc>
              <a:spcBef>
                <a:spcPts val="1200"/>
              </a:spcBef>
            </a:pPr>
            <a:r>
              <a:rPr lang="en-US" sz="2200" dirty="0">
                <a:solidFill>
                  <a:schemeClr val="accent3">
                    <a:lumMod val="25000"/>
                  </a:schemeClr>
                </a:solidFill>
                <a:latin typeface="Abadi" panose="020B0604020104020204" pitchFamily="34" charset="0"/>
              </a:rPr>
              <a:t>Farther from cities and close to the coast, railway and highway</a:t>
            </a:r>
          </a:p>
          <a:p>
            <a:pPr marL="0" indent="0">
              <a:lnSpc>
                <a:spcPct val="100000"/>
              </a:lnSpc>
              <a:spcBef>
                <a:spcPts val="1200"/>
              </a:spcBef>
              <a:buNone/>
            </a:pPr>
            <a:endParaRPr lang="en-US" sz="2200" dirty="0">
              <a:solidFill>
                <a:schemeClr val="accent3">
                  <a:lumMod val="25000"/>
                </a:schemeClr>
              </a:solidFill>
              <a:latin typeface="Abadi" panose="020B0604020104020204" pitchFamily="34" charset="0"/>
            </a:endParaRPr>
          </a:p>
          <a:p>
            <a:pPr marL="0" indent="0">
              <a:lnSpc>
                <a:spcPct val="100000"/>
              </a:lnSpc>
              <a:spcBef>
                <a:spcPts val="1200"/>
              </a:spcBef>
              <a:buNone/>
            </a:pPr>
            <a:r>
              <a:rPr lang="en-US" sz="2400" b="1" dirty="0">
                <a:solidFill>
                  <a:schemeClr val="accent3">
                    <a:lumMod val="25000"/>
                  </a:schemeClr>
                </a:solidFill>
                <a:latin typeface="Abadi" panose="020B0604020104020204" pitchFamily="34" charset="0"/>
              </a:rPr>
              <a:t>General</a:t>
            </a:r>
          </a:p>
          <a:p>
            <a:pPr>
              <a:lnSpc>
                <a:spcPct val="100000"/>
              </a:lnSpc>
              <a:spcBef>
                <a:spcPts val="1200"/>
              </a:spcBef>
            </a:pPr>
            <a:r>
              <a:rPr lang="en-US" sz="2200" dirty="0">
                <a:solidFill>
                  <a:schemeClr val="accent3">
                    <a:lumMod val="25000"/>
                  </a:schemeClr>
                </a:solidFill>
                <a:latin typeface="Abadi" panose="020B0604020104020204" pitchFamily="34" charset="0"/>
              </a:rPr>
              <a:t>Increasing trend in success rate from 2013 to 2020. Low success rate for the first 25 launches mainly performed at CCAFS SLC-40</a:t>
            </a:r>
          </a:p>
          <a:p>
            <a:pPr>
              <a:lnSpc>
                <a:spcPct val="100000"/>
              </a:lnSpc>
              <a:spcBef>
                <a:spcPts val="1200"/>
              </a:spcBef>
            </a:pPr>
            <a:r>
              <a:rPr lang="en-US" sz="2200" dirty="0">
                <a:solidFill>
                  <a:schemeClr val="accent3">
                    <a:lumMod val="25000"/>
                  </a:schemeClr>
                </a:solidFill>
                <a:latin typeface="Abadi" panose="020B0604020104020204" pitchFamily="34" charset="0"/>
              </a:rPr>
              <a:t>Increasing portion of heavy payloads (+10000 kg), except for VAFB SLC-4E</a:t>
            </a: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a:solidFill>
                <a:srgbClr val="0B49CB"/>
              </a:solidFill>
            </a:endParaRPr>
          </a:p>
        </p:txBody>
      </p:sp>
      <p:sp>
        <p:nvSpPr>
          <p:cNvPr id="3" name="Content Placeholder 3">
            <a:extLst>
              <a:ext uri="{FF2B5EF4-FFF2-40B4-BE49-F238E27FC236}">
                <a16:creationId xmlns:a16="http://schemas.microsoft.com/office/drawing/2014/main" id="{207B5D17-CEB6-5750-8522-1F0FE8AC9A80}"/>
              </a:ext>
            </a:extLst>
          </p:cNvPr>
          <p:cNvSpPr txBox="1">
            <a:spLocks/>
          </p:cNvSpPr>
          <p:nvPr/>
        </p:nvSpPr>
        <p:spPr>
          <a:xfrm>
            <a:off x="5434148" y="1399903"/>
            <a:ext cx="5910943" cy="4526280"/>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200"/>
              </a:spcBef>
              <a:buNone/>
            </a:pPr>
            <a:r>
              <a:rPr lang="en-US" sz="2200" b="1" dirty="0">
                <a:solidFill>
                  <a:schemeClr val="accent3">
                    <a:lumMod val="25000"/>
                  </a:schemeClr>
                </a:solidFill>
                <a:latin typeface="Abadi" panose="020B0604020104020204" pitchFamily="34" charset="0"/>
              </a:rPr>
              <a:t>Orbits</a:t>
            </a:r>
          </a:p>
          <a:p>
            <a:pPr>
              <a:lnSpc>
                <a:spcPct val="100000"/>
              </a:lnSpc>
              <a:spcBef>
                <a:spcPts val="1200"/>
              </a:spcBef>
            </a:pPr>
            <a:r>
              <a:rPr lang="en-US" sz="2200" dirty="0">
                <a:solidFill>
                  <a:schemeClr val="accent3">
                    <a:lumMod val="25000"/>
                  </a:schemeClr>
                </a:solidFill>
                <a:latin typeface="Abadi" panose="020B0604020104020204" pitchFamily="34" charset="0"/>
              </a:rPr>
              <a:t>SSO, VLEO – orbits with the highest success rate (&gt; 85%), having at least 5 launches</a:t>
            </a:r>
          </a:p>
          <a:p>
            <a:pPr>
              <a:lnSpc>
                <a:spcPct val="100000"/>
              </a:lnSpc>
              <a:spcBef>
                <a:spcPts val="1200"/>
              </a:spcBef>
            </a:pPr>
            <a:r>
              <a:rPr lang="en-US" sz="2200" dirty="0">
                <a:solidFill>
                  <a:schemeClr val="accent3">
                    <a:lumMod val="25000"/>
                  </a:schemeClr>
                </a:solidFill>
                <a:latin typeface="Abadi" panose="020B0604020104020204" pitchFamily="34" charset="0"/>
              </a:rPr>
              <a:t>VLEO – started from flight 65 – Starlink era. Heavy payloads +15000 kg.</a:t>
            </a:r>
          </a:p>
          <a:p>
            <a:pPr>
              <a:lnSpc>
                <a:spcPct val="100000"/>
              </a:lnSpc>
              <a:spcBef>
                <a:spcPts val="1200"/>
              </a:spcBef>
            </a:pPr>
            <a:endParaRPr lang="en-US" sz="2200" dirty="0">
              <a:solidFill>
                <a:schemeClr val="accent3">
                  <a:lumMod val="25000"/>
                </a:schemeClr>
              </a:solidFill>
              <a:latin typeface="Abadi" panose="020B0604020104020204" pitchFamily="34" charset="0"/>
            </a:endParaRPr>
          </a:p>
          <a:p>
            <a:pPr marL="0" indent="0">
              <a:lnSpc>
                <a:spcPct val="100000"/>
              </a:lnSpc>
              <a:spcBef>
                <a:spcPts val="1200"/>
              </a:spcBef>
              <a:buFont typeface="Arial" panose="020B0604020202020204" pitchFamily="34" charset="0"/>
              <a:buNone/>
            </a:pPr>
            <a:r>
              <a:rPr lang="en-US" sz="2200" b="1" dirty="0">
                <a:solidFill>
                  <a:schemeClr val="accent3">
                    <a:lumMod val="25000"/>
                  </a:schemeClr>
                </a:solidFill>
                <a:latin typeface="Abadi" panose="020B0604020104020204" pitchFamily="34" charset="0"/>
              </a:rPr>
              <a:t>Payloads</a:t>
            </a:r>
          </a:p>
          <a:p>
            <a:pPr>
              <a:lnSpc>
                <a:spcPct val="100000"/>
              </a:lnSpc>
              <a:spcBef>
                <a:spcPts val="1200"/>
              </a:spcBef>
            </a:pPr>
            <a:r>
              <a:rPr lang="en-US" sz="2200" dirty="0">
                <a:solidFill>
                  <a:schemeClr val="accent3">
                    <a:lumMod val="25000"/>
                  </a:schemeClr>
                </a:solidFill>
                <a:latin typeface="Abadi" panose="020B0604020104020204" pitchFamily="34" charset="0"/>
              </a:rPr>
              <a:t>The highest success rate payload range is 3000 – 4000 kg</a:t>
            </a:r>
          </a:p>
          <a:p>
            <a:pPr>
              <a:lnSpc>
                <a:spcPct val="100000"/>
              </a:lnSpc>
              <a:spcBef>
                <a:spcPts val="1200"/>
              </a:spcBef>
            </a:pPr>
            <a:r>
              <a:rPr lang="en-US" sz="2200" dirty="0">
                <a:solidFill>
                  <a:schemeClr val="accent3">
                    <a:lumMod val="25000"/>
                  </a:schemeClr>
                </a:solidFill>
                <a:latin typeface="Abadi" panose="020B0604020104020204" pitchFamily="34" charset="0"/>
              </a:rPr>
              <a:t>The lowest success rate payload range is 6000 – 7000 kg</a:t>
            </a:r>
          </a:p>
          <a:p>
            <a:pPr>
              <a:lnSpc>
                <a:spcPct val="100000"/>
              </a:lnSpc>
              <a:spcBef>
                <a:spcPts val="1200"/>
              </a:spcBef>
            </a:pPr>
            <a:endParaRPr lang="en-US" sz="2200" dirty="0">
              <a:solidFill>
                <a:schemeClr val="accent3">
                  <a:lumMod val="25000"/>
                </a:schemeClr>
              </a:solidFill>
              <a:latin typeface="Abadi" panose="020B0604020104020204" pitchFamily="34" charset="0"/>
            </a:endParaRPr>
          </a:p>
          <a:p>
            <a:pPr marL="0" indent="0">
              <a:lnSpc>
                <a:spcPct val="100000"/>
              </a:lnSpc>
              <a:spcBef>
                <a:spcPts val="1200"/>
              </a:spcBef>
              <a:buNone/>
            </a:pPr>
            <a:r>
              <a:rPr lang="en-US" sz="2100" b="1" dirty="0">
                <a:solidFill>
                  <a:schemeClr val="accent3">
                    <a:lumMod val="25000"/>
                  </a:schemeClr>
                </a:solidFill>
                <a:latin typeface="Abadi" panose="020B0604020104020204" pitchFamily="34" charset="0"/>
              </a:rPr>
              <a:t>Boosters</a:t>
            </a:r>
          </a:p>
          <a:p>
            <a:pPr>
              <a:lnSpc>
                <a:spcPct val="100000"/>
              </a:lnSpc>
              <a:spcBef>
                <a:spcPts val="1200"/>
              </a:spcBef>
            </a:pPr>
            <a:r>
              <a:rPr lang="en-US" sz="2200" dirty="0">
                <a:solidFill>
                  <a:schemeClr val="accent3">
                    <a:lumMod val="25000"/>
                  </a:schemeClr>
                </a:solidFill>
                <a:latin typeface="Abadi"/>
              </a:rPr>
              <a:t>FT Booster Version shows the highest launch success rate</a:t>
            </a:r>
            <a:endParaRPr lang="en-US" sz="2200" dirty="0">
              <a:solidFill>
                <a:schemeClr val="accent3">
                  <a:lumMod val="25000"/>
                </a:schemeClr>
              </a:solidFill>
              <a:latin typeface="Abadi" panose="020B0604020104020204" pitchFamily="34" charset="0"/>
            </a:endParaRPr>
          </a:p>
        </p:txBody>
      </p:sp>
      <p:sp>
        <p:nvSpPr>
          <p:cNvPr id="6" name="TextBox 5">
            <a:extLst>
              <a:ext uri="{FF2B5EF4-FFF2-40B4-BE49-F238E27FC236}">
                <a16:creationId xmlns:a16="http://schemas.microsoft.com/office/drawing/2014/main" id="{CF294C5A-757F-12D4-3BB1-FB3BAF2E494E}"/>
              </a:ext>
            </a:extLst>
          </p:cNvPr>
          <p:cNvSpPr txBox="1"/>
          <p:nvPr/>
        </p:nvSpPr>
        <p:spPr>
          <a:xfrm>
            <a:off x="907869" y="5871754"/>
            <a:ext cx="4036421" cy="430887"/>
          </a:xfrm>
          <a:prstGeom prst="rect">
            <a:avLst/>
          </a:prstGeom>
          <a:noFill/>
        </p:spPr>
        <p:txBody>
          <a:bodyPr wrap="square" rtlCol="0">
            <a:spAutoFit/>
          </a:bodyPr>
          <a:lstStyle/>
          <a:p>
            <a:r>
              <a:rPr kumimoji="0" lang="en-US" sz="1100" b="0" i="0" u="none" strike="noStrike" kern="1200" cap="none" spc="0" normalizeH="0" baseline="0" noProof="0" dirty="0">
                <a:ln>
                  <a:noFill/>
                </a:ln>
                <a:solidFill>
                  <a:srgbClr val="A5A5A5">
                    <a:lumMod val="25000"/>
                  </a:srgbClr>
                </a:solidFill>
                <a:effectLst/>
                <a:uLnTx/>
                <a:uFillTx/>
                <a:latin typeface="Abadi" panose="020B0604020104020204" pitchFamily="34" charset="0"/>
                <a:ea typeface="+mn-ea"/>
                <a:cs typeface="+mn-cs"/>
              </a:rPr>
              <a:t>* (CCAFS LC-40 and CCAFS SLC-40 refer to the same Launch Site)</a:t>
            </a:r>
            <a:endParaRPr lang="en-US" dirty="0"/>
          </a:p>
        </p:txBody>
      </p:sp>
    </p:spTree>
    <p:extLst>
      <p:ext uri="{BB962C8B-B14F-4D97-AF65-F5344CB8AC3E}">
        <p14:creationId xmlns:p14="http://schemas.microsoft.com/office/powerpoint/2010/main" val="16301236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60</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75054"/>
            <a:ext cx="10013378" cy="4351338"/>
          </a:xfrm>
          <a:prstGeom prst="rect">
            <a:avLst/>
          </a:prstGeom>
        </p:spPr>
        <p:txBody>
          <a:bodyPr>
            <a:normAutofit/>
          </a:bodyPr>
          <a:lstStyle/>
          <a:p>
            <a:pPr>
              <a:lnSpc>
                <a:spcPct val="100000"/>
              </a:lnSpc>
              <a:spcBef>
                <a:spcPts val="1400"/>
              </a:spcBef>
            </a:pPr>
            <a:r>
              <a:rPr lang="en-US" sz="2200" b="1" dirty="0">
                <a:solidFill>
                  <a:schemeClr val="accent3">
                    <a:lumMod val="25000"/>
                  </a:schemeClr>
                </a:solidFill>
                <a:latin typeface="Abadi" panose="020B0604020104020204" pitchFamily="34" charset="0"/>
              </a:rPr>
              <a:t>Logistic Regression</a:t>
            </a:r>
            <a:r>
              <a:rPr lang="en-US" sz="2200" dirty="0">
                <a:solidFill>
                  <a:schemeClr val="accent3">
                    <a:lumMod val="25000"/>
                  </a:schemeClr>
                </a:solidFill>
                <a:latin typeface="Abadi" panose="020B0604020104020204" pitchFamily="34" charset="0"/>
              </a:rPr>
              <a:t> was identified as the best performing classification model (Accuracy, Generalization Capacity) to answer the question “Will stage one land successfully?”</a:t>
            </a:r>
          </a:p>
          <a:p>
            <a:pPr lvl="1">
              <a:lnSpc>
                <a:spcPct val="100000"/>
              </a:lnSpc>
              <a:spcBef>
                <a:spcPts val="1400"/>
              </a:spcBef>
            </a:pPr>
            <a:r>
              <a:rPr lang="en-US" sz="1800" dirty="0">
                <a:solidFill>
                  <a:schemeClr val="accent3">
                    <a:lumMod val="25000"/>
                  </a:schemeClr>
                </a:solidFill>
                <a:latin typeface="Abadi" panose="020B0604020104020204" pitchFamily="34" charset="0"/>
              </a:rPr>
              <a:t>Solid results achieved for accuracy (83.3%), recall (100%), and precision (80%)</a:t>
            </a:r>
          </a:p>
          <a:p>
            <a:pPr lvl="1">
              <a:lnSpc>
                <a:spcPct val="100000"/>
              </a:lnSpc>
              <a:spcBef>
                <a:spcPts val="1400"/>
              </a:spcBef>
            </a:pPr>
            <a:r>
              <a:rPr lang="en-US" sz="1800" dirty="0">
                <a:solidFill>
                  <a:schemeClr val="accent3">
                    <a:lumMod val="25000"/>
                  </a:schemeClr>
                </a:solidFill>
                <a:latin typeface="Abadi" panose="020B0604020104020204" pitchFamily="34" charset="0"/>
              </a:rPr>
              <a:t>Specificity of 50% – model is too optimistic in predicting success. Significant tendency to false positives is the main area for improvement.</a:t>
            </a:r>
          </a:p>
          <a:p>
            <a:pPr>
              <a:lnSpc>
                <a:spcPct val="100000"/>
              </a:lnSpc>
              <a:spcBef>
                <a:spcPts val="1400"/>
              </a:spcBef>
            </a:pPr>
            <a:r>
              <a:rPr lang="en-US" sz="2200" b="1" dirty="0">
                <a:solidFill>
                  <a:schemeClr val="accent3">
                    <a:lumMod val="25000"/>
                  </a:schemeClr>
                </a:solidFill>
                <a:latin typeface="Abadi" panose="020B0604020104020204" pitchFamily="34" charset="0"/>
              </a:rPr>
              <a:t>Action</a:t>
            </a:r>
            <a:r>
              <a:rPr lang="en-US" sz="2200" dirty="0">
                <a:solidFill>
                  <a:schemeClr val="accent3">
                    <a:lumMod val="25000"/>
                  </a:schemeClr>
                </a:solidFill>
                <a:latin typeface="Abadi" panose="020B0604020104020204" pitchFamily="34" charset="0"/>
              </a:rPr>
              <a:t> – balance the model by improving Specificity – increase Decision Threshold to tune the model</a:t>
            </a: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a:solidFill>
                <a:srgbClr val="0B49CB"/>
              </a:solidFill>
            </a:endParaRPr>
          </a:p>
        </p:txBody>
      </p:sp>
    </p:spTree>
    <p:extLst>
      <p:ext uri="{BB962C8B-B14F-4D97-AF65-F5344CB8AC3E}">
        <p14:creationId xmlns:p14="http://schemas.microsoft.com/office/powerpoint/2010/main" val="11499273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a:blip r:embed="rId3"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61</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2" y="1417984"/>
            <a:ext cx="5169278" cy="1623390"/>
          </a:xfrm>
          <a:prstGeom prst="rect">
            <a:avLst/>
          </a:prstGeom>
        </p:spPr>
        <p:txBody>
          <a:bodyPr>
            <a:normAutofit fontScale="55000" lnSpcReduction="20000"/>
          </a:bodyPr>
          <a:lstStyle/>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Collection SpaceX API</a:t>
            </a:r>
          </a:p>
          <a:p>
            <a:pPr>
              <a:lnSpc>
                <a:spcPct val="100000"/>
              </a:lnSpc>
              <a:spcBef>
                <a:spcPts val="600"/>
              </a:spcBef>
            </a:pPr>
            <a:r>
              <a:rPr lang="en-US" sz="2200" dirty="0" err="1">
                <a:solidFill>
                  <a:schemeClr val="accent3">
                    <a:lumMod val="25000"/>
                  </a:schemeClr>
                </a:solidFill>
                <a:latin typeface="Consolas" panose="020B0609020204030204" pitchFamily="49" charset="0"/>
              </a:rPr>
              <a:t>static_json_url</a:t>
            </a:r>
            <a:r>
              <a:rPr lang="en-US" sz="2200" dirty="0">
                <a:solidFill>
                  <a:schemeClr val="accent3">
                    <a:lumMod val="25000"/>
                  </a:schemeClr>
                </a:solidFill>
                <a:latin typeface="Consolas" panose="020B0609020204030204" pitchFamily="49" charset="0"/>
              </a:rPr>
              <a:t>='https://cf-courses-data.s3.us.cloud-object-storage.appdomain.cloud/IBM-DS0321EN-SkillsNetwork/datasets/</a:t>
            </a:r>
            <a:r>
              <a:rPr lang="en-US" sz="2200" dirty="0" err="1">
                <a:solidFill>
                  <a:schemeClr val="accent3">
                    <a:lumMod val="25000"/>
                  </a:schemeClr>
                </a:solidFill>
                <a:latin typeface="Consolas" panose="020B0609020204030204" pitchFamily="49" charset="0"/>
              </a:rPr>
              <a:t>API_call_spacex_api.json</a:t>
            </a:r>
            <a:r>
              <a:rPr lang="en-US" sz="2200" dirty="0">
                <a:solidFill>
                  <a:schemeClr val="accent3">
                    <a:lumMod val="25000"/>
                  </a:schemeClr>
                </a:solidFill>
                <a:latin typeface="Consolas" panose="020B0609020204030204" pitchFamily="49" charset="0"/>
              </a:rPr>
              <a:t>’</a:t>
            </a:r>
          </a:p>
          <a:p>
            <a:pPr>
              <a:lnSpc>
                <a:spcPct val="100000"/>
              </a:lnSpc>
              <a:spcBef>
                <a:spcPts val="600"/>
              </a:spcBef>
            </a:pPr>
            <a:r>
              <a:rPr lang="en-US" sz="2200" dirty="0">
                <a:solidFill>
                  <a:schemeClr val="accent3">
                    <a:lumMod val="25000"/>
                  </a:schemeClr>
                </a:solidFill>
                <a:latin typeface="Consolas" panose="020B0609020204030204" pitchFamily="49" charset="0"/>
              </a:rPr>
              <a:t>response = </a:t>
            </a:r>
            <a:r>
              <a:rPr lang="en-US" sz="2200" dirty="0" err="1">
                <a:solidFill>
                  <a:schemeClr val="accent3">
                    <a:lumMod val="25000"/>
                  </a:schemeClr>
                </a:solidFill>
                <a:latin typeface="Consolas" panose="020B0609020204030204" pitchFamily="49" charset="0"/>
              </a:rPr>
              <a:t>requests.get</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static_json_url</a:t>
            </a:r>
            <a:r>
              <a:rPr lang="en-US" sz="2200" dirty="0">
                <a:solidFill>
                  <a:schemeClr val="accent3">
                    <a:lumMod val="25000"/>
                  </a:schemeClr>
                </a:solidFill>
                <a:latin typeface="Consolas" panose="020B0609020204030204" pitchFamily="49" charset="0"/>
              </a:rPr>
              <a:t>)</a:t>
            </a:r>
          </a:p>
          <a:p>
            <a:pPr>
              <a:lnSpc>
                <a:spcPct val="100000"/>
              </a:lnSpc>
              <a:spcBef>
                <a:spcPts val="600"/>
              </a:spcBef>
            </a:pPr>
            <a:r>
              <a:rPr lang="en-US" sz="2200" dirty="0">
                <a:solidFill>
                  <a:schemeClr val="accent3">
                    <a:lumMod val="25000"/>
                  </a:schemeClr>
                </a:solidFill>
                <a:latin typeface="Consolas" panose="020B0609020204030204" pitchFamily="49" charset="0"/>
              </a:rPr>
              <a:t>data = </a:t>
            </a:r>
            <a:r>
              <a:rPr lang="en-US" sz="2200" dirty="0" err="1">
                <a:solidFill>
                  <a:schemeClr val="accent3">
                    <a:lumMod val="25000"/>
                  </a:schemeClr>
                </a:solidFill>
                <a:latin typeface="Consolas" panose="020B0609020204030204" pitchFamily="49" charset="0"/>
              </a:rPr>
              <a:t>pd.json_normalize</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response.json</a:t>
            </a:r>
            <a:r>
              <a:rPr lang="en-US" sz="2200" dirty="0">
                <a:solidFill>
                  <a:schemeClr val="accent3">
                    <a:lumMod val="25000"/>
                  </a:schemeClr>
                </a:solidFill>
                <a:latin typeface="Consolas" panose="020B0609020204030204" pitchFamily="49" charset="0"/>
              </a:rPr>
              <a:t>())</a:t>
            </a:r>
          </a:p>
          <a:p>
            <a:pPr>
              <a:lnSpc>
                <a:spcPct val="100000"/>
              </a:lnSpc>
              <a:spcBef>
                <a:spcPts val="600"/>
              </a:spcBef>
            </a:pPr>
            <a:r>
              <a:rPr lang="en-US" sz="2200" dirty="0">
                <a:solidFill>
                  <a:schemeClr val="accent3">
                    <a:lumMod val="25000"/>
                  </a:schemeClr>
                </a:solidFill>
                <a:latin typeface="Consolas" panose="020B0609020204030204" pitchFamily="49" charset="0"/>
              </a:rPr>
              <a:t>data_falcon9.to_csv('dataset_part_1.csv', index=False)</a:t>
            </a: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 A – Data Collection and Wrangling</a:t>
            </a:r>
            <a:endParaRPr lang="en-US" dirty="0">
              <a:solidFill>
                <a:srgbClr val="0B49CB"/>
              </a:solidFill>
            </a:endParaRPr>
          </a:p>
        </p:txBody>
      </p:sp>
      <p:sp>
        <p:nvSpPr>
          <p:cNvPr id="3" name="Content Placeholder 3">
            <a:extLst>
              <a:ext uri="{FF2B5EF4-FFF2-40B4-BE49-F238E27FC236}">
                <a16:creationId xmlns:a16="http://schemas.microsoft.com/office/drawing/2014/main" id="{90E6A5B8-7D65-0287-24D3-D8CEB487A1D3}"/>
              </a:ext>
            </a:extLst>
          </p:cNvPr>
          <p:cNvSpPr txBox="1">
            <a:spLocks/>
          </p:cNvSpPr>
          <p:nvPr/>
        </p:nvSpPr>
        <p:spPr>
          <a:xfrm>
            <a:off x="770012" y="3096040"/>
            <a:ext cx="5169278" cy="1434547"/>
          </a:xfrm>
          <a:prstGeom prst="rect">
            <a:avLst/>
          </a:prstGeom>
        </p:spPr>
        <p:txBody>
          <a:bodyPr>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Collection Wikipedia</a:t>
            </a:r>
          </a:p>
          <a:p>
            <a:pPr>
              <a:lnSpc>
                <a:spcPct val="100000"/>
              </a:lnSpc>
              <a:spcBef>
                <a:spcPts val="600"/>
              </a:spcBef>
            </a:pPr>
            <a:r>
              <a:rPr lang="en-US" sz="2200" dirty="0" err="1">
                <a:solidFill>
                  <a:schemeClr val="accent3">
                    <a:lumMod val="25000"/>
                  </a:schemeClr>
                </a:solidFill>
                <a:latin typeface="Consolas" panose="020B0609020204030204" pitchFamily="49" charset="0"/>
              </a:rPr>
              <a:t>session.get</a:t>
            </a:r>
            <a:r>
              <a:rPr lang="en-US" sz="2200" dirty="0">
                <a:solidFill>
                  <a:schemeClr val="accent3">
                    <a:lumMod val="25000"/>
                  </a:schemeClr>
                </a:solidFill>
                <a:latin typeface="Consolas" panose="020B0609020204030204" pitchFamily="49" charset="0"/>
              </a:rPr>
              <a:t>("https://en.wikipedia.org/", headers=headers)response = </a:t>
            </a:r>
            <a:r>
              <a:rPr lang="en-US" sz="2200" dirty="0" err="1">
                <a:solidFill>
                  <a:schemeClr val="accent3">
                    <a:lumMod val="25000"/>
                  </a:schemeClr>
                </a:solidFill>
                <a:latin typeface="Consolas" panose="020B0609020204030204" pitchFamily="49" charset="0"/>
              </a:rPr>
              <a:t>session.get</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static_url</a:t>
            </a:r>
            <a:r>
              <a:rPr lang="en-US" sz="2200" dirty="0">
                <a:solidFill>
                  <a:schemeClr val="accent3">
                    <a:lumMod val="25000"/>
                  </a:schemeClr>
                </a:solidFill>
                <a:latin typeface="Consolas" panose="020B0609020204030204" pitchFamily="49" charset="0"/>
              </a:rPr>
              <a:t>, headers=headers)</a:t>
            </a:r>
            <a:r>
              <a:rPr lang="en-US" sz="2200" dirty="0" err="1">
                <a:solidFill>
                  <a:schemeClr val="accent3">
                    <a:lumMod val="25000"/>
                  </a:schemeClr>
                </a:solidFill>
                <a:latin typeface="Consolas" panose="020B0609020204030204" pitchFamily="49" charset="0"/>
              </a:rPr>
              <a:t>response.status_code</a:t>
            </a:r>
            <a:endParaRPr lang="en-US" sz="2200" dirty="0">
              <a:solidFill>
                <a:schemeClr val="accent3">
                  <a:lumMod val="25000"/>
                </a:schemeClr>
              </a:solidFill>
              <a:latin typeface="Consolas" panose="020B0609020204030204" pitchFamily="49" charset="0"/>
            </a:endParaRPr>
          </a:p>
          <a:p>
            <a:pPr>
              <a:lnSpc>
                <a:spcPct val="100000"/>
              </a:lnSpc>
              <a:spcBef>
                <a:spcPts val="600"/>
              </a:spcBef>
            </a:pPr>
            <a:r>
              <a:rPr lang="en-US" sz="2200" dirty="0">
                <a:solidFill>
                  <a:schemeClr val="accent3">
                    <a:lumMod val="25000"/>
                  </a:schemeClr>
                </a:solidFill>
                <a:latin typeface="Consolas" panose="020B0609020204030204" pitchFamily="49" charset="0"/>
              </a:rPr>
              <a:t>html = </a:t>
            </a:r>
            <a:r>
              <a:rPr lang="en-US" sz="2200" dirty="0" err="1">
                <a:solidFill>
                  <a:schemeClr val="accent3">
                    <a:lumMod val="25000"/>
                  </a:schemeClr>
                </a:solidFill>
                <a:latin typeface="Consolas" panose="020B0609020204030204" pitchFamily="49" charset="0"/>
              </a:rPr>
              <a:t>response.text</a:t>
            </a:r>
            <a:r>
              <a:rPr lang="en-US" sz="2200" dirty="0">
                <a:solidFill>
                  <a:schemeClr val="accent3">
                    <a:lumMod val="25000"/>
                  </a:schemeClr>
                </a:solidFill>
                <a:latin typeface="Consolas" panose="020B0609020204030204" pitchFamily="49" charset="0"/>
              </a:rPr>
              <a:t> </a:t>
            </a:r>
          </a:p>
          <a:p>
            <a:pPr>
              <a:lnSpc>
                <a:spcPct val="100000"/>
              </a:lnSpc>
              <a:spcBef>
                <a:spcPts val="600"/>
              </a:spcBef>
            </a:pPr>
            <a:r>
              <a:rPr lang="en-US" sz="2200" dirty="0">
                <a:solidFill>
                  <a:schemeClr val="accent3">
                    <a:lumMod val="25000"/>
                  </a:schemeClr>
                </a:solidFill>
                <a:latin typeface="Consolas" panose="020B0609020204030204" pitchFamily="49" charset="0"/>
              </a:rPr>
              <a:t>soup = BeautifulSoup(html, "</a:t>
            </a:r>
            <a:r>
              <a:rPr lang="en-US" sz="2200" dirty="0" err="1">
                <a:solidFill>
                  <a:schemeClr val="accent3">
                    <a:lumMod val="25000"/>
                  </a:schemeClr>
                </a:solidFill>
                <a:latin typeface="Consolas" panose="020B0609020204030204" pitchFamily="49" charset="0"/>
              </a:rPr>
              <a:t>html.parser</a:t>
            </a:r>
            <a:r>
              <a:rPr lang="en-US" sz="2200" dirty="0">
                <a:solidFill>
                  <a:schemeClr val="accent3">
                    <a:lumMod val="25000"/>
                  </a:schemeClr>
                </a:solidFill>
                <a:latin typeface="Consolas" panose="020B0609020204030204" pitchFamily="49" charset="0"/>
              </a:rPr>
              <a:t>")</a:t>
            </a:r>
          </a:p>
          <a:p>
            <a:pPr>
              <a:lnSpc>
                <a:spcPct val="100000"/>
              </a:lnSpc>
              <a:spcBef>
                <a:spcPts val="600"/>
              </a:spcBef>
            </a:pPr>
            <a:r>
              <a:rPr lang="en-US" sz="2200" dirty="0" err="1">
                <a:solidFill>
                  <a:schemeClr val="accent3">
                    <a:lumMod val="25000"/>
                  </a:schemeClr>
                </a:solidFill>
                <a:latin typeface="Consolas" panose="020B0609020204030204" pitchFamily="49" charset="0"/>
              </a:rPr>
              <a:t>df.to_csv</a:t>
            </a:r>
            <a:r>
              <a:rPr lang="en-US" sz="2200" dirty="0">
                <a:solidFill>
                  <a:schemeClr val="accent3">
                    <a:lumMod val="25000"/>
                  </a:schemeClr>
                </a:solidFill>
                <a:latin typeface="Consolas" panose="020B0609020204030204" pitchFamily="49" charset="0"/>
              </a:rPr>
              <a:t>('spacex_web_scraped.csv', index=False)</a:t>
            </a:r>
          </a:p>
        </p:txBody>
      </p:sp>
      <p:sp>
        <p:nvSpPr>
          <p:cNvPr id="4" name="Content Placeholder 3">
            <a:extLst>
              <a:ext uri="{FF2B5EF4-FFF2-40B4-BE49-F238E27FC236}">
                <a16:creationId xmlns:a16="http://schemas.microsoft.com/office/drawing/2014/main" id="{DA498493-6512-8828-86B6-E71283FE620E}"/>
              </a:ext>
            </a:extLst>
          </p:cNvPr>
          <p:cNvSpPr txBox="1">
            <a:spLocks/>
          </p:cNvSpPr>
          <p:nvPr/>
        </p:nvSpPr>
        <p:spPr>
          <a:xfrm>
            <a:off x="770010" y="4585253"/>
            <a:ext cx="5169277" cy="1676400"/>
          </a:xfrm>
          <a:prstGeom prst="rect">
            <a:avLst/>
          </a:prstGeom>
        </p:spPr>
        <p:txBody>
          <a:bodyPr>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Wrangling</a:t>
            </a:r>
          </a:p>
          <a:p>
            <a:pPr>
              <a:lnSpc>
                <a:spcPct val="100000"/>
              </a:lnSpc>
              <a:spcBef>
                <a:spcPts val="600"/>
              </a:spcBef>
            </a:pPr>
            <a:r>
              <a:rPr lang="en-US" sz="2200" dirty="0" err="1">
                <a:solidFill>
                  <a:schemeClr val="accent3">
                    <a:lumMod val="25000"/>
                  </a:schemeClr>
                </a:solidFill>
                <a:latin typeface="Consolas" panose="020B0609020204030204" pitchFamily="49" charset="0"/>
              </a:rPr>
              <a:t>PayLoadMass_mean</a:t>
            </a:r>
            <a:r>
              <a:rPr lang="en-US" sz="2200" dirty="0">
                <a:solidFill>
                  <a:schemeClr val="accent3">
                    <a:lumMod val="25000"/>
                  </a:schemeClr>
                </a:solidFill>
                <a:latin typeface="Consolas" panose="020B0609020204030204" pitchFamily="49" charset="0"/>
              </a:rPr>
              <a:t> = data_falcon9['PayloadMass'].mean()</a:t>
            </a:r>
          </a:p>
          <a:p>
            <a:pPr>
              <a:lnSpc>
                <a:spcPct val="100000"/>
              </a:lnSpc>
              <a:spcBef>
                <a:spcPts val="600"/>
              </a:spcBef>
            </a:pPr>
            <a:r>
              <a:rPr lang="en-US" sz="2200" dirty="0">
                <a:solidFill>
                  <a:schemeClr val="accent3">
                    <a:lumMod val="25000"/>
                  </a:schemeClr>
                </a:solidFill>
                <a:latin typeface="Consolas" panose="020B0609020204030204" pitchFamily="49" charset="0"/>
              </a:rPr>
              <a:t>data_falcon9['PayloadMass'] = data_falcon9['PayloadMass'].</a:t>
            </a:r>
            <a:r>
              <a:rPr lang="en-US" sz="2200" dirty="0" err="1">
                <a:solidFill>
                  <a:schemeClr val="accent3">
                    <a:lumMod val="25000"/>
                  </a:schemeClr>
                </a:solidFill>
                <a:latin typeface="Consolas" panose="020B0609020204030204" pitchFamily="49" charset="0"/>
              </a:rPr>
              <a:t>fillna</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PayLoadMass_mean</a:t>
            </a:r>
            <a:r>
              <a:rPr lang="en-US" sz="2200" dirty="0">
                <a:solidFill>
                  <a:schemeClr val="accent3">
                    <a:lumMod val="25000"/>
                  </a:schemeClr>
                </a:solidFill>
                <a:latin typeface="Consolas" panose="020B0609020204030204" pitchFamily="49" charset="0"/>
              </a:rPr>
              <a:t>)</a:t>
            </a:r>
          </a:p>
          <a:p>
            <a:pPr>
              <a:lnSpc>
                <a:spcPct val="100000"/>
              </a:lnSpc>
              <a:spcBef>
                <a:spcPts val="600"/>
              </a:spcBef>
            </a:pPr>
            <a:endParaRPr lang="en-US" sz="2200" dirty="0">
              <a:solidFill>
                <a:schemeClr val="accent3">
                  <a:lumMod val="25000"/>
                </a:schemeClr>
              </a:solidFill>
              <a:latin typeface="Consolas" panose="020B0609020204030204" pitchFamily="49" charset="0"/>
            </a:endParaRPr>
          </a:p>
          <a:p>
            <a:pPr>
              <a:lnSpc>
                <a:spcPct val="100000"/>
              </a:lnSpc>
              <a:spcBef>
                <a:spcPts val="600"/>
              </a:spcBef>
            </a:pPr>
            <a:r>
              <a:rPr lang="en-US" sz="2200" dirty="0" err="1">
                <a:solidFill>
                  <a:schemeClr val="accent3">
                    <a:lumMod val="25000"/>
                  </a:schemeClr>
                </a:solidFill>
                <a:latin typeface="Consolas" panose="020B0609020204030204" pitchFamily="49" charset="0"/>
              </a:rPr>
              <a:t>bad_outcomes</a:t>
            </a:r>
            <a:r>
              <a:rPr lang="en-US" sz="2200" dirty="0">
                <a:solidFill>
                  <a:schemeClr val="accent3">
                    <a:lumMod val="25000"/>
                  </a:schemeClr>
                </a:solidFill>
                <a:latin typeface="Consolas" panose="020B0609020204030204" pitchFamily="49" charset="0"/>
              </a:rPr>
              <a:t>=set(</a:t>
            </a:r>
            <a:r>
              <a:rPr lang="en-US" sz="2200" dirty="0" err="1">
                <a:solidFill>
                  <a:schemeClr val="accent3">
                    <a:lumMod val="25000"/>
                  </a:schemeClr>
                </a:solidFill>
                <a:latin typeface="Consolas" panose="020B0609020204030204" pitchFamily="49" charset="0"/>
              </a:rPr>
              <a:t>landing_outcomes.keys</a:t>
            </a:r>
            <a:r>
              <a:rPr lang="en-US" sz="2200" dirty="0">
                <a:solidFill>
                  <a:schemeClr val="accent3">
                    <a:lumMod val="25000"/>
                  </a:schemeClr>
                </a:solidFill>
                <a:latin typeface="Consolas" panose="020B0609020204030204" pitchFamily="49" charset="0"/>
              </a:rPr>
              <a:t>()[[1,3,5,6,7]])</a:t>
            </a:r>
          </a:p>
          <a:p>
            <a:pPr>
              <a:lnSpc>
                <a:spcPct val="100000"/>
              </a:lnSpc>
              <a:spcBef>
                <a:spcPts val="600"/>
              </a:spcBef>
            </a:pPr>
            <a:r>
              <a:rPr lang="en-US" sz="2200" dirty="0" err="1">
                <a:solidFill>
                  <a:schemeClr val="accent3">
                    <a:lumMod val="25000"/>
                  </a:schemeClr>
                </a:solidFill>
                <a:latin typeface="Consolas" panose="020B0609020204030204" pitchFamily="49" charset="0"/>
              </a:rPr>
              <a:t>landing_class</a:t>
            </a:r>
            <a:r>
              <a:rPr lang="en-US" sz="2200" dirty="0">
                <a:solidFill>
                  <a:schemeClr val="accent3">
                    <a:lumMod val="25000"/>
                  </a:schemeClr>
                </a:solidFill>
                <a:latin typeface="Consolas" panose="020B0609020204030204" pitchFamily="49" charset="0"/>
              </a:rPr>
              <a:t> = [int(Out not in </a:t>
            </a:r>
            <a:r>
              <a:rPr lang="en-US" sz="2200" dirty="0" err="1">
                <a:solidFill>
                  <a:schemeClr val="accent3">
                    <a:lumMod val="25000"/>
                  </a:schemeClr>
                </a:solidFill>
                <a:latin typeface="Consolas" panose="020B0609020204030204" pitchFamily="49" charset="0"/>
              </a:rPr>
              <a:t>bad_outcomes</a:t>
            </a:r>
            <a:r>
              <a:rPr lang="en-US" sz="2200" dirty="0">
                <a:solidFill>
                  <a:schemeClr val="accent3">
                    <a:lumMod val="25000"/>
                  </a:schemeClr>
                </a:solidFill>
                <a:latin typeface="Consolas" panose="020B0609020204030204" pitchFamily="49" charset="0"/>
              </a:rPr>
              <a:t>) for Out in df['Outcome’]]</a:t>
            </a:r>
          </a:p>
          <a:p>
            <a:pPr>
              <a:lnSpc>
                <a:spcPct val="100000"/>
              </a:lnSpc>
              <a:spcBef>
                <a:spcPts val="600"/>
              </a:spcBef>
            </a:pPr>
            <a:endParaRPr lang="en-US" sz="2200" dirty="0">
              <a:solidFill>
                <a:schemeClr val="accent3">
                  <a:lumMod val="25000"/>
                </a:schemeClr>
              </a:solidFill>
              <a:latin typeface="Abadi" panose="020B0604020104020204" pitchFamily="34" charset="0"/>
            </a:endParaRPr>
          </a:p>
          <a:p>
            <a:pPr marL="0" indent="0">
              <a:lnSpc>
                <a:spcPct val="100000"/>
              </a:lnSpc>
              <a:spcBef>
                <a:spcPts val="600"/>
              </a:spcBef>
              <a:buNone/>
            </a:pPr>
            <a:endParaRPr lang="en-US" sz="2200" dirty="0">
              <a:solidFill>
                <a:schemeClr val="accent3">
                  <a:lumMod val="25000"/>
                </a:schemeClr>
              </a:solidFill>
              <a:latin typeface="Abadi" panose="020B0604020104020204" pitchFamily="34" charset="0"/>
            </a:endParaRPr>
          </a:p>
        </p:txBody>
      </p:sp>
      <p:pic>
        <p:nvPicPr>
          <p:cNvPr id="15" name="Picture 14">
            <a:extLst>
              <a:ext uri="{FF2B5EF4-FFF2-40B4-BE49-F238E27FC236}">
                <a16:creationId xmlns:a16="http://schemas.microsoft.com/office/drawing/2014/main" id="{B67FFDC8-F331-4F95-40E0-5501F08E3CD4}"/>
              </a:ext>
            </a:extLst>
          </p:cNvPr>
          <p:cNvPicPr>
            <a:picLocks noChangeAspect="1"/>
          </p:cNvPicPr>
          <p:nvPr/>
        </p:nvPicPr>
        <p:blipFill>
          <a:blip r:embed="rId4" cstate="screen">
            <a:extLst>
              <a:ext uri="{28A0092B-C50C-407E-A947-70E740481C1C}">
                <a14:useLocalDpi xmlns:a14="http://schemas.microsoft.com/office/drawing/2010/main"/>
              </a:ext>
            </a:extLst>
          </a:blip>
          <a:srcRect t="-2"/>
          <a:stretch/>
        </p:blipFill>
        <p:spPr>
          <a:xfrm>
            <a:off x="5939290" y="3112825"/>
            <a:ext cx="5441948" cy="1357012"/>
          </a:xfrm>
          <a:prstGeom prst="rect">
            <a:avLst/>
          </a:prstGeom>
        </p:spPr>
      </p:pic>
      <p:pic>
        <p:nvPicPr>
          <p:cNvPr id="17" name="Picture 16">
            <a:extLst>
              <a:ext uri="{FF2B5EF4-FFF2-40B4-BE49-F238E27FC236}">
                <a16:creationId xmlns:a16="http://schemas.microsoft.com/office/drawing/2014/main" id="{700F71ED-4343-9219-E8CC-726EF8B9CC1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5939287" y="1417984"/>
            <a:ext cx="5441951" cy="1357012"/>
          </a:xfrm>
          <a:prstGeom prst="rect">
            <a:avLst/>
          </a:prstGeom>
        </p:spPr>
      </p:pic>
      <p:pic>
        <p:nvPicPr>
          <p:cNvPr id="19" name="Picture 18">
            <a:extLst>
              <a:ext uri="{FF2B5EF4-FFF2-40B4-BE49-F238E27FC236}">
                <a16:creationId xmlns:a16="http://schemas.microsoft.com/office/drawing/2014/main" id="{AF31CD8A-A0BD-10C7-DE34-F5C34473E1CF}"/>
              </a:ext>
            </a:extLst>
          </p:cNvPr>
          <p:cNvPicPr>
            <a:picLocks noChangeAspect="1"/>
          </p:cNvPicPr>
          <p:nvPr/>
        </p:nvPicPr>
        <p:blipFill>
          <a:blip r:embed="rId6" cstate="screen">
            <a:extLst>
              <a:ext uri="{28A0092B-C50C-407E-A947-70E740481C1C}">
                <a14:useLocalDpi xmlns:a14="http://schemas.microsoft.com/office/drawing/2010/main"/>
              </a:ext>
            </a:extLst>
          </a:blip>
          <a:srcRect b="-44542"/>
          <a:stretch/>
        </p:blipFill>
        <p:spPr>
          <a:xfrm>
            <a:off x="5939290" y="4692542"/>
            <a:ext cx="5441948" cy="1357012"/>
          </a:xfrm>
          <a:prstGeom prst="rect">
            <a:avLst/>
          </a:prstGeom>
        </p:spPr>
      </p:pic>
    </p:spTree>
    <p:extLst>
      <p:ext uri="{BB962C8B-B14F-4D97-AF65-F5344CB8AC3E}">
        <p14:creationId xmlns:p14="http://schemas.microsoft.com/office/powerpoint/2010/main" val="34100085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a:blip r:embed="rId3"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62</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2" y="1417984"/>
            <a:ext cx="5169278" cy="2093312"/>
          </a:xfrm>
          <a:prstGeom prst="rect">
            <a:avLst/>
          </a:prstGeom>
        </p:spPr>
        <p:txBody>
          <a:bodyPr>
            <a:normAutofit fontScale="47500" lnSpcReduction="20000"/>
          </a:bodyPr>
          <a:lstStyle/>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SQL</a:t>
            </a:r>
          </a:p>
          <a:p>
            <a:pPr>
              <a:lnSpc>
                <a:spcPct val="100000"/>
              </a:lnSpc>
              <a:spcBef>
                <a:spcPts val="600"/>
              </a:spcBef>
            </a:pP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sql</a:t>
            </a:r>
            <a:r>
              <a:rPr lang="en-US" sz="2200" dirty="0">
                <a:solidFill>
                  <a:schemeClr val="accent3">
                    <a:lumMod val="25000"/>
                  </a:schemeClr>
                </a:solidFill>
                <a:latin typeface="Consolas" panose="020B0609020204030204" pitchFamily="49" charset="0"/>
              </a:rPr>
              <a:t> create table SPACEXTABLE as select * from SPACEXTBL where Date is not null</a:t>
            </a:r>
          </a:p>
          <a:p>
            <a:pPr>
              <a:lnSpc>
                <a:spcPct val="100000"/>
              </a:lnSpc>
              <a:spcBef>
                <a:spcPts val="600"/>
              </a:spcBef>
            </a:pPr>
            <a:r>
              <a:rPr lang="en-US" sz="2200" dirty="0">
                <a:solidFill>
                  <a:schemeClr val="accent3">
                    <a:lumMod val="25000"/>
                  </a:schemeClr>
                </a:solidFill>
                <a:latin typeface="Consolas" panose="020B0609020204030204" pitchFamily="49" charset="0"/>
              </a:rPr>
              <a:t>select avg(PAYLOAD_MASS__KG_) as Average_Payload_Mass from SPACEXTABLE where "Booster_Version" like "F9 v1.1%“</a:t>
            </a:r>
          </a:p>
          <a:p>
            <a:pPr>
              <a:lnSpc>
                <a:spcPct val="100000"/>
              </a:lnSpc>
              <a:spcBef>
                <a:spcPts val="600"/>
              </a:spcBef>
            </a:pPr>
            <a:r>
              <a:rPr lang="en-US" sz="2200" dirty="0">
                <a:solidFill>
                  <a:schemeClr val="accent3">
                    <a:lumMod val="25000"/>
                  </a:schemeClr>
                </a:solidFill>
                <a:latin typeface="Consolas" panose="020B0609020204030204" pitchFamily="49" charset="0"/>
              </a:rPr>
              <a:t>select </a:t>
            </a:r>
            <a:r>
              <a:rPr lang="en-US" sz="2200" dirty="0" err="1">
                <a:solidFill>
                  <a:schemeClr val="accent3">
                    <a:lumMod val="25000"/>
                  </a:schemeClr>
                </a:solidFill>
                <a:latin typeface="Consolas" panose="020B0609020204030204" pitchFamily="49" charset="0"/>
              </a:rPr>
              <a:t>substr</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Mission_Outcome</a:t>
            </a:r>
            <a:r>
              <a:rPr lang="en-US" sz="2200" dirty="0">
                <a:solidFill>
                  <a:schemeClr val="accent3">
                    <a:lumMod val="25000"/>
                  </a:schemeClr>
                </a:solidFill>
                <a:latin typeface="Consolas" panose="020B0609020204030204" pitchFamily="49" charset="0"/>
              </a:rPr>
              <a:t>", 1, 7) as </a:t>
            </a:r>
            <a:r>
              <a:rPr lang="en-US" sz="2200" dirty="0" err="1">
                <a:solidFill>
                  <a:schemeClr val="accent3">
                    <a:lumMod val="25000"/>
                  </a:schemeClr>
                </a:solidFill>
                <a:latin typeface="Consolas" panose="020B0609020204030204" pitchFamily="49" charset="0"/>
              </a:rPr>
              <a:t>Mission_Outcome</a:t>
            </a:r>
            <a:r>
              <a:rPr lang="en-US" sz="2200" dirty="0">
                <a:solidFill>
                  <a:schemeClr val="accent3">
                    <a:lumMod val="25000"/>
                  </a:schemeClr>
                </a:solidFill>
                <a:latin typeface="Consolas" panose="020B0609020204030204" pitchFamily="49" charset="0"/>
              </a:rPr>
              <a:t>, count(*) as Count from SPACEXTABLE group by </a:t>
            </a:r>
            <a:r>
              <a:rPr lang="en-US" sz="2200" dirty="0" err="1">
                <a:solidFill>
                  <a:schemeClr val="accent3">
                    <a:lumMod val="25000"/>
                  </a:schemeClr>
                </a:solidFill>
                <a:latin typeface="Consolas" panose="020B0609020204030204" pitchFamily="49" charset="0"/>
              </a:rPr>
              <a:t>substr</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Mission_Outcome</a:t>
            </a:r>
            <a:r>
              <a:rPr lang="en-US" sz="2200" dirty="0">
                <a:solidFill>
                  <a:schemeClr val="accent3">
                    <a:lumMod val="25000"/>
                  </a:schemeClr>
                </a:solidFill>
                <a:latin typeface="Consolas" panose="020B0609020204030204" pitchFamily="49" charset="0"/>
              </a:rPr>
              <a:t>", 1, 7)</a:t>
            </a:r>
          </a:p>
          <a:p>
            <a:pPr>
              <a:lnSpc>
                <a:spcPct val="100000"/>
              </a:lnSpc>
              <a:spcBef>
                <a:spcPts val="600"/>
              </a:spcBef>
            </a:pPr>
            <a:r>
              <a:rPr lang="en-US" sz="2200" dirty="0">
                <a:solidFill>
                  <a:schemeClr val="accent3">
                    <a:lumMod val="25000"/>
                  </a:schemeClr>
                </a:solidFill>
                <a:latin typeface="Consolas" panose="020B0609020204030204" pitchFamily="49" charset="0"/>
              </a:rPr>
              <a:t>select Booster_Version, PAYLOAD_MASS__KG_ from SPACEXTABLE where PAYLOAD_MASS__KG_ =    (select max(PAYLOAD_MASS__KG_) from SPACEXTABLE) order by Booster_Version asc</a:t>
            </a:r>
          </a:p>
          <a:p>
            <a:pPr>
              <a:lnSpc>
                <a:spcPct val="100000"/>
              </a:lnSpc>
              <a:spcBef>
                <a:spcPts val="600"/>
              </a:spcBef>
            </a:pPr>
            <a:r>
              <a:rPr lang="en-US" sz="2200" dirty="0">
                <a:solidFill>
                  <a:schemeClr val="accent3">
                    <a:lumMod val="25000"/>
                  </a:schemeClr>
                </a:solidFill>
                <a:latin typeface="Consolas" panose="020B0609020204030204" pitchFamily="49" charset="0"/>
              </a:rPr>
              <a:t>select   Landing_Outcome,   count(*) as Count from SPACEXTABLE where Date between "2010-06-04" and "2017-03-20"group by Landing_Outcome order by Count desc</a:t>
            </a: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 B – EDA SQL &amp; Visualization</a:t>
            </a:r>
            <a:endParaRPr lang="en-US" dirty="0">
              <a:solidFill>
                <a:srgbClr val="0B49CB"/>
              </a:solidFill>
            </a:endParaRPr>
          </a:p>
        </p:txBody>
      </p:sp>
      <p:pic>
        <p:nvPicPr>
          <p:cNvPr id="7" name="Picture 6">
            <a:extLst>
              <a:ext uri="{FF2B5EF4-FFF2-40B4-BE49-F238E27FC236}">
                <a16:creationId xmlns:a16="http://schemas.microsoft.com/office/drawing/2014/main" id="{106E1077-1D32-3FAB-C6FB-4929CE0FAF5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939369" y="1421298"/>
            <a:ext cx="998245" cy="368583"/>
          </a:xfrm>
          <a:prstGeom prst="rect">
            <a:avLst/>
          </a:prstGeom>
        </p:spPr>
      </p:pic>
      <p:pic>
        <p:nvPicPr>
          <p:cNvPr id="9" name="Picture 8">
            <a:extLst>
              <a:ext uri="{FF2B5EF4-FFF2-40B4-BE49-F238E27FC236}">
                <a16:creationId xmlns:a16="http://schemas.microsoft.com/office/drawing/2014/main" id="{5A1F7BCC-D5A3-9694-6311-E8A78538A79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571768" y="1421298"/>
            <a:ext cx="1372804" cy="2093312"/>
          </a:xfrm>
          <a:prstGeom prst="rect">
            <a:avLst/>
          </a:prstGeom>
        </p:spPr>
      </p:pic>
      <p:pic>
        <p:nvPicPr>
          <p:cNvPr id="12" name="Picture 11">
            <a:extLst>
              <a:ext uri="{FF2B5EF4-FFF2-40B4-BE49-F238E27FC236}">
                <a16:creationId xmlns:a16="http://schemas.microsoft.com/office/drawing/2014/main" id="{DC521EC2-5B73-D9B5-135F-69CB8A452622}"/>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229842" y="1421298"/>
            <a:ext cx="1034681" cy="1452865"/>
          </a:xfrm>
          <a:prstGeom prst="rect">
            <a:avLst/>
          </a:prstGeom>
        </p:spPr>
      </p:pic>
      <p:sp>
        <p:nvSpPr>
          <p:cNvPr id="13" name="Content Placeholder 3">
            <a:extLst>
              <a:ext uri="{FF2B5EF4-FFF2-40B4-BE49-F238E27FC236}">
                <a16:creationId xmlns:a16="http://schemas.microsoft.com/office/drawing/2014/main" id="{B0565F2A-DB5B-461E-B8C4-1BE95713C92A}"/>
              </a:ext>
            </a:extLst>
          </p:cNvPr>
          <p:cNvSpPr txBox="1">
            <a:spLocks/>
          </p:cNvSpPr>
          <p:nvPr/>
        </p:nvSpPr>
        <p:spPr>
          <a:xfrm>
            <a:off x="770011" y="3806686"/>
            <a:ext cx="5169278" cy="182601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Font typeface="Arial" panose="020B0604020202020204" pitchFamily="34" charset="0"/>
              <a:buNone/>
            </a:pPr>
            <a:r>
              <a:rPr lang="en-US" sz="1000" b="1" dirty="0">
                <a:solidFill>
                  <a:schemeClr val="accent3">
                    <a:lumMod val="25000"/>
                  </a:schemeClr>
                </a:solidFill>
                <a:latin typeface="Consolas" panose="020B0609020204030204" pitchFamily="49" charset="0"/>
              </a:rPr>
              <a:t>Visualization</a:t>
            </a:r>
          </a:p>
          <a:p>
            <a:pPr marL="0" indent="0">
              <a:lnSpc>
                <a:spcPct val="100000"/>
              </a:lnSpc>
              <a:spcBef>
                <a:spcPts val="600"/>
              </a:spcBef>
              <a:buNone/>
            </a:pPr>
            <a:r>
              <a:rPr lang="en-US" sz="1000" b="1" dirty="0">
                <a:effectLst/>
                <a:latin typeface="Consolas" panose="020B0609020204030204" pitchFamily="49" charset="0"/>
              </a:rPr>
              <a:t>Flight Number and Launch Site</a:t>
            </a:r>
            <a:endParaRPr lang="en-US" sz="1000" b="1" dirty="0">
              <a:solidFill>
                <a:srgbClr val="0D47A1"/>
              </a:solidFill>
              <a:effectLst/>
              <a:latin typeface="Consolas" panose="020B0609020204030204" pitchFamily="49" charset="0"/>
            </a:endParaRP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sns.catplot(y="LaunchSite", x="FlightNumber", hue="Class", data=df, aspect=3)</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plt.xlabel("Flight </a:t>
            </a:r>
            <a:r>
              <a:rPr lang="en-US" sz="1000" dirty="0" err="1">
                <a:solidFill>
                  <a:schemeClr val="accent3">
                    <a:lumMod val="25000"/>
                  </a:schemeClr>
                </a:solidFill>
                <a:latin typeface="Consolas" panose="020B0609020204030204" pitchFamily="49" charset="0"/>
              </a:rPr>
              <a:t>Number",fontsize</a:t>
            </a:r>
            <a:r>
              <a:rPr lang="en-US" sz="1000" dirty="0">
                <a:solidFill>
                  <a:schemeClr val="accent3">
                    <a:lumMod val="25000"/>
                  </a:schemeClr>
                </a:solidFill>
                <a:latin typeface="Consolas" panose="020B0609020204030204" pitchFamily="49" charset="0"/>
              </a:rPr>
              <a:t>=20)</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plt.ylabel("Launch </a:t>
            </a:r>
            <a:r>
              <a:rPr lang="en-US" sz="1000" dirty="0" err="1">
                <a:solidFill>
                  <a:schemeClr val="accent3">
                    <a:lumMod val="25000"/>
                  </a:schemeClr>
                </a:solidFill>
                <a:latin typeface="Consolas" panose="020B0609020204030204" pitchFamily="49" charset="0"/>
              </a:rPr>
              <a:t>Site",fontsize</a:t>
            </a:r>
            <a:r>
              <a:rPr lang="en-US" sz="1000" dirty="0">
                <a:solidFill>
                  <a:schemeClr val="accent3">
                    <a:lumMod val="25000"/>
                  </a:schemeClr>
                </a:solidFill>
                <a:latin typeface="Consolas" panose="020B0609020204030204" pitchFamily="49" charset="0"/>
              </a:rPr>
              <a:t>=20</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plt.xticks(ticks=range(1, 91, 2)) </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plt.show()</a:t>
            </a:r>
          </a:p>
          <a:p>
            <a:pPr marL="0" indent="0">
              <a:lnSpc>
                <a:spcPct val="100000"/>
              </a:lnSpc>
              <a:spcBef>
                <a:spcPts val="600"/>
              </a:spcBef>
              <a:buNone/>
            </a:pPr>
            <a:endParaRPr lang="en-US" sz="1000" dirty="0">
              <a:solidFill>
                <a:schemeClr val="accent3">
                  <a:lumMod val="25000"/>
                </a:schemeClr>
              </a:solidFill>
              <a:latin typeface="Consolas" panose="020B0609020204030204" pitchFamily="49" charset="0"/>
            </a:endParaRPr>
          </a:p>
          <a:p>
            <a:pPr marL="0" indent="0">
              <a:lnSpc>
                <a:spcPct val="100000"/>
              </a:lnSpc>
              <a:spcBef>
                <a:spcPts val="600"/>
              </a:spcBef>
              <a:buNone/>
            </a:pPr>
            <a:endParaRPr lang="en-US" sz="1000" dirty="0">
              <a:solidFill>
                <a:schemeClr val="accent3">
                  <a:lumMod val="25000"/>
                </a:schemeClr>
              </a:solidFill>
              <a:latin typeface="Consolas" panose="020B0609020204030204" pitchFamily="49" charset="0"/>
            </a:endParaRPr>
          </a:p>
        </p:txBody>
      </p:sp>
      <p:pic>
        <p:nvPicPr>
          <p:cNvPr id="16" name="Picture 15">
            <a:extLst>
              <a:ext uri="{FF2B5EF4-FFF2-40B4-BE49-F238E27FC236}">
                <a16:creationId xmlns:a16="http://schemas.microsoft.com/office/drawing/2014/main" id="{A58DF4A8-7A95-D75B-8FBF-F88CE16403D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222884" y="1421298"/>
            <a:ext cx="1063614" cy="504598"/>
          </a:xfrm>
          <a:prstGeom prst="rect">
            <a:avLst/>
          </a:prstGeom>
        </p:spPr>
      </p:pic>
      <p:pic>
        <p:nvPicPr>
          <p:cNvPr id="21" name="Picture 20">
            <a:extLst>
              <a:ext uri="{FF2B5EF4-FFF2-40B4-BE49-F238E27FC236}">
                <a16:creationId xmlns:a16="http://schemas.microsoft.com/office/drawing/2014/main" id="{C9E06560-B014-9D7F-3A49-2CD9B8A9EF19}"/>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5939289" y="3814543"/>
            <a:ext cx="5325234" cy="1720688"/>
          </a:xfrm>
          <a:prstGeom prst="rect">
            <a:avLst/>
          </a:prstGeom>
        </p:spPr>
      </p:pic>
    </p:spTree>
    <p:extLst>
      <p:ext uri="{BB962C8B-B14F-4D97-AF65-F5344CB8AC3E}">
        <p14:creationId xmlns:p14="http://schemas.microsoft.com/office/powerpoint/2010/main" val="21229725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a:blip r:embed="rId3"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63</a:t>
            </a:fld>
            <a:endParaRPr lang="en-US"/>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 B – EDA SQL &amp; Visualization</a:t>
            </a:r>
            <a:endParaRPr lang="en-US" dirty="0">
              <a:solidFill>
                <a:srgbClr val="0B49CB"/>
              </a:solidFill>
            </a:endParaRPr>
          </a:p>
        </p:txBody>
      </p:sp>
      <p:sp>
        <p:nvSpPr>
          <p:cNvPr id="18" name="Content Placeholder 3">
            <a:extLst>
              <a:ext uri="{FF2B5EF4-FFF2-40B4-BE49-F238E27FC236}">
                <a16:creationId xmlns:a16="http://schemas.microsoft.com/office/drawing/2014/main" id="{2BCD44ED-9E1C-3B3F-F8D5-20BBA7D6CA72}"/>
              </a:ext>
            </a:extLst>
          </p:cNvPr>
          <p:cNvSpPr txBox="1">
            <a:spLocks/>
          </p:cNvSpPr>
          <p:nvPr/>
        </p:nvSpPr>
        <p:spPr>
          <a:xfrm>
            <a:off x="770012" y="1456944"/>
            <a:ext cx="5746612" cy="3724656"/>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Font typeface="Arial" panose="020B0604020202020204" pitchFamily="34" charset="0"/>
              <a:buNone/>
            </a:pPr>
            <a:r>
              <a:rPr lang="en-US" sz="1000" b="1" dirty="0">
                <a:solidFill>
                  <a:schemeClr val="accent3">
                    <a:lumMod val="25000"/>
                  </a:schemeClr>
                </a:solidFill>
                <a:latin typeface="Consolas" panose="020B0609020204030204" pitchFamily="49" charset="0"/>
              </a:rPr>
              <a:t>Visualization</a:t>
            </a:r>
          </a:p>
          <a:p>
            <a:pPr marL="0" indent="0">
              <a:lnSpc>
                <a:spcPct val="100000"/>
              </a:lnSpc>
              <a:spcBef>
                <a:spcPts val="600"/>
              </a:spcBef>
              <a:buNone/>
            </a:pPr>
            <a:r>
              <a:rPr lang="en-US" sz="1000" b="1" dirty="0">
                <a:effectLst/>
                <a:latin typeface="Consolas" panose="020B0609020204030204" pitchFamily="49" charset="0"/>
              </a:rPr>
              <a:t>Orbits Success Rate</a:t>
            </a:r>
            <a:endParaRPr lang="en-US" sz="1000" b="1" dirty="0">
              <a:solidFill>
                <a:srgbClr val="0D47A1"/>
              </a:solidFill>
              <a:effectLst/>
              <a:latin typeface="Consolas" panose="020B0609020204030204" pitchFamily="49" charset="0"/>
            </a:endParaRPr>
          </a:p>
          <a:p>
            <a:pPr marL="0" indent="0">
              <a:lnSpc>
                <a:spcPct val="100000"/>
              </a:lnSpc>
              <a:spcBef>
                <a:spcPts val="600"/>
              </a:spcBef>
              <a:buNone/>
            </a:pPr>
            <a:endParaRPr lang="en-US" sz="1000" dirty="0">
              <a:solidFill>
                <a:schemeClr val="accent3">
                  <a:lumMod val="25000"/>
                </a:schemeClr>
              </a:solidFill>
              <a:latin typeface="Consolas" panose="020B0609020204030204" pitchFamily="49" charset="0"/>
            </a:endParaRP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orbit_success = df.groupby('Orbit')['Class'].agg(['mean', 'count’])</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orbit_success.columns=['</a:t>
            </a:r>
            <a:r>
              <a:rPr lang="en-US" sz="1000" dirty="0" err="1">
                <a:solidFill>
                  <a:schemeClr val="accent3">
                    <a:lumMod val="25000"/>
                  </a:schemeClr>
                </a:solidFill>
                <a:latin typeface="Consolas" panose="020B0609020204030204" pitchFamily="49" charset="0"/>
              </a:rPr>
              <a:t>Success_Rate</a:t>
            </a:r>
            <a:r>
              <a:rPr lang="en-US" sz="1000" dirty="0">
                <a:solidFill>
                  <a:schemeClr val="accent3">
                    <a:lumMod val="25000"/>
                  </a:schemeClr>
                </a:solidFill>
                <a:latin typeface="Consolas" panose="020B0609020204030204" pitchFamily="49" charset="0"/>
              </a:rPr>
              <a:t>', 'Count’]</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plt.figure(figsize=(8, 5))</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ax = </a:t>
            </a:r>
            <a:r>
              <a:rPr lang="en-US" sz="1000" dirty="0" err="1">
                <a:solidFill>
                  <a:schemeClr val="accent3">
                    <a:lumMod val="25000"/>
                  </a:schemeClr>
                </a:solidFill>
                <a:latin typeface="Consolas" panose="020B0609020204030204" pitchFamily="49" charset="0"/>
              </a:rPr>
              <a:t>sns.barplot</a:t>
            </a:r>
            <a:r>
              <a:rPr lang="en-US" sz="1000" dirty="0">
                <a:solidFill>
                  <a:schemeClr val="accent3">
                    <a:lumMod val="25000"/>
                  </a:schemeClr>
                </a:solidFill>
                <a:latin typeface="Consolas" panose="020B0609020204030204" pitchFamily="49" charset="0"/>
              </a:rPr>
              <a:t>(x='Orbit’, y='</a:t>
            </a:r>
            <a:r>
              <a:rPr lang="en-US" sz="1000" dirty="0" err="1">
                <a:solidFill>
                  <a:schemeClr val="accent3">
                    <a:lumMod val="25000"/>
                  </a:schemeClr>
                </a:solidFill>
                <a:latin typeface="Consolas" panose="020B0609020204030204" pitchFamily="49" charset="0"/>
              </a:rPr>
              <a:t>Success_Rate</a:t>
            </a:r>
            <a:r>
              <a:rPr lang="en-US" sz="1000" dirty="0">
                <a:solidFill>
                  <a:schemeClr val="accent3">
                    <a:lumMod val="25000"/>
                  </a:schemeClr>
                </a:solidFill>
                <a:latin typeface="Consolas" panose="020B0609020204030204" pitchFamily="49" charset="0"/>
              </a:rPr>
              <a:t>', data=orbit_success, color='</a:t>
            </a:r>
            <a:r>
              <a:rPr lang="en-US" sz="1000" dirty="0" err="1">
                <a:solidFill>
                  <a:schemeClr val="accent3">
                    <a:lumMod val="25000"/>
                  </a:schemeClr>
                </a:solidFill>
                <a:latin typeface="Consolas" panose="020B0609020204030204" pitchFamily="49" charset="0"/>
              </a:rPr>
              <a:t>lightgreen</a:t>
            </a:r>
            <a:r>
              <a:rPr lang="en-US" sz="1000" dirty="0">
                <a:solidFill>
                  <a:schemeClr val="accent3">
                    <a:lumMod val="25000"/>
                  </a:schemeClr>
                </a:solidFill>
                <a:latin typeface="Consolas" panose="020B0609020204030204" pitchFamily="49" charset="0"/>
              </a:rPr>
              <a:t>’)</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for </a:t>
            </a:r>
            <a:r>
              <a:rPr lang="en-US" sz="1000" dirty="0" err="1">
                <a:solidFill>
                  <a:schemeClr val="accent3">
                    <a:lumMod val="25000"/>
                  </a:schemeClr>
                </a:solidFill>
                <a:latin typeface="Consolas" panose="020B0609020204030204" pitchFamily="49" charset="0"/>
              </a:rPr>
              <a:t>i</a:t>
            </a:r>
            <a:r>
              <a:rPr lang="en-US" sz="1000" dirty="0">
                <a:solidFill>
                  <a:schemeClr val="accent3">
                    <a:lumMod val="25000"/>
                  </a:schemeClr>
                </a:solidFill>
                <a:latin typeface="Consolas" panose="020B0609020204030204" pitchFamily="49" charset="0"/>
              </a:rPr>
              <a:t>, row in </a:t>
            </a:r>
            <a:r>
              <a:rPr lang="en-US" sz="1000" dirty="0" err="1">
                <a:solidFill>
                  <a:schemeClr val="accent3">
                    <a:lumMod val="25000"/>
                  </a:schemeClr>
                </a:solidFill>
                <a:latin typeface="Consolas" panose="020B0609020204030204" pitchFamily="49" charset="0"/>
              </a:rPr>
              <a:t>orbit_success.iterrows</a:t>
            </a:r>
            <a:r>
              <a:rPr lang="en-US" sz="1000" dirty="0">
                <a:solidFill>
                  <a:schemeClr val="accent3">
                    <a:lumMod val="25000"/>
                  </a:schemeClr>
                </a:solidFill>
                <a:latin typeface="Consolas" panose="020B0609020204030204" pitchFamily="49" charset="0"/>
              </a:rPr>
              <a:t>():  </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  ax.text(</a:t>
            </a:r>
            <a:r>
              <a:rPr lang="en-US" sz="1000" dirty="0" err="1">
                <a:solidFill>
                  <a:schemeClr val="accent3">
                    <a:lumMod val="25000"/>
                  </a:schemeClr>
                </a:solidFill>
                <a:latin typeface="Consolas" panose="020B0609020204030204" pitchFamily="49" charset="0"/>
              </a:rPr>
              <a:t>i</a:t>
            </a:r>
            <a:r>
              <a:rPr lang="en-US" sz="1000" dirty="0">
                <a:solidFill>
                  <a:schemeClr val="accent3">
                    <a:lumMod val="25000"/>
                  </a:schemeClr>
                </a:solidFill>
                <a:latin typeface="Consolas" panose="020B0609020204030204" pitchFamily="49" charset="0"/>
              </a:rPr>
              <a:t>, row['</a:t>
            </a:r>
            <a:r>
              <a:rPr lang="en-US" sz="1000" dirty="0" err="1">
                <a:solidFill>
                  <a:schemeClr val="accent3">
                    <a:lumMod val="25000"/>
                  </a:schemeClr>
                </a:solidFill>
                <a:latin typeface="Consolas" panose="020B0609020204030204" pitchFamily="49" charset="0"/>
              </a:rPr>
              <a:t>Success_Rate</a:t>
            </a:r>
            <a:r>
              <a:rPr lang="en-US" sz="1000" dirty="0">
                <a:solidFill>
                  <a:schemeClr val="accent3">
                    <a:lumMod val="25000"/>
                  </a:schemeClr>
                </a:solidFill>
                <a:latin typeface="Consolas" panose="020B0609020204030204" pitchFamily="49" charset="0"/>
              </a:rPr>
              <a:t>'] + 0.02, str(row['Count']), ha='center', </a:t>
            </a:r>
            <a:r>
              <a:rPr lang="en-US" sz="1000" dirty="0" err="1">
                <a:solidFill>
                  <a:schemeClr val="accent3">
                    <a:lumMod val="25000"/>
                  </a:schemeClr>
                </a:solidFill>
                <a:latin typeface="Consolas" panose="020B0609020204030204" pitchFamily="49" charset="0"/>
              </a:rPr>
              <a:t>va</a:t>
            </a:r>
            <a:r>
              <a:rPr lang="en-US" sz="1000" dirty="0">
                <a:solidFill>
                  <a:schemeClr val="accent3">
                    <a:lumMod val="25000"/>
                  </a:schemeClr>
                </a:solidFill>
                <a:latin typeface="Consolas" panose="020B0609020204030204" pitchFamily="49" charset="0"/>
              </a:rPr>
              <a:t>='bottom’,</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    fontsize=8)     </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  if row['</a:t>
            </a:r>
            <a:r>
              <a:rPr lang="en-US" sz="1000" dirty="0" err="1">
                <a:solidFill>
                  <a:schemeClr val="accent3">
                    <a:lumMod val="25000"/>
                  </a:schemeClr>
                </a:solidFill>
                <a:latin typeface="Consolas" panose="020B0609020204030204" pitchFamily="49" charset="0"/>
              </a:rPr>
              <a:t>Success_Rate</a:t>
            </a:r>
            <a:r>
              <a:rPr lang="en-US" sz="1000" dirty="0">
                <a:solidFill>
                  <a:schemeClr val="accent3">
                    <a:lumMod val="25000"/>
                  </a:schemeClr>
                </a:solidFill>
                <a:latin typeface="Consolas" panose="020B0609020204030204" pitchFamily="49" charset="0"/>
              </a:rPr>
              <a:t>’]:</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    ax.text(</a:t>
            </a:r>
            <a:r>
              <a:rPr lang="en-US" sz="1000" dirty="0" err="1">
                <a:solidFill>
                  <a:schemeClr val="accent3">
                    <a:lumMod val="25000"/>
                  </a:schemeClr>
                </a:solidFill>
                <a:latin typeface="Consolas" panose="020B0609020204030204" pitchFamily="49" charset="0"/>
              </a:rPr>
              <a:t>i</a:t>
            </a:r>
            <a:r>
              <a:rPr lang="en-US" sz="1000" dirty="0">
                <a:solidFill>
                  <a:schemeClr val="accent3">
                    <a:lumMod val="25000"/>
                  </a:schemeClr>
                </a:solidFill>
                <a:latin typeface="Consolas" panose="020B0609020204030204" pitchFamily="49" charset="0"/>
              </a:rPr>
              <a:t>, row['</a:t>
            </a:r>
            <a:r>
              <a:rPr lang="en-US" sz="1000" dirty="0" err="1">
                <a:solidFill>
                  <a:schemeClr val="accent3">
                    <a:lumMod val="25000"/>
                  </a:schemeClr>
                </a:solidFill>
                <a:latin typeface="Consolas" panose="020B0609020204030204" pitchFamily="49" charset="0"/>
              </a:rPr>
              <a:t>Success_Rate</a:t>
            </a:r>
            <a:r>
              <a:rPr lang="en-US" sz="1000" dirty="0">
                <a:solidFill>
                  <a:schemeClr val="accent3">
                    <a:lumMod val="25000"/>
                  </a:schemeClr>
                </a:solidFill>
                <a:latin typeface="Consolas" panose="020B0609020204030204" pitchFamily="49" charset="0"/>
              </a:rPr>
              <a:t>'] * 0.5, f"{row['</a:t>
            </a:r>
            <a:r>
              <a:rPr lang="en-US" sz="1000" dirty="0" err="1">
                <a:solidFill>
                  <a:schemeClr val="accent3">
                    <a:lumMod val="25000"/>
                  </a:schemeClr>
                </a:solidFill>
                <a:latin typeface="Consolas" panose="020B0609020204030204" pitchFamily="49" charset="0"/>
              </a:rPr>
              <a:t>Success_Rate</a:t>
            </a:r>
            <a:r>
              <a:rPr lang="en-US" sz="1000" dirty="0">
                <a:solidFill>
                  <a:schemeClr val="accent3">
                    <a:lumMod val="25000"/>
                  </a:schemeClr>
                </a:solidFill>
                <a:latin typeface="Consolas" panose="020B0609020204030204" pitchFamily="49" charset="0"/>
              </a:rPr>
              <a:t>']:.1%}", ha='center’,</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      </a:t>
            </a:r>
            <a:r>
              <a:rPr lang="en-US" sz="1000" dirty="0" err="1">
                <a:solidFill>
                  <a:schemeClr val="accent3">
                    <a:lumMod val="25000"/>
                  </a:schemeClr>
                </a:solidFill>
                <a:latin typeface="Consolas" panose="020B0609020204030204" pitchFamily="49" charset="0"/>
              </a:rPr>
              <a:t>va</a:t>
            </a:r>
            <a:r>
              <a:rPr lang="en-US" sz="1000" dirty="0">
                <a:solidFill>
                  <a:schemeClr val="accent3">
                    <a:lumMod val="25000"/>
                  </a:schemeClr>
                </a:solidFill>
                <a:latin typeface="Consolas" panose="020B0609020204030204" pitchFamily="49" charset="0"/>
              </a:rPr>
              <a:t>='bottom’, fontsize=8)</a:t>
            </a:r>
          </a:p>
          <a:p>
            <a:pPr marL="0" indent="0">
              <a:lnSpc>
                <a:spcPct val="100000"/>
              </a:lnSpc>
              <a:spcBef>
                <a:spcPts val="600"/>
              </a:spcBef>
              <a:buNone/>
            </a:pPr>
            <a:endParaRPr lang="en-US" sz="1000" dirty="0">
              <a:solidFill>
                <a:schemeClr val="accent3">
                  <a:lumMod val="25000"/>
                </a:schemeClr>
              </a:solidFill>
              <a:latin typeface="Consolas" panose="020B0609020204030204" pitchFamily="49" charset="0"/>
            </a:endParaRP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plt.ylim(0, 1.08)</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plt.xlabel('Orbit’)</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plt.ylabel('Success Rate’)</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plt.title('Success Rate of Orbits (Number of Launches)’)</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plt.show()</a:t>
            </a:r>
          </a:p>
          <a:p>
            <a:pPr marL="0" indent="0">
              <a:lnSpc>
                <a:spcPct val="100000"/>
              </a:lnSpc>
              <a:spcBef>
                <a:spcPts val="600"/>
              </a:spcBef>
              <a:buNone/>
            </a:pPr>
            <a:endParaRPr lang="en-US" sz="1000" dirty="0">
              <a:solidFill>
                <a:schemeClr val="accent3">
                  <a:lumMod val="25000"/>
                </a:schemeClr>
              </a:solidFill>
              <a:latin typeface="Consolas" panose="020B0609020204030204" pitchFamily="49" charset="0"/>
            </a:endParaRPr>
          </a:p>
        </p:txBody>
      </p:sp>
      <p:pic>
        <p:nvPicPr>
          <p:cNvPr id="3" name="Picture 2">
            <a:extLst>
              <a:ext uri="{FF2B5EF4-FFF2-40B4-BE49-F238E27FC236}">
                <a16:creationId xmlns:a16="http://schemas.microsoft.com/office/drawing/2014/main" id="{5CAD036C-47F7-8496-E5DA-1928530AD4C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618668" y="1330452"/>
            <a:ext cx="4675936" cy="3142488"/>
          </a:xfrm>
          <a:prstGeom prst="rect">
            <a:avLst/>
          </a:prstGeom>
        </p:spPr>
      </p:pic>
    </p:spTree>
    <p:extLst>
      <p:ext uri="{BB962C8B-B14F-4D97-AF65-F5344CB8AC3E}">
        <p14:creationId xmlns:p14="http://schemas.microsoft.com/office/powerpoint/2010/main" val="17325016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a:blip r:embed="rId3"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64</a:t>
            </a:fld>
            <a:endParaRPr lang="en-US"/>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 B – EDA SQL &amp; Visualization</a:t>
            </a:r>
            <a:endParaRPr lang="en-US" dirty="0">
              <a:solidFill>
                <a:srgbClr val="0B49CB"/>
              </a:solidFill>
            </a:endParaRPr>
          </a:p>
        </p:txBody>
      </p:sp>
      <p:sp>
        <p:nvSpPr>
          <p:cNvPr id="18" name="Content Placeholder 3">
            <a:extLst>
              <a:ext uri="{FF2B5EF4-FFF2-40B4-BE49-F238E27FC236}">
                <a16:creationId xmlns:a16="http://schemas.microsoft.com/office/drawing/2014/main" id="{2BCD44ED-9E1C-3B3F-F8D5-20BBA7D6CA72}"/>
              </a:ext>
            </a:extLst>
          </p:cNvPr>
          <p:cNvSpPr txBox="1">
            <a:spLocks/>
          </p:cNvSpPr>
          <p:nvPr/>
        </p:nvSpPr>
        <p:spPr>
          <a:xfrm>
            <a:off x="770012" y="1456944"/>
            <a:ext cx="5325988" cy="3724656"/>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Font typeface="Arial" panose="020B0604020202020204" pitchFamily="34" charset="0"/>
              <a:buNone/>
            </a:pPr>
            <a:r>
              <a:rPr lang="en-US" sz="1000" b="1" dirty="0">
                <a:solidFill>
                  <a:schemeClr val="accent3">
                    <a:lumMod val="25000"/>
                  </a:schemeClr>
                </a:solidFill>
                <a:latin typeface="Consolas" panose="020B0609020204030204" pitchFamily="49" charset="0"/>
              </a:rPr>
              <a:t>Visualization</a:t>
            </a:r>
          </a:p>
          <a:p>
            <a:pPr marL="0" indent="0">
              <a:lnSpc>
                <a:spcPct val="100000"/>
              </a:lnSpc>
              <a:spcBef>
                <a:spcPts val="600"/>
              </a:spcBef>
              <a:buNone/>
            </a:pPr>
            <a:r>
              <a:rPr lang="en-US" sz="1000" b="1" dirty="0">
                <a:effectLst/>
                <a:latin typeface="Consolas" panose="020B0609020204030204" pitchFamily="49" charset="0"/>
              </a:rPr>
              <a:t>Success Rate Evolution</a:t>
            </a:r>
          </a:p>
          <a:p>
            <a:pPr marL="0" indent="0">
              <a:lnSpc>
                <a:spcPct val="100000"/>
              </a:lnSpc>
              <a:spcBef>
                <a:spcPts val="600"/>
              </a:spcBef>
              <a:buNone/>
            </a:pPr>
            <a:r>
              <a:rPr lang="en-US" sz="1000" dirty="0" err="1">
                <a:solidFill>
                  <a:schemeClr val="accent3">
                    <a:lumMod val="25000"/>
                  </a:schemeClr>
                </a:solidFill>
                <a:latin typeface="Consolas" panose="020B0609020204030204" pitchFamily="49" charset="0"/>
              </a:rPr>
              <a:t>year_success</a:t>
            </a:r>
            <a:r>
              <a:rPr lang="en-US" sz="1000" dirty="0">
                <a:solidFill>
                  <a:schemeClr val="accent3">
                    <a:lumMod val="25000"/>
                  </a:schemeClr>
                </a:solidFill>
                <a:latin typeface="Consolas" panose="020B0609020204030204" pitchFamily="49" charset="0"/>
              </a:rPr>
              <a:t> = df.groupby('Year')['Class'].agg(['mean', 'count’])</a:t>
            </a:r>
          </a:p>
          <a:p>
            <a:pPr marL="0" indent="0">
              <a:lnSpc>
                <a:spcPct val="100000"/>
              </a:lnSpc>
              <a:spcBef>
                <a:spcPts val="600"/>
              </a:spcBef>
              <a:buNone/>
            </a:pPr>
            <a:r>
              <a:rPr lang="en-US" sz="1000" dirty="0" err="1">
                <a:solidFill>
                  <a:schemeClr val="accent3">
                    <a:lumMod val="25000"/>
                  </a:schemeClr>
                </a:solidFill>
                <a:latin typeface="Consolas" panose="020B0609020204030204" pitchFamily="49" charset="0"/>
              </a:rPr>
              <a:t>year_success.columns</a:t>
            </a:r>
            <a:r>
              <a:rPr lang="en-US" sz="1000" dirty="0">
                <a:solidFill>
                  <a:schemeClr val="accent3">
                    <a:lumMod val="25000"/>
                  </a:schemeClr>
                </a:solidFill>
                <a:latin typeface="Consolas" panose="020B0609020204030204" pitchFamily="49" charset="0"/>
              </a:rPr>
              <a:t>=['</a:t>
            </a:r>
            <a:r>
              <a:rPr lang="en-US" sz="1000" dirty="0" err="1">
                <a:solidFill>
                  <a:schemeClr val="accent3">
                    <a:lumMod val="25000"/>
                  </a:schemeClr>
                </a:solidFill>
                <a:latin typeface="Consolas" panose="020B0609020204030204" pitchFamily="49" charset="0"/>
              </a:rPr>
              <a:t>Success_Rate</a:t>
            </a:r>
            <a:r>
              <a:rPr lang="en-US" sz="1000" dirty="0">
                <a:solidFill>
                  <a:schemeClr val="accent3">
                    <a:lumMod val="25000"/>
                  </a:schemeClr>
                </a:solidFill>
                <a:latin typeface="Consolas" panose="020B0609020204030204" pitchFamily="49" charset="0"/>
              </a:rPr>
              <a:t>', 'Count’]</a:t>
            </a:r>
          </a:p>
          <a:p>
            <a:pPr marL="0" indent="0">
              <a:lnSpc>
                <a:spcPct val="100000"/>
              </a:lnSpc>
              <a:spcBef>
                <a:spcPts val="600"/>
              </a:spcBef>
              <a:buNone/>
            </a:pPr>
            <a:r>
              <a:rPr lang="en-US" sz="1000" dirty="0" err="1">
                <a:solidFill>
                  <a:schemeClr val="accent3">
                    <a:lumMod val="25000"/>
                  </a:schemeClr>
                </a:solidFill>
                <a:latin typeface="Consolas" panose="020B0609020204030204" pitchFamily="49" charset="0"/>
              </a:rPr>
              <a:t>year_success.reset_index</a:t>
            </a:r>
            <a:r>
              <a:rPr lang="en-US" sz="1000" dirty="0">
                <a:solidFill>
                  <a:schemeClr val="accent3">
                    <a:lumMod val="25000"/>
                  </a:schemeClr>
                </a:solidFill>
                <a:latin typeface="Consolas" panose="020B0609020204030204" pitchFamily="49" charset="0"/>
              </a:rPr>
              <a:t>(</a:t>
            </a:r>
            <a:r>
              <a:rPr lang="en-US" sz="1000" dirty="0" err="1">
                <a:solidFill>
                  <a:schemeClr val="accent3">
                    <a:lumMod val="25000"/>
                  </a:schemeClr>
                </a:solidFill>
                <a:latin typeface="Consolas" panose="020B0609020204030204" pitchFamily="49" charset="0"/>
              </a:rPr>
              <a:t>inplace</a:t>
            </a:r>
            <a:r>
              <a:rPr lang="en-US" sz="1000" dirty="0">
                <a:solidFill>
                  <a:schemeClr val="accent3">
                    <a:lumMod val="25000"/>
                  </a:schemeClr>
                </a:solidFill>
                <a:latin typeface="Consolas" panose="020B0609020204030204" pitchFamily="49" charset="0"/>
              </a:rPr>
              <a:t>=True)</a:t>
            </a:r>
          </a:p>
          <a:p>
            <a:pPr marL="0" indent="0">
              <a:lnSpc>
                <a:spcPct val="100000"/>
              </a:lnSpc>
              <a:spcBef>
                <a:spcPts val="600"/>
              </a:spcBef>
              <a:buNone/>
            </a:pPr>
            <a:endParaRPr lang="en-US" sz="1000" dirty="0">
              <a:solidFill>
                <a:schemeClr val="accent3">
                  <a:lumMod val="25000"/>
                </a:schemeClr>
              </a:solidFill>
              <a:latin typeface="Consolas" panose="020B0609020204030204" pitchFamily="49" charset="0"/>
            </a:endParaRP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ax = </a:t>
            </a:r>
            <a:r>
              <a:rPr lang="en-US" sz="1000" dirty="0" err="1">
                <a:solidFill>
                  <a:schemeClr val="accent3">
                    <a:lumMod val="25000"/>
                  </a:schemeClr>
                </a:solidFill>
                <a:latin typeface="Consolas" panose="020B0609020204030204" pitchFamily="49" charset="0"/>
              </a:rPr>
              <a:t>sns.lineplot</a:t>
            </a:r>
            <a:r>
              <a:rPr lang="en-US" sz="1000" dirty="0">
                <a:solidFill>
                  <a:schemeClr val="accent3">
                    <a:lumMod val="25000"/>
                  </a:schemeClr>
                </a:solidFill>
                <a:latin typeface="Consolas" panose="020B0609020204030204" pitchFamily="49" charset="0"/>
              </a:rPr>
              <a:t>(x='Year', y='</a:t>
            </a:r>
            <a:r>
              <a:rPr lang="en-US" sz="1000" dirty="0" err="1">
                <a:solidFill>
                  <a:schemeClr val="accent3">
                    <a:lumMod val="25000"/>
                  </a:schemeClr>
                </a:solidFill>
                <a:latin typeface="Consolas" panose="020B0609020204030204" pitchFamily="49" charset="0"/>
              </a:rPr>
              <a:t>Success_Rate</a:t>
            </a:r>
            <a:r>
              <a:rPr lang="en-US" sz="1000" dirty="0">
                <a:solidFill>
                  <a:schemeClr val="accent3">
                    <a:lumMod val="25000"/>
                  </a:schemeClr>
                </a:solidFill>
                <a:latin typeface="Consolas" panose="020B0609020204030204" pitchFamily="49" charset="0"/>
              </a:rPr>
              <a:t>', data=</a:t>
            </a:r>
            <a:r>
              <a:rPr lang="en-US" sz="1000" dirty="0" err="1">
                <a:solidFill>
                  <a:schemeClr val="accent3">
                    <a:lumMod val="25000"/>
                  </a:schemeClr>
                </a:solidFill>
                <a:latin typeface="Consolas" panose="020B0609020204030204" pitchFamily="49" charset="0"/>
              </a:rPr>
              <a:t>year_success</a:t>
            </a:r>
            <a:r>
              <a:rPr lang="en-US" sz="1000" dirty="0">
                <a:solidFill>
                  <a:schemeClr val="accent3">
                    <a:lumMod val="25000"/>
                  </a:schemeClr>
                </a:solidFill>
                <a:latin typeface="Consolas" panose="020B0609020204030204" pitchFamily="49" charset="0"/>
              </a:rPr>
              <a:t>)</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for </a:t>
            </a:r>
            <a:r>
              <a:rPr lang="en-US" sz="1000" dirty="0" err="1">
                <a:solidFill>
                  <a:schemeClr val="accent3">
                    <a:lumMod val="25000"/>
                  </a:schemeClr>
                </a:solidFill>
                <a:latin typeface="Consolas" panose="020B0609020204030204" pitchFamily="49" charset="0"/>
              </a:rPr>
              <a:t>i</a:t>
            </a:r>
            <a:r>
              <a:rPr lang="en-US" sz="1000" dirty="0">
                <a:solidFill>
                  <a:schemeClr val="accent3">
                    <a:lumMod val="25000"/>
                  </a:schemeClr>
                </a:solidFill>
                <a:latin typeface="Consolas" panose="020B0609020204030204" pitchFamily="49" charset="0"/>
              </a:rPr>
              <a:t>, row in </a:t>
            </a:r>
            <a:r>
              <a:rPr lang="en-US" sz="1000" dirty="0" err="1">
                <a:solidFill>
                  <a:schemeClr val="accent3">
                    <a:lumMod val="25000"/>
                  </a:schemeClr>
                </a:solidFill>
                <a:latin typeface="Consolas" panose="020B0609020204030204" pitchFamily="49" charset="0"/>
              </a:rPr>
              <a:t>year_success.iterrows</a:t>
            </a:r>
            <a:r>
              <a:rPr lang="en-US" sz="1000" dirty="0">
                <a:solidFill>
                  <a:schemeClr val="accent3">
                    <a:lumMod val="25000"/>
                  </a:schemeClr>
                </a:solidFill>
                <a:latin typeface="Consolas" panose="020B0609020204030204" pitchFamily="49" charset="0"/>
              </a:rPr>
              <a:t>():</a:t>
            </a:r>
            <a:br>
              <a:rPr lang="en-US" sz="1000" dirty="0">
                <a:solidFill>
                  <a:schemeClr val="accent3">
                    <a:lumMod val="25000"/>
                  </a:schemeClr>
                </a:solidFill>
                <a:latin typeface="Consolas" panose="020B0609020204030204" pitchFamily="49" charset="0"/>
              </a:rPr>
            </a:br>
            <a:r>
              <a:rPr lang="en-US" sz="1000" dirty="0">
                <a:solidFill>
                  <a:schemeClr val="accent3">
                    <a:lumMod val="25000"/>
                  </a:schemeClr>
                </a:solidFill>
                <a:latin typeface="Consolas" panose="020B0609020204030204" pitchFamily="49" charset="0"/>
              </a:rPr>
              <a:t>    ax.text(row['Year'], row['</a:t>
            </a:r>
            <a:r>
              <a:rPr lang="en-US" sz="1000" dirty="0" err="1">
                <a:solidFill>
                  <a:schemeClr val="accent3">
                    <a:lumMod val="25000"/>
                  </a:schemeClr>
                </a:solidFill>
                <a:latin typeface="Consolas" panose="020B0609020204030204" pitchFamily="49" charset="0"/>
              </a:rPr>
              <a:t>Success_Rate</a:t>
            </a:r>
            <a:r>
              <a:rPr lang="en-US" sz="1000" dirty="0">
                <a:solidFill>
                  <a:schemeClr val="accent3">
                    <a:lumMod val="25000"/>
                  </a:schemeClr>
                </a:solidFill>
                <a:latin typeface="Consolas" panose="020B0609020204030204" pitchFamily="49" charset="0"/>
              </a:rPr>
              <a:t>'] + 0.04,</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      f"{row['</a:t>
            </a:r>
            <a:r>
              <a:rPr lang="en-US" sz="1000" dirty="0" err="1">
                <a:solidFill>
                  <a:schemeClr val="accent3">
                    <a:lumMod val="25000"/>
                  </a:schemeClr>
                </a:solidFill>
                <a:latin typeface="Consolas" panose="020B0609020204030204" pitchFamily="49" charset="0"/>
              </a:rPr>
              <a:t>Success_Rate</a:t>
            </a:r>
            <a:r>
              <a:rPr lang="en-US" sz="1000" dirty="0">
                <a:solidFill>
                  <a:schemeClr val="accent3">
                    <a:lumMod val="25000"/>
                  </a:schemeClr>
                </a:solidFill>
                <a:latin typeface="Consolas" panose="020B0609020204030204" pitchFamily="49" charset="0"/>
              </a:rPr>
              <a:t>']:.1%}:\n({str(row['Count'])})",</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        ha='center', </a:t>
            </a:r>
            <a:r>
              <a:rPr lang="en-US" sz="1000" dirty="0" err="1">
                <a:solidFill>
                  <a:schemeClr val="accent3">
                    <a:lumMod val="25000"/>
                  </a:schemeClr>
                </a:solidFill>
                <a:latin typeface="Consolas" panose="020B0609020204030204" pitchFamily="49" charset="0"/>
              </a:rPr>
              <a:t>va</a:t>
            </a:r>
            <a:r>
              <a:rPr lang="en-US" sz="1000" dirty="0">
                <a:solidFill>
                  <a:schemeClr val="accent3">
                    <a:lumMod val="25000"/>
                  </a:schemeClr>
                </a:solidFill>
                <a:latin typeface="Consolas" panose="020B0609020204030204" pitchFamily="49" charset="0"/>
              </a:rPr>
              <a:t>='bottom', fontsize=8)</a:t>
            </a:r>
          </a:p>
          <a:p>
            <a:pPr marL="0" indent="0">
              <a:lnSpc>
                <a:spcPct val="100000"/>
              </a:lnSpc>
              <a:spcBef>
                <a:spcPts val="600"/>
              </a:spcBef>
              <a:buNone/>
            </a:pPr>
            <a:endParaRPr lang="en-US" sz="1000" dirty="0">
              <a:solidFill>
                <a:schemeClr val="accent3">
                  <a:lumMod val="25000"/>
                </a:schemeClr>
              </a:solidFill>
              <a:latin typeface="Consolas" panose="020B0609020204030204" pitchFamily="49" charset="0"/>
            </a:endParaRP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plt.ylim(-0.1, 1.1)</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plt.xlabel("Year", fontsize=13)</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plt.ylabel("Success Rate", fontsize=13)</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plt.title("Success Rate Evolution (Number of Launches)")</a:t>
            </a:r>
          </a:p>
          <a:p>
            <a:pPr marL="0" indent="0">
              <a:lnSpc>
                <a:spcPct val="100000"/>
              </a:lnSpc>
              <a:spcBef>
                <a:spcPts val="600"/>
              </a:spcBef>
              <a:buNone/>
            </a:pPr>
            <a:r>
              <a:rPr lang="en-US" sz="1000" dirty="0">
                <a:solidFill>
                  <a:schemeClr val="accent3">
                    <a:lumMod val="25000"/>
                  </a:schemeClr>
                </a:solidFill>
                <a:latin typeface="Consolas" panose="020B0609020204030204" pitchFamily="49" charset="0"/>
              </a:rPr>
              <a:t>plt.show()</a:t>
            </a:r>
          </a:p>
        </p:txBody>
      </p:sp>
      <p:pic>
        <p:nvPicPr>
          <p:cNvPr id="4" name="Picture 3">
            <a:extLst>
              <a:ext uri="{FF2B5EF4-FFF2-40B4-BE49-F238E27FC236}">
                <a16:creationId xmlns:a16="http://schemas.microsoft.com/office/drawing/2014/main" id="{8445F625-C7D1-D034-CD89-6D0B1218F53F}"/>
              </a:ext>
            </a:extLst>
          </p:cNvPr>
          <p:cNvPicPr>
            <a:picLocks noChangeAspect="1"/>
          </p:cNvPicPr>
          <p:nvPr/>
        </p:nvPicPr>
        <p:blipFill>
          <a:blip r:embed="rId4"/>
          <a:stretch>
            <a:fillRect/>
          </a:stretch>
        </p:blipFill>
        <p:spPr>
          <a:xfrm>
            <a:off x="6518526" y="1456944"/>
            <a:ext cx="4515233" cy="3595698"/>
          </a:xfrm>
          <a:prstGeom prst="rect">
            <a:avLst/>
          </a:prstGeom>
        </p:spPr>
      </p:pic>
    </p:spTree>
    <p:extLst>
      <p:ext uri="{BB962C8B-B14F-4D97-AF65-F5344CB8AC3E}">
        <p14:creationId xmlns:p14="http://schemas.microsoft.com/office/powerpoint/2010/main" val="14496285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a:blip r:embed="rId3"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65</a:t>
            </a:fld>
            <a:endParaRPr lang="en-US"/>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 C – Interactive Visual Analytics</a:t>
            </a:r>
            <a:endParaRPr lang="en-US" dirty="0">
              <a:solidFill>
                <a:srgbClr val="0B49CB"/>
              </a:solidFill>
            </a:endParaRPr>
          </a:p>
        </p:txBody>
      </p:sp>
      <p:sp>
        <p:nvSpPr>
          <p:cNvPr id="3" name="Content Placeholder 3">
            <a:extLst>
              <a:ext uri="{FF2B5EF4-FFF2-40B4-BE49-F238E27FC236}">
                <a16:creationId xmlns:a16="http://schemas.microsoft.com/office/drawing/2014/main" id="{34355296-9E8B-2E4E-8ED8-F131FF0B0DB6}"/>
              </a:ext>
            </a:extLst>
          </p:cNvPr>
          <p:cNvSpPr txBox="1">
            <a:spLocks/>
          </p:cNvSpPr>
          <p:nvPr/>
        </p:nvSpPr>
        <p:spPr>
          <a:xfrm>
            <a:off x="770011" y="1493520"/>
            <a:ext cx="5508869" cy="4732872"/>
          </a:xfrm>
          <a:prstGeom prst="rect">
            <a:avLst/>
          </a:prstGeom>
        </p:spPr>
        <p:txBody>
          <a:bodyPr>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400"/>
              </a:spcBef>
              <a:buNone/>
            </a:pPr>
            <a:r>
              <a:rPr lang="en-US" sz="2200" b="1" dirty="0">
                <a:solidFill>
                  <a:schemeClr val="accent3">
                    <a:lumMod val="25000"/>
                  </a:schemeClr>
                </a:solidFill>
                <a:latin typeface="Consolas" panose="020B0609020204030204" pitchFamily="49" charset="0"/>
              </a:rPr>
              <a:t>Folium – Geospatial Interactive Analytics</a:t>
            </a:r>
          </a:p>
          <a:p>
            <a:pPr marL="0" indent="0">
              <a:lnSpc>
                <a:spcPct val="100000"/>
              </a:lnSpc>
              <a:spcBef>
                <a:spcPts val="1400"/>
              </a:spcBef>
              <a:buNone/>
            </a:pPr>
            <a:r>
              <a:rPr lang="en-US" sz="2200" dirty="0" err="1">
                <a:solidFill>
                  <a:schemeClr val="accent3">
                    <a:lumMod val="25000"/>
                  </a:schemeClr>
                </a:solidFill>
                <a:latin typeface="Consolas" panose="020B0609020204030204" pitchFamily="49" charset="0"/>
              </a:rPr>
              <a:t>site_map</a:t>
            </a:r>
            <a:r>
              <a:rPr lang="en-US" sz="2200" dirty="0">
                <a:solidFill>
                  <a:schemeClr val="accent3">
                    <a:lumMod val="25000"/>
                  </a:schemeClr>
                </a:solidFill>
                <a:latin typeface="Consolas" panose="020B0609020204030204" pitchFamily="49" charset="0"/>
              </a:rPr>
              <a:t> = </a:t>
            </a:r>
            <a:r>
              <a:rPr lang="en-US" sz="2200" dirty="0" err="1">
                <a:solidFill>
                  <a:schemeClr val="accent3">
                    <a:lumMod val="25000"/>
                  </a:schemeClr>
                </a:solidFill>
                <a:latin typeface="Consolas" panose="020B0609020204030204" pitchFamily="49" charset="0"/>
              </a:rPr>
              <a:t>folium.Map</a:t>
            </a:r>
            <a:r>
              <a:rPr lang="en-US" sz="2200" dirty="0">
                <a:solidFill>
                  <a:schemeClr val="accent3">
                    <a:lumMod val="25000"/>
                  </a:schemeClr>
                </a:solidFill>
                <a:latin typeface="Consolas" panose="020B0609020204030204" pitchFamily="49" charset="0"/>
              </a:rPr>
              <a:t>(location=</a:t>
            </a:r>
            <a:r>
              <a:rPr lang="en-US" sz="2200" dirty="0" err="1">
                <a:solidFill>
                  <a:schemeClr val="accent3">
                    <a:lumMod val="25000"/>
                  </a:schemeClr>
                </a:solidFill>
                <a:latin typeface="Consolas" panose="020B0609020204030204" pitchFamily="49" charset="0"/>
              </a:rPr>
              <a:t>nasa_coordinate</a:t>
            </a: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zoom_start</a:t>
            </a:r>
            <a:r>
              <a:rPr lang="en-US" sz="2200" dirty="0">
                <a:solidFill>
                  <a:schemeClr val="accent3">
                    <a:lumMod val="25000"/>
                  </a:schemeClr>
                </a:solidFill>
                <a:latin typeface="Consolas" panose="020B0609020204030204" pitchFamily="49" charset="0"/>
              </a:rPr>
              <a:t>=5)</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for </a:t>
            </a:r>
            <a:r>
              <a:rPr lang="en-US" sz="2200" dirty="0" err="1">
                <a:solidFill>
                  <a:schemeClr val="accent3">
                    <a:lumMod val="25000"/>
                  </a:schemeClr>
                </a:solidFill>
                <a:latin typeface="Consolas" panose="020B0609020204030204" pitchFamily="49" charset="0"/>
              </a:rPr>
              <a:t>i</a:t>
            </a:r>
            <a:r>
              <a:rPr lang="en-US" sz="2200" dirty="0">
                <a:solidFill>
                  <a:schemeClr val="accent3">
                    <a:lumMod val="25000"/>
                  </a:schemeClr>
                </a:solidFill>
                <a:latin typeface="Consolas" panose="020B0609020204030204" pitchFamily="49" charset="0"/>
              </a:rPr>
              <a:t>, site in </a:t>
            </a:r>
            <a:r>
              <a:rPr lang="en-US" sz="2200" dirty="0" err="1">
                <a:solidFill>
                  <a:schemeClr val="accent3">
                    <a:lumMod val="25000"/>
                  </a:schemeClr>
                </a:solidFill>
                <a:latin typeface="Consolas" panose="020B0609020204030204" pitchFamily="49" charset="0"/>
              </a:rPr>
              <a:t>launch_sites_df.iterrows</a:t>
            </a:r>
            <a:r>
              <a:rPr lang="en-US" sz="2200" dirty="0">
                <a:solidFill>
                  <a:schemeClr val="accent3">
                    <a:lumMod val="25000"/>
                  </a:schemeClr>
                </a:solidFill>
                <a:latin typeface="Consolas" panose="020B0609020204030204" pitchFamily="49" charset="0"/>
              </a:rPr>
              <a:t>():</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site_name</a:t>
            </a:r>
            <a:r>
              <a:rPr lang="en-US" sz="2200" dirty="0">
                <a:solidFill>
                  <a:schemeClr val="accent3">
                    <a:lumMod val="25000"/>
                  </a:schemeClr>
                </a:solidFill>
                <a:latin typeface="Consolas" panose="020B0609020204030204" pitchFamily="49" charset="0"/>
              </a:rPr>
              <a:t> = site['Launch_Site’]</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site_coordinate</a:t>
            </a:r>
            <a:r>
              <a:rPr lang="en-US" sz="2200" dirty="0">
                <a:solidFill>
                  <a:schemeClr val="accent3">
                    <a:lumMod val="25000"/>
                  </a:schemeClr>
                </a:solidFill>
                <a:latin typeface="Consolas" panose="020B0609020204030204" pitchFamily="49" charset="0"/>
              </a:rPr>
              <a:t> = [site['Lat'], site['Long’]]</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circle_site</a:t>
            </a:r>
            <a:r>
              <a:rPr lang="en-US" sz="2200" dirty="0">
                <a:solidFill>
                  <a:schemeClr val="accent3">
                    <a:lumMod val="25000"/>
                  </a:schemeClr>
                </a:solidFill>
                <a:latin typeface="Consolas" panose="020B0609020204030204" pitchFamily="49" charset="0"/>
              </a:rPr>
              <a:t> = </a:t>
            </a:r>
            <a:r>
              <a:rPr lang="en-US" sz="2200" dirty="0" err="1">
                <a:solidFill>
                  <a:schemeClr val="accent3">
                    <a:lumMod val="25000"/>
                  </a:schemeClr>
                </a:solidFill>
                <a:latin typeface="Consolas" panose="020B0609020204030204" pitchFamily="49" charset="0"/>
              </a:rPr>
              <a:t>folium.Circle</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site_coordinate</a:t>
            </a:r>
            <a:r>
              <a:rPr lang="en-US" sz="2200" dirty="0">
                <a:solidFill>
                  <a:schemeClr val="accent3">
                    <a:lumMod val="25000"/>
                  </a:schemeClr>
                </a:solidFill>
                <a:latin typeface="Consolas" panose="020B0609020204030204" pitchFamily="49" charset="0"/>
              </a:rPr>
              <a:t>, radius=1000,</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color='#d35400', fill=True).</a:t>
            </a:r>
            <a:r>
              <a:rPr lang="en-US" sz="2200" dirty="0" err="1">
                <a:solidFill>
                  <a:schemeClr val="accent3">
                    <a:lumMod val="25000"/>
                  </a:schemeClr>
                </a:solidFill>
                <a:latin typeface="Consolas" panose="020B0609020204030204" pitchFamily="49" charset="0"/>
              </a:rPr>
              <a:t>add_child</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folium.Popup</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site_name</a:t>
            </a:r>
            <a:r>
              <a:rPr lang="en-US" sz="2200" dirty="0">
                <a:solidFill>
                  <a:schemeClr val="accent3">
                    <a:lumMod val="25000"/>
                  </a:schemeClr>
                </a:solidFill>
                <a:latin typeface="Consolas" panose="020B0609020204030204" pitchFamily="49" charset="0"/>
              </a:rPr>
              <a:t>))</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marker_site</a:t>
            </a:r>
            <a:r>
              <a:rPr lang="en-US" sz="2200" dirty="0">
                <a:solidFill>
                  <a:schemeClr val="accent3">
                    <a:lumMod val="25000"/>
                  </a:schemeClr>
                </a:solidFill>
                <a:latin typeface="Consolas" panose="020B0609020204030204" pitchFamily="49" charset="0"/>
              </a:rPr>
              <a:t> = </a:t>
            </a:r>
            <a:r>
              <a:rPr lang="en-US" sz="2200" dirty="0" err="1">
                <a:solidFill>
                  <a:schemeClr val="accent3">
                    <a:lumMod val="25000"/>
                  </a:schemeClr>
                </a:solidFill>
                <a:latin typeface="Consolas" panose="020B0609020204030204" pitchFamily="49" charset="0"/>
              </a:rPr>
              <a:t>folium.map.Marker</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site_coordinate</a:t>
            </a:r>
            <a:r>
              <a:rPr lang="en-US" sz="2200" dirty="0">
                <a:solidFill>
                  <a:schemeClr val="accent3">
                    <a:lumMod val="25000"/>
                  </a:schemeClr>
                </a:solidFill>
                <a:latin typeface="Consolas" panose="020B0609020204030204" pitchFamily="49" charset="0"/>
              </a:rPr>
              <a:t>,</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icon=</a:t>
            </a:r>
            <a:r>
              <a:rPr lang="en-US" sz="2200" dirty="0" err="1">
                <a:solidFill>
                  <a:schemeClr val="accent3">
                    <a:lumMod val="25000"/>
                  </a:schemeClr>
                </a:solidFill>
                <a:latin typeface="Consolas" panose="020B0609020204030204" pitchFamily="49" charset="0"/>
              </a:rPr>
              <a:t>DivIcon</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icon_size</a:t>
            </a:r>
            <a:r>
              <a:rPr lang="en-US" sz="2200" dirty="0">
                <a:solidFill>
                  <a:schemeClr val="accent3">
                    <a:lumMod val="25000"/>
                  </a:schemeClr>
                </a:solidFill>
                <a:latin typeface="Consolas" panose="020B0609020204030204" pitchFamily="49" charset="0"/>
              </a:rPr>
              <a:t>=(20,20), </a:t>
            </a:r>
            <a:r>
              <a:rPr lang="en-US" sz="2200" dirty="0" err="1">
                <a:solidFill>
                  <a:schemeClr val="accent3">
                    <a:lumMod val="25000"/>
                  </a:schemeClr>
                </a:solidFill>
                <a:latin typeface="Consolas" panose="020B0609020204030204" pitchFamily="49" charset="0"/>
              </a:rPr>
              <a:t>icon_anchor</a:t>
            </a:r>
            <a:r>
              <a:rPr lang="en-US" sz="2200" dirty="0">
                <a:solidFill>
                  <a:schemeClr val="accent3">
                    <a:lumMod val="25000"/>
                  </a:schemeClr>
                </a:solidFill>
                <a:latin typeface="Consolas" panose="020B0609020204030204" pitchFamily="49" charset="0"/>
              </a:rPr>
              <a:t>=(0,-3),</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html='&lt;div style="font-size: 12; color:#d35400;"&gt;&lt;b&gt;%s&lt;/b&gt;&lt;/div&gt;’ %</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site_name</a:t>
            </a:r>
            <a:r>
              <a:rPr lang="en-US" sz="2200" dirty="0">
                <a:solidFill>
                  <a:schemeClr val="accent3">
                    <a:lumMod val="25000"/>
                  </a:schemeClr>
                </a:solidFill>
                <a:latin typeface="Consolas" panose="020B0609020204030204" pitchFamily="49" charset="0"/>
              </a:rPr>
              <a:t>,</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site_map.add_child</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circle_site</a:t>
            </a:r>
            <a:r>
              <a:rPr lang="en-US" sz="2200" dirty="0">
                <a:solidFill>
                  <a:schemeClr val="accent3">
                    <a:lumMod val="25000"/>
                  </a:schemeClr>
                </a:solidFill>
                <a:latin typeface="Consolas" panose="020B0609020204030204" pitchFamily="49" charset="0"/>
              </a:rPr>
              <a:t>)</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site_map.add_child</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marker_site</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site_map</a:t>
            </a:r>
            <a:endParaRPr lang="en-US" sz="2200" dirty="0">
              <a:solidFill>
                <a:schemeClr val="accent3">
                  <a:lumMod val="25000"/>
                </a:schemeClr>
              </a:solidFill>
              <a:latin typeface="Consolas" panose="020B0609020204030204" pitchFamily="49" charset="0"/>
            </a:endParaRPr>
          </a:p>
        </p:txBody>
      </p:sp>
      <p:pic>
        <p:nvPicPr>
          <p:cNvPr id="7" name="Picture 6">
            <a:extLst>
              <a:ext uri="{FF2B5EF4-FFF2-40B4-BE49-F238E27FC236}">
                <a16:creationId xmlns:a16="http://schemas.microsoft.com/office/drawing/2014/main" id="{87E8F3FB-C4AC-B4D8-362C-B80CFE1E4B99}"/>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6278880" y="2088306"/>
            <a:ext cx="5063675" cy="3543300"/>
          </a:xfrm>
          <a:prstGeom prst="rect">
            <a:avLst/>
          </a:prstGeom>
        </p:spPr>
      </p:pic>
    </p:spTree>
    <p:extLst>
      <p:ext uri="{BB962C8B-B14F-4D97-AF65-F5344CB8AC3E}">
        <p14:creationId xmlns:p14="http://schemas.microsoft.com/office/powerpoint/2010/main" val="36114038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a:blip r:embed="rId3"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66</a:t>
            </a:fld>
            <a:endParaRPr lang="en-US"/>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 C – Interactive Visual Analytics</a:t>
            </a:r>
            <a:endParaRPr lang="en-US" dirty="0">
              <a:solidFill>
                <a:srgbClr val="0B49CB"/>
              </a:solidFill>
            </a:endParaRPr>
          </a:p>
        </p:txBody>
      </p:sp>
      <p:sp>
        <p:nvSpPr>
          <p:cNvPr id="3" name="Content Placeholder 3">
            <a:extLst>
              <a:ext uri="{FF2B5EF4-FFF2-40B4-BE49-F238E27FC236}">
                <a16:creationId xmlns:a16="http://schemas.microsoft.com/office/drawing/2014/main" id="{34355296-9E8B-2E4E-8ED8-F131FF0B0DB6}"/>
              </a:ext>
            </a:extLst>
          </p:cNvPr>
          <p:cNvSpPr txBox="1">
            <a:spLocks/>
          </p:cNvSpPr>
          <p:nvPr/>
        </p:nvSpPr>
        <p:spPr>
          <a:xfrm>
            <a:off x="770011" y="1493520"/>
            <a:ext cx="4312529" cy="4138086"/>
          </a:xfrm>
          <a:prstGeom prst="rect">
            <a:avLst/>
          </a:prstGeom>
        </p:spPr>
        <p:txBody>
          <a:bodyPr>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400"/>
              </a:spcBef>
              <a:buNone/>
            </a:pPr>
            <a:r>
              <a:rPr lang="en-US" sz="2200" b="1" dirty="0">
                <a:solidFill>
                  <a:schemeClr val="accent3">
                    <a:lumMod val="25000"/>
                  </a:schemeClr>
                </a:solidFill>
                <a:latin typeface="Consolas" panose="020B0609020204030204" pitchFamily="49" charset="0"/>
              </a:rPr>
              <a:t>Folium – Geospatial Interactive Analytics</a:t>
            </a:r>
          </a:p>
          <a:p>
            <a:pPr marL="0" indent="0">
              <a:lnSpc>
                <a:spcPct val="100000"/>
              </a:lnSpc>
              <a:spcBef>
                <a:spcPts val="1400"/>
              </a:spcBef>
              <a:buNone/>
            </a:pPr>
            <a:r>
              <a:rPr lang="en-US" sz="2200" dirty="0" err="1">
                <a:solidFill>
                  <a:schemeClr val="accent3">
                    <a:lumMod val="25000"/>
                  </a:schemeClr>
                </a:solidFill>
                <a:latin typeface="Consolas" panose="020B0609020204030204" pitchFamily="49" charset="0"/>
              </a:rPr>
              <a:t>marker_cluster</a:t>
            </a:r>
            <a:r>
              <a:rPr lang="en-US" sz="2200" dirty="0">
                <a:solidFill>
                  <a:schemeClr val="accent3">
                    <a:lumMod val="25000"/>
                  </a:schemeClr>
                </a:solidFill>
                <a:latin typeface="Consolas" panose="020B0609020204030204" pitchFamily="49" charset="0"/>
              </a:rPr>
              <a:t> = MarkerCluster()</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for index, row in </a:t>
            </a:r>
            <a:r>
              <a:rPr lang="en-US" sz="2200" dirty="0" err="1">
                <a:solidFill>
                  <a:schemeClr val="accent3">
                    <a:lumMod val="25000"/>
                  </a:schemeClr>
                </a:solidFill>
                <a:latin typeface="Consolas" panose="020B0609020204030204" pitchFamily="49" charset="0"/>
              </a:rPr>
              <a:t>spacex_df.iterrows</a:t>
            </a:r>
            <a:r>
              <a:rPr lang="en-US" sz="2200" dirty="0">
                <a:solidFill>
                  <a:schemeClr val="accent3">
                    <a:lumMod val="25000"/>
                  </a:schemeClr>
                </a:solidFill>
                <a:latin typeface="Consolas" panose="020B0609020204030204" pitchFamily="49" charset="0"/>
              </a:rPr>
              <a:t>():</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marker = </a:t>
            </a:r>
            <a:r>
              <a:rPr lang="en-US" sz="2200" dirty="0" err="1">
                <a:solidFill>
                  <a:schemeClr val="accent3">
                    <a:lumMod val="25000"/>
                  </a:schemeClr>
                </a:solidFill>
                <a:latin typeface="Consolas" panose="020B0609020204030204" pitchFamily="49" charset="0"/>
              </a:rPr>
              <a:t>folium.Marker</a:t>
            </a:r>
            <a:r>
              <a:rPr lang="en-US" sz="2200" dirty="0">
                <a:solidFill>
                  <a:schemeClr val="accent3">
                    <a:lumMod val="25000"/>
                  </a:schemeClr>
                </a:solidFill>
                <a:latin typeface="Consolas" panose="020B0609020204030204" pitchFamily="49" charset="0"/>
              </a:rPr>
              <a:t>(</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location=[row['Lat'], row['Long’]],</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icon=</a:t>
            </a:r>
            <a:r>
              <a:rPr lang="en-US" sz="2200" dirty="0" err="1">
                <a:solidFill>
                  <a:schemeClr val="accent3">
                    <a:lumMod val="25000"/>
                  </a:schemeClr>
                </a:solidFill>
                <a:latin typeface="Consolas" panose="020B0609020204030204" pitchFamily="49" charset="0"/>
              </a:rPr>
              <a:t>folium.Icon</a:t>
            </a:r>
            <a:r>
              <a:rPr lang="en-US" sz="2200" dirty="0">
                <a:solidFill>
                  <a:schemeClr val="accent3">
                    <a:lumMod val="25000"/>
                  </a:schemeClr>
                </a:solidFill>
                <a:latin typeface="Consolas" panose="020B0609020204030204" pitchFamily="49" charset="0"/>
              </a:rPr>
              <a:t>(</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color='white’,</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icon_color</a:t>
            </a:r>
            <a:r>
              <a:rPr lang="en-US" sz="2200" dirty="0">
                <a:solidFill>
                  <a:schemeClr val="accent3">
                    <a:lumMod val="25000"/>
                  </a:schemeClr>
                </a:solidFill>
                <a:latin typeface="Consolas" panose="020B0609020204030204" pitchFamily="49" charset="0"/>
              </a:rPr>
              <a:t>=row['</a:t>
            </a:r>
            <a:r>
              <a:rPr lang="en-US" sz="2200" dirty="0" err="1">
                <a:solidFill>
                  <a:schemeClr val="accent3">
                    <a:lumMod val="25000"/>
                  </a:schemeClr>
                </a:solidFill>
                <a:latin typeface="Consolas" panose="020B0609020204030204" pitchFamily="49" charset="0"/>
              </a:rPr>
              <a:t>marker_color</a:t>
            </a:r>
            <a:r>
              <a:rPr lang="en-US" sz="2200" dirty="0">
                <a:solidFill>
                  <a:schemeClr val="accent3">
                    <a:lumMod val="25000"/>
                  </a:schemeClr>
                </a:solidFill>
                <a:latin typeface="Consolas" panose="020B0609020204030204" pitchFamily="49" charset="0"/>
              </a:rPr>
              <a:t>’]</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marker_cluster.add_child</a:t>
            </a:r>
            <a:r>
              <a:rPr lang="en-US" sz="2200" dirty="0">
                <a:solidFill>
                  <a:schemeClr val="accent3">
                    <a:lumMod val="25000"/>
                  </a:schemeClr>
                </a:solidFill>
                <a:latin typeface="Consolas" panose="020B0609020204030204" pitchFamily="49" charset="0"/>
              </a:rPr>
              <a:t>(marker)</a:t>
            </a:r>
          </a:p>
          <a:p>
            <a:pPr marL="0" indent="0">
              <a:lnSpc>
                <a:spcPct val="100000"/>
              </a:lnSpc>
              <a:spcBef>
                <a:spcPts val="1400"/>
              </a:spcBef>
              <a:buNone/>
            </a:pPr>
            <a:r>
              <a:rPr lang="en-US" sz="2200" dirty="0" err="1">
                <a:solidFill>
                  <a:schemeClr val="accent3">
                    <a:lumMod val="25000"/>
                  </a:schemeClr>
                </a:solidFill>
                <a:latin typeface="Consolas" panose="020B0609020204030204" pitchFamily="49" charset="0"/>
              </a:rPr>
              <a:t>site_map</a:t>
            </a:r>
            <a:endParaRPr lang="en-US" sz="2200" dirty="0">
              <a:solidFill>
                <a:schemeClr val="accent3">
                  <a:lumMod val="25000"/>
                </a:schemeClr>
              </a:solidFill>
              <a:latin typeface="Consolas" panose="020B0609020204030204" pitchFamily="49" charset="0"/>
            </a:endParaRPr>
          </a:p>
          <a:p>
            <a:pPr marL="0" indent="0">
              <a:lnSpc>
                <a:spcPct val="100000"/>
              </a:lnSpc>
              <a:spcBef>
                <a:spcPts val="1400"/>
              </a:spcBef>
              <a:buNone/>
            </a:pPr>
            <a:endParaRPr lang="en-US" sz="2200" dirty="0">
              <a:solidFill>
                <a:schemeClr val="accent3">
                  <a:lumMod val="25000"/>
                </a:schemeClr>
              </a:solidFill>
              <a:latin typeface="Consolas" panose="020B0609020204030204" pitchFamily="49" charset="0"/>
            </a:endParaRPr>
          </a:p>
        </p:txBody>
      </p:sp>
      <p:pic>
        <p:nvPicPr>
          <p:cNvPr id="4" name="Picture 3">
            <a:extLst>
              <a:ext uri="{FF2B5EF4-FFF2-40B4-BE49-F238E27FC236}">
                <a16:creationId xmlns:a16="http://schemas.microsoft.com/office/drawing/2014/main" id="{278DF029-DCFC-93B6-DCE6-6B09E8AEC8D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143024" y="1598147"/>
            <a:ext cx="6278964" cy="3899246"/>
          </a:xfrm>
          <a:prstGeom prst="rect">
            <a:avLst/>
          </a:prstGeom>
        </p:spPr>
      </p:pic>
      <p:pic>
        <p:nvPicPr>
          <p:cNvPr id="8" name="Picture 7">
            <a:extLst>
              <a:ext uri="{FF2B5EF4-FFF2-40B4-BE49-F238E27FC236}">
                <a16:creationId xmlns:a16="http://schemas.microsoft.com/office/drawing/2014/main" id="{D13C4D03-9F42-6EA0-5DE8-AEBCCFFA3C9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802834" y="3120392"/>
            <a:ext cx="2373785" cy="1629405"/>
          </a:xfrm>
          <a:prstGeom prst="ellipse">
            <a:avLst/>
          </a:prstGeom>
          <a:ln w="9525">
            <a:solidFill>
              <a:schemeClr val="tx1"/>
            </a:solidFill>
          </a:ln>
        </p:spPr>
      </p:pic>
      <p:cxnSp>
        <p:nvCxnSpPr>
          <p:cNvPr id="9" name="Straight Connector 8">
            <a:extLst>
              <a:ext uri="{FF2B5EF4-FFF2-40B4-BE49-F238E27FC236}">
                <a16:creationId xmlns:a16="http://schemas.microsoft.com/office/drawing/2014/main" id="{37800756-4A1F-BF50-C972-584237A0F4FE}"/>
              </a:ext>
            </a:extLst>
          </p:cNvPr>
          <p:cNvCxnSpPr>
            <a:cxnSpLocks/>
            <a:stCxn id="8" idx="5"/>
            <a:endCxn id="12" idx="3"/>
          </p:cNvCxnSpPr>
          <p:nvPr/>
        </p:nvCxnSpPr>
        <p:spPr>
          <a:xfrm flipV="1">
            <a:off x="9828986" y="4119442"/>
            <a:ext cx="697031" cy="39173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6292A8E-7F0F-D527-A985-1B7A6F3CF14B}"/>
              </a:ext>
            </a:extLst>
          </p:cNvPr>
          <p:cNvCxnSpPr>
            <a:cxnSpLocks/>
            <a:stCxn id="8" idx="7"/>
            <a:endCxn id="12" idx="0"/>
          </p:cNvCxnSpPr>
          <p:nvPr/>
        </p:nvCxnSpPr>
        <p:spPr>
          <a:xfrm>
            <a:off x="9828986" y="3359013"/>
            <a:ext cx="828983" cy="52727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C6E4213C-4650-C2FE-6F8C-8C1A9BCD5C41}"/>
              </a:ext>
            </a:extLst>
          </p:cNvPr>
          <p:cNvSpPr/>
          <p:nvPr/>
        </p:nvSpPr>
        <p:spPr>
          <a:xfrm>
            <a:off x="10471360" y="3886289"/>
            <a:ext cx="373218" cy="273156"/>
          </a:xfrm>
          <a:prstGeom prst="ellipse">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84138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a:blip r:embed="rId3"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67</a:t>
            </a:fld>
            <a:endParaRPr lang="en-US"/>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 C – Interactive Visual Analytics</a:t>
            </a:r>
            <a:endParaRPr lang="en-US" dirty="0">
              <a:solidFill>
                <a:srgbClr val="0B49CB"/>
              </a:solidFill>
            </a:endParaRPr>
          </a:p>
        </p:txBody>
      </p:sp>
      <p:sp>
        <p:nvSpPr>
          <p:cNvPr id="3" name="Content Placeholder 3">
            <a:extLst>
              <a:ext uri="{FF2B5EF4-FFF2-40B4-BE49-F238E27FC236}">
                <a16:creationId xmlns:a16="http://schemas.microsoft.com/office/drawing/2014/main" id="{34355296-9E8B-2E4E-8ED8-F131FF0B0DB6}"/>
              </a:ext>
            </a:extLst>
          </p:cNvPr>
          <p:cNvSpPr txBox="1">
            <a:spLocks/>
          </p:cNvSpPr>
          <p:nvPr/>
        </p:nvSpPr>
        <p:spPr>
          <a:xfrm>
            <a:off x="770012" y="1358537"/>
            <a:ext cx="5545880" cy="4627287"/>
          </a:xfrm>
          <a:prstGeom prst="rect">
            <a:avLst/>
          </a:prstGeom>
        </p:spPr>
        <p:txBody>
          <a:bodyPr>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400"/>
              </a:spcBef>
              <a:buNone/>
            </a:pPr>
            <a:r>
              <a:rPr lang="en-US" sz="2200" b="1" dirty="0">
                <a:solidFill>
                  <a:schemeClr val="accent3">
                    <a:lumMod val="25000"/>
                  </a:schemeClr>
                </a:solidFill>
                <a:latin typeface="Consolas" panose="020B0609020204030204" pitchFamily="49" charset="0"/>
              </a:rPr>
              <a:t>Plotly Dash – Interactive Launch Performance Dashboard</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@app.callback(</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Output(</a:t>
            </a:r>
            <a:r>
              <a:rPr lang="en-US" sz="2200" dirty="0" err="1">
                <a:solidFill>
                  <a:schemeClr val="accent3">
                    <a:lumMod val="25000"/>
                  </a:schemeClr>
                </a:solidFill>
                <a:latin typeface="Consolas" panose="020B0609020204030204" pitchFamily="49" charset="0"/>
              </a:rPr>
              <a:t>component_id</a:t>
            </a:r>
            <a:r>
              <a:rPr lang="en-US" sz="2200" dirty="0">
                <a:solidFill>
                  <a:schemeClr val="accent3">
                    <a:lumMod val="25000"/>
                  </a:schemeClr>
                </a:solidFill>
                <a:latin typeface="Consolas" panose="020B0609020204030204" pitchFamily="49" charset="0"/>
              </a:rPr>
              <a:t>='success-payload-scatter-chart', </a:t>
            </a:r>
            <a:r>
              <a:rPr lang="en-US" sz="2200" dirty="0" err="1">
                <a:solidFill>
                  <a:schemeClr val="accent3">
                    <a:lumMod val="25000"/>
                  </a:schemeClr>
                </a:solidFill>
                <a:latin typeface="Consolas" panose="020B0609020204030204" pitchFamily="49" charset="0"/>
              </a:rPr>
              <a:t>component_property</a:t>
            </a:r>
            <a:r>
              <a:rPr lang="en-US" sz="2200" dirty="0">
                <a:solidFill>
                  <a:schemeClr val="accent3">
                    <a:lumMod val="25000"/>
                  </a:schemeClr>
                </a:solidFill>
                <a:latin typeface="Consolas" panose="020B0609020204030204" pitchFamily="49" charset="0"/>
              </a:rPr>
              <a:t>='figure'),</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Input(</a:t>
            </a:r>
            <a:r>
              <a:rPr lang="en-US" sz="2200" dirty="0" err="1">
                <a:solidFill>
                  <a:schemeClr val="accent3">
                    <a:lumMod val="25000"/>
                  </a:schemeClr>
                </a:solidFill>
                <a:latin typeface="Consolas" panose="020B0609020204030204" pitchFamily="49" charset="0"/>
              </a:rPr>
              <a:t>component_id</a:t>
            </a:r>
            <a:r>
              <a:rPr lang="en-US" sz="2200" dirty="0">
                <a:solidFill>
                  <a:schemeClr val="accent3">
                    <a:lumMod val="25000"/>
                  </a:schemeClr>
                </a:solidFill>
                <a:latin typeface="Consolas" panose="020B0609020204030204" pitchFamily="49" charset="0"/>
              </a:rPr>
              <a:t>='site-dropdown', </a:t>
            </a:r>
            <a:r>
              <a:rPr lang="en-US" sz="2200" dirty="0" err="1">
                <a:solidFill>
                  <a:schemeClr val="accent3">
                    <a:lumMod val="25000"/>
                  </a:schemeClr>
                </a:solidFill>
                <a:latin typeface="Consolas" panose="020B0609020204030204" pitchFamily="49" charset="0"/>
              </a:rPr>
              <a:t>component_property</a:t>
            </a:r>
            <a:r>
              <a:rPr lang="en-US" sz="2200" dirty="0">
                <a:solidFill>
                  <a:schemeClr val="accent3">
                    <a:lumMod val="25000"/>
                  </a:schemeClr>
                </a:solidFill>
                <a:latin typeface="Consolas" panose="020B0609020204030204" pitchFamily="49" charset="0"/>
              </a:rPr>
              <a:t>='value'),</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Input(</a:t>
            </a:r>
            <a:r>
              <a:rPr lang="en-US" sz="2200" dirty="0" err="1">
                <a:solidFill>
                  <a:schemeClr val="accent3">
                    <a:lumMod val="25000"/>
                  </a:schemeClr>
                </a:solidFill>
                <a:latin typeface="Consolas" panose="020B0609020204030204" pitchFamily="49" charset="0"/>
              </a:rPr>
              <a:t>component_id</a:t>
            </a:r>
            <a:r>
              <a:rPr lang="en-US" sz="2200" dirty="0">
                <a:solidFill>
                  <a:schemeClr val="accent3">
                    <a:lumMod val="25000"/>
                  </a:schemeClr>
                </a:solidFill>
                <a:latin typeface="Consolas" panose="020B0609020204030204" pitchFamily="49" charset="0"/>
              </a:rPr>
              <a:t>="payload-slider", </a:t>
            </a:r>
            <a:r>
              <a:rPr lang="en-US" sz="2200" dirty="0" err="1">
                <a:solidFill>
                  <a:schemeClr val="accent3">
                    <a:lumMod val="25000"/>
                  </a:schemeClr>
                </a:solidFill>
                <a:latin typeface="Consolas" panose="020B0609020204030204" pitchFamily="49" charset="0"/>
              </a:rPr>
              <a:t>component_property</a:t>
            </a:r>
            <a:r>
              <a:rPr lang="en-US" sz="2200" dirty="0">
                <a:solidFill>
                  <a:schemeClr val="accent3">
                    <a:lumMod val="25000"/>
                  </a:schemeClr>
                </a:solidFill>
                <a:latin typeface="Consolas" panose="020B0609020204030204" pitchFamily="49" charset="0"/>
              </a:rPr>
              <a:t>="value")</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a:t>
            </a:r>
          </a:p>
          <a:p>
            <a:pPr marL="0" indent="0">
              <a:lnSpc>
                <a:spcPct val="100000"/>
              </a:lnSpc>
              <a:spcBef>
                <a:spcPts val="0"/>
              </a:spcBef>
              <a:buNone/>
            </a:pPr>
            <a:endParaRPr lang="en-US" sz="2200" dirty="0">
              <a:solidFill>
                <a:schemeClr val="accent3">
                  <a:lumMod val="25000"/>
                </a:schemeClr>
              </a:solidFill>
              <a:latin typeface="Consolas" panose="020B0609020204030204" pitchFamily="49" charset="0"/>
            </a:endParaRPr>
          </a:p>
          <a:p>
            <a:pPr marL="0" indent="0">
              <a:lnSpc>
                <a:spcPct val="100000"/>
              </a:lnSpc>
              <a:spcBef>
                <a:spcPts val="0"/>
              </a:spcBef>
              <a:buNone/>
            </a:pPr>
            <a:endParaRPr lang="en-US" sz="2200" dirty="0">
              <a:solidFill>
                <a:schemeClr val="accent3">
                  <a:lumMod val="25000"/>
                </a:schemeClr>
              </a:solidFill>
              <a:latin typeface="Consolas" panose="020B0609020204030204" pitchFamily="49" charset="0"/>
            </a:endParaRP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def </a:t>
            </a:r>
            <a:r>
              <a:rPr lang="en-US" sz="2200" dirty="0" err="1">
                <a:solidFill>
                  <a:schemeClr val="accent3">
                    <a:lumMod val="25000"/>
                  </a:schemeClr>
                </a:solidFill>
                <a:latin typeface="Consolas" panose="020B0609020204030204" pitchFamily="49" charset="0"/>
              </a:rPr>
              <a:t>get_scatter_chart</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entered_site</a:t>
            </a: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payload_range</a:t>
            </a:r>
            <a:r>
              <a:rPr lang="en-US" sz="2200" dirty="0">
                <a:solidFill>
                  <a:schemeClr val="accent3">
                    <a:lumMod val="25000"/>
                  </a:schemeClr>
                </a:solidFill>
                <a:latin typeface="Consolas" panose="020B0609020204030204" pitchFamily="49" charset="0"/>
              </a:rPr>
              <a:t>):</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filtered_df</a:t>
            </a:r>
            <a:r>
              <a:rPr lang="en-US" sz="2200" dirty="0">
                <a:solidFill>
                  <a:schemeClr val="accent3">
                    <a:lumMod val="25000"/>
                  </a:schemeClr>
                </a:solidFill>
                <a:latin typeface="Consolas" panose="020B0609020204030204" pitchFamily="49" charset="0"/>
              </a:rPr>
              <a:t> = </a:t>
            </a:r>
            <a:r>
              <a:rPr lang="en-US" sz="2200" dirty="0" err="1">
                <a:solidFill>
                  <a:schemeClr val="accent3">
                    <a:lumMod val="25000"/>
                  </a:schemeClr>
                </a:solidFill>
                <a:latin typeface="Consolas" panose="020B0609020204030204" pitchFamily="49" charset="0"/>
              </a:rPr>
              <a:t>spacex_df</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spacex_df</a:t>
            </a:r>
            <a:r>
              <a:rPr lang="en-US" sz="2200" dirty="0">
                <a:solidFill>
                  <a:schemeClr val="accent3">
                    <a:lumMod val="25000"/>
                  </a:schemeClr>
                </a:solidFill>
                <a:latin typeface="Consolas" panose="020B0609020204030204" pitchFamily="49" charset="0"/>
              </a:rPr>
              <a:t>['Payload Mass (kg)'].between(*</a:t>
            </a:r>
            <a:r>
              <a:rPr lang="en-US" sz="2200" dirty="0" err="1">
                <a:solidFill>
                  <a:schemeClr val="accent3">
                    <a:lumMod val="25000"/>
                  </a:schemeClr>
                </a:solidFill>
                <a:latin typeface="Consolas" panose="020B0609020204030204" pitchFamily="49" charset="0"/>
              </a:rPr>
              <a:t>payload_range</a:t>
            </a:r>
            <a:r>
              <a:rPr lang="en-US" sz="2200" dirty="0">
                <a:solidFill>
                  <a:schemeClr val="accent3">
                    <a:lumMod val="25000"/>
                  </a:schemeClr>
                </a:solidFill>
                <a:latin typeface="Consolas" panose="020B0609020204030204" pitchFamily="49" charset="0"/>
              </a:rPr>
              <a:t>,</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inclusive='both')]</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 All Launch Sites</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if </a:t>
            </a:r>
            <a:r>
              <a:rPr lang="en-US" sz="2200" dirty="0" err="1">
                <a:solidFill>
                  <a:schemeClr val="accent3">
                    <a:lumMod val="25000"/>
                  </a:schemeClr>
                </a:solidFill>
                <a:latin typeface="Consolas" panose="020B0609020204030204" pitchFamily="49" charset="0"/>
              </a:rPr>
              <a:t>entered_site</a:t>
            </a:r>
            <a:r>
              <a:rPr lang="en-US" sz="2200" dirty="0">
                <a:solidFill>
                  <a:schemeClr val="accent3">
                    <a:lumMod val="25000"/>
                  </a:schemeClr>
                </a:solidFill>
                <a:latin typeface="Consolas" panose="020B0609020204030204" pitchFamily="49" charset="0"/>
              </a:rPr>
              <a:t> == 'ALL':</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fig = </a:t>
            </a:r>
            <a:r>
              <a:rPr lang="en-US" sz="2200" dirty="0" err="1">
                <a:solidFill>
                  <a:schemeClr val="accent3">
                    <a:lumMod val="25000"/>
                  </a:schemeClr>
                </a:solidFill>
                <a:latin typeface="Consolas" panose="020B0609020204030204" pitchFamily="49" charset="0"/>
              </a:rPr>
              <a:t>px.scatter</a:t>
            </a:r>
            <a:r>
              <a:rPr lang="en-US" sz="2200" dirty="0">
                <a:solidFill>
                  <a:schemeClr val="accent3">
                    <a:lumMod val="25000"/>
                  </a:schemeClr>
                </a:solidFill>
                <a:latin typeface="Consolas" panose="020B0609020204030204" pitchFamily="49" charset="0"/>
              </a:rPr>
              <a:t>(</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filtered_df</a:t>
            </a:r>
            <a:r>
              <a:rPr lang="en-US" sz="2200" dirty="0">
                <a:solidFill>
                  <a:schemeClr val="accent3">
                    <a:lumMod val="25000"/>
                  </a:schemeClr>
                </a:solidFill>
                <a:latin typeface="Consolas" panose="020B0609020204030204" pitchFamily="49" charset="0"/>
              </a:rPr>
              <a:t>,</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x='Payload Mass (kg)',</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y='class',</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color='Booster Version Category',</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title='Correlation between Payload and Success for all Sites'</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return fig</a:t>
            </a:r>
          </a:p>
          <a:p>
            <a:pPr marL="0" indent="0">
              <a:lnSpc>
                <a:spcPct val="100000"/>
              </a:lnSpc>
              <a:spcBef>
                <a:spcPts val="0"/>
              </a:spcBef>
              <a:buNone/>
            </a:pPr>
            <a:endParaRPr lang="en-US" sz="2200" dirty="0">
              <a:solidFill>
                <a:schemeClr val="accent3">
                  <a:lumMod val="25000"/>
                </a:schemeClr>
              </a:solidFill>
              <a:latin typeface="Consolas" panose="020B0609020204030204" pitchFamily="49" charset="0"/>
            </a:endParaRP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 Selected Launch Site</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else:</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filtered_df</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filtered_df</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filtered_df</a:t>
            </a:r>
            <a:r>
              <a:rPr lang="en-US" sz="2200" dirty="0">
                <a:solidFill>
                  <a:schemeClr val="accent3">
                    <a:lumMod val="25000"/>
                  </a:schemeClr>
                </a:solidFill>
                <a:latin typeface="Consolas" panose="020B0609020204030204" pitchFamily="49" charset="0"/>
              </a:rPr>
              <a:t>['Launch Site']==</a:t>
            </a:r>
            <a:r>
              <a:rPr lang="en-US" sz="2200" dirty="0" err="1">
                <a:solidFill>
                  <a:schemeClr val="accent3">
                    <a:lumMod val="25000"/>
                  </a:schemeClr>
                </a:solidFill>
                <a:latin typeface="Consolas" panose="020B0609020204030204" pitchFamily="49" charset="0"/>
              </a:rPr>
              <a:t>entered_site</a:t>
            </a:r>
            <a:r>
              <a:rPr lang="en-US" sz="2200" dirty="0">
                <a:solidFill>
                  <a:schemeClr val="accent3">
                    <a:lumMod val="25000"/>
                  </a:schemeClr>
                </a:solidFill>
                <a:latin typeface="Consolas" panose="020B0609020204030204" pitchFamily="49" charset="0"/>
              </a:rPr>
              <a:t>]</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fig = </a:t>
            </a:r>
            <a:r>
              <a:rPr lang="en-US" sz="2200" dirty="0" err="1">
                <a:solidFill>
                  <a:schemeClr val="accent3">
                    <a:lumMod val="25000"/>
                  </a:schemeClr>
                </a:solidFill>
                <a:latin typeface="Consolas" panose="020B0609020204030204" pitchFamily="49" charset="0"/>
              </a:rPr>
              <a:t>px.scatter</a:t>
            </a:r>
            <a:r>
              <a:rPr lang="en-US" sz="2200" dirty="0">
                <a:solidFill>
                  <a:schemeClr val="accent3">
                    <a:lumMod val="25000"/>
                  </a:schemeClr>
                </a:solidFill>
                <a:latin typeface="Consolas" panose="020B0609020204030204" pitchFamily="49" charset="0"/>
              </a:rPr>
              <a:t>(</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filtered_df</a:t>
            </a:r>
            <a:r>
              <a:rPr lang="en-US" sz="2200" dirty="0">
                <a:solidFill>
                  <a:schemeClr val="accent3">
                    <a:lumMod val="25000"/>
                  </a:schemeClr>
                </a:solidFill>
                <a:latin typeface="Consolas" panose="020B0609020204030204" pitchFamily="49" charset="0"/>
              </a:rPr>
              <a:t>,</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x='Payload Mass (kg)',</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y='class',</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color='Booster Version Category',</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title='Correlation between Payload and Success for Site ' + </a:t>
            </a:r>
            <a:r>
              <a:rPr lang="en-US" sz="2200" dirty="0" err="1">
                <a:solidFill>
                  <a:schemeClr val="accent3">
                    <a:lumMod val="25000"/>
                  </a:schemeClr>
                </a:solidFill>
                <a:latin typeface="Consolas" panose="020B0609020204030204" pitchFamily="49" charset="0"/>
              </a:rPr>
              <a:t>entered_site</a:t>
            </a:r>
            <a:endParaRPr lang="en-US" sz="2200" dirty="0">
              <a:solidFill>
                <a:schemeClr val="accent3">
                  <a:lumMod val="25000"/>
                </a:schemeClr>
              </a:solidFill>
              <a:latin typeface="Consolas" panose="020B0609020204030204" pitchFamily="49" charset="0"/>
            </a:endParaRP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a:t>
            </a:r>
          </a:p>
          <a:p>
            <a:pPr marL="0" indent="0">
              <a:lnSpc>
                <a:spcPct val="100000"/>
              </a:lnSpc>
              <a:spcBef>
                <a:spcPts val="0"/>
              </a:spcBef>
              <a:buNone/>
            </a:pPr>
            <a:r>
              <a:rPr lang="en-US" sz="2200" dirty="0">
                <a:solidFill>
                  <a:schemeClr val="accent3">
                    <a:lumMod val="25000"/>
                  </a:schemeClr>
                </a:solidFill>
                <a:latin typeface="Consolas" panose="020B0609020204030204" pitchFamily="49" charset="0"/>
              </a:rPr>
              <a:t>      return fig</a:t>
            </a:r>
          </a:p>
          <a:p>
            <a:pPr marL="0" indent="0">
              <a:lnSpc>
                <a:spcPct val="100000"/>
              </a:lnSpc>
              <a:spcBef>
                <a:spcPts val="0"/>
              </a:spcBef>
              <a:buNone/>
            </a:pPr>
            <a:endParaRPr lang="en-US" sz="2200" dirty="0">
              <a:solidFill>
                <a:schemeClr val="accent3">
                  <a:lumMod val="25000"/>
                </a:schemeClr>
              </a:solidFill>
              <a:latin typeface="Consolas" panose="020B0609020204030204" pitchFamily="49" charset="0"/>
            </a:endParaRPr>
          </a:p>
        </p:txBody>
      </p:sp>
      <p:pic>
        <p:nvPicPr>
          <p:cNvPr id="7" name="Picture 6">
            <a:extLst>
              <a:ext uri="{FF2B5EF4-FFF2-40B4-BE49-F238E27FC236}">
                <a16:creationId xmlns:a16="http://schemas.microsoft.com/office/drawing/2014/main" id="{E12A1C1D-8825-8980-5A48-CBA45415D88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600216" y="3686803"/>
            <a:ext cx="4627306" cy="2299021"/>
          </a:xfrm>
          <a:prstGeom prst="rect">
            <a:avLst/>
          </a:prstGeom>
          <a:ln w="6350">
            <a:solidFill>
              <a:schemeClr val="tx1"/>
            </a:solidFill>
          </a:ln>
          <a:effectLst/>
        </p:spPr>
      </p:pic>
      <p:pic>
        <p:nvPicPr>
          <p:cNvPr id="9" name="Picture 8">
            <a:extLst>
              <a:ext uri="{FF2B5EF4-FFF2-40B4-BE49-F238E27FC236}">
                <a16:creationId xmlns:a16="http://schemas.microsoft.com/office/drawing/2014/main" id="{D08C4DB5-C528-D9AA-A605-D97D758CE03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600216" y="1358537"/>
            <a:ext cx="4627307" cy="2301751"/>
          </a:xfrm>
          <a:prstGeom prst="rect">
            <a:avLst/>
          </a:prstGeom>
          <a:ln w="6350">
            <a:solidFill>
              <a:schemeClr val="tx1"/>
            </a:solidFill>
          </a:ln>
        </p:spPr>
      </p:pic>
    </p:spTree>
    <p:extLst>
      <p:ext uri="{BB962C8B-B14F-4D97-AF65-F5344CB8AC3E}">
        <p14:creationId xmlns:p14="http://schemas.microsoft.com/office/powerpoint/2010/main" val="1268395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a:blip r:embed="rId3"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68</a:t>
            </a:fld>
            <a:endParaRPr lang="en-US"/>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 D – Machine Learning Details</a:t>
            </a:r>
            <a:endParaRPr lang="en-US" dirty="0">
              <a:solidFill>
                <a:srgbClr val="0B49CB"/>
              </a:solidFill>
            </a:endParaRPr>
          </a:p>
        </p:txBody>
      </p:sp>
      <p:sp>
        <p:nvSpPr>
          <p:cNvPr id="3" name="Content Placeholder 3">
            <a:extLst>
              <a:ext uri="{FF2B5EF4-FFF2-40B4-BE49-F238E27FC236}">
                <a16:creationId xmlns:a16="http://schemas.microsoft.com/office/drawing/2014/main" id="{34355296-9E8B-2E4E-8ED8-F131FF0B0DB6}"/>
              </a:ext>
            </a:extLst>
          </p:cNvPr>
          <p:cNvSpPr txBox="1">
            <a:spLocks/>
          </p:cNvSpPr>
          <p:nvPr/>
        </p:nvSpPr>
        <p:spPr>
          <a:xfrm>
            <a:off x="770012" y="1358536"/>
            <a:ext cx="10235776" cy="1965961"/>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400"/>
              </a:spcBef>
              <a:buNone/>
            </a:pPr>
            <a:r>
              <a:rPr lang="en-US" sz="2200" b="1" dirty="0">
                <a:solidFill>
                  <a:schemeClr val="accent3">
                    <a:lumMod val="25000"/>
                  </a:schemeClr>
                </a:solidFill>
                <a:latin typeface="Consolas" panose="020B0609020204030204" pitchFamily="49" charset="0"/>
              </a:rPr>
              <a:t>Features Engineering – One-Hot Encoding</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features = df[['FlightNumber', 'PayloadMass', 'Orbit', 'LaunchSite', 'Flights', '</a:t>
            </a:r>
            <a:r>
              <a:rPr lang="en-US" sz="2200" dirty="0" err="1">
                <a:solidFill>
                  <a:schemeClr val="accent3">
                    <a:lumMod val="25000"/>
                  </a:schemeClr>
                </a:solidFill>
                <a:latin typeface="Consolas" panose="020B0609020204030204" pitchFamily="49" charset="0"/>
              </a:rPr>
              <a:t>GridFins</a:t>
            </a:r>
            <a:r>
              <a:rPr lang="en-US" sz="2200" dirty="0">
                <a:solidFill>
                  <a:schemeClr val="accent3">
                    <a:lumMod val="25000"/>
                  </a:schemeClr>
                </a:solidFill>
                <a:latin typeface="Consolas" panose="020B0609020204030204" pitchFamily="49" charset="0"/>
              </a:rPr>
              <a:t>', 'Reused', 'Legs', '</a:t>
            </a:r>
            <a:r>
              <a:rPr lang="en-US" sz="2200" dirty="0" err="1">
                <a:solidFill>
                  <a:schemeClr val="accent3">
                    <a:lumMod val="25000"/>
                  </a:schemeClr>
                </a:solidFill>
                <a:latin typeface="Consolas" panose="020B0609020204030204" pitchFamily="49" charset="0"/>
              </a:rPr>
              <a:t>LandingPad</a:t>
            </a:r>
            <a:r>
              <a:rPr lang="en-US" sz="2200" dirty="0">
                <a:solidFill>
                  <a:schemeClr val="accent3">
                    <a:lumMod val="25000"/>
                  </a:schemeClr>
                </a:solidFill>
                <a:latin typeface="Consolas" panose="020B0609020204030204" pitchFamily="49" charset="0"/>
              </a:rPr>
              <a:t>', 'Block', '</a:t>
            </a:r>
            <a:r>
              <a:rPr lang="en-US" sz="2200" dirty="0" err="1">
                <a:solidFill>
                  <a:schemeClr val="accent3">
                    <a:lumMod val="25000"/>
                  </a:schemeClr>
                </a:solidFill>
                <a:latin typeface="Consolas" panose="020B0609020204030204" pitchFamily="49" charset="0"/>
              </a:rPr>
              <a:t>ReusedCount</a:t>
            </a:r>
            <a:r>
              <a:rPr lang="en-US" sz="2200" dirty="0">
                <a:solidFill>
                  <a:schemeClr val="accent3">
                    <a:lumMod val="25000"/>
                  </a:schemeClr>
                </a:solidFill>
                <a:latin typeface="Consolas" panose="020B0609020204030204" pitchFamily="49" charset="0"/>
              </a:rPr>
              <a:t>', 'Serial']]</a:t>
            </a:r>
          </a:p>
          <a:p>
            <a:pPr marL="0" indent="0">
              <a:lnSpc>
                <a:spcPct val="100000"/>
              </a:lnSpc>
              <a:spcBef>
                <a:spcPts val="1400"/>
              </a:spcBef>
              <a:buNone/>
            </a:pPr>
            <a:r>
              <a:rPr lang="en-US" sz="2200" dirty="0" err="1">
                <a:solidFill>
                  <a:schemeClr val="accent3">
                    <a:lumMod val="25000"/>
                  </a:schemeClr>
                </a:solidFill>
                <a:latin typeface="Consolas" panose="020B0609020204030204" pitchFamily="49" charset="0"/>
              </a:rPr>
              <a:t>features_one_hot</a:t>
            </a:r>
            <a:r>
              <a:rPr lang="en-US" sz="2200" dirty="0">
                <a:solidFill>
                  <a:schemeClr val="accent3">
                    <a:lumMod val="25000"/>
                  </a:schemeClr>
                </a:solidFill>
                <a:latin typeface="Consolas" panose="020B0609020204030204" pitchFamily="49" charset="0"/>
              </a:rPr>
              <a:t> = </a:t>
            </a:r>
            <a:r>
              <a:rPr lang="en-US" sz="2200" dirty="0" err="1">
                <a:solidFill>
                  <a:schemeClr val="accent3">
                    <a:lumMod val="25000"/>
                  </a:schemeClr>
                </a:solidFill>
                <a:latin typeface="Consolas" panose="020B0609020204030204" pitchFamily="49" charset="0"/>
              </a:rPr>
              <a:t>pd.get_dummies</a:t>
            </a:r>
            <a:r>
              <a:rPr lang="en-US" sz="2200" dirty="0">
                <a:solidFill>
                  <a:schemeClr val="accent3">
                    <a:lumMod val="25000"/>
                  </a:schemeClr>
                </a:solidFill>
                <a:latin typeface="Consolas" panose="020B0609020204030204" pitchFamily="49" charset="0"/>
              </a:rPr>
              <a:t>(features, columns=['Orbit', 'LaunchSite', '</a:t>
            </a:r>
            <a:r>
              <a:rPr lang="en-US" sz="2200" dirty="0" err="1">
                <a:solidFill>
                  <a:schemeClr val="accent3">
                    <a:lumMod val="25000"/>
                  </a:schemeClr>
                </a:solidFill>
                <a:latin typeface="Consolas" panose="020B0609020204030204" pitchFamily="49" charset="0"/>
              </a:rPr>
              <a:t>LandingPad</a:t>
            </a:r>
            <a:r>
              <a:rPr lang="en-US" sz="2200" dirty="0">
                <a:solidFill>
                  <a:schemeClr val="accent3">
                    <a:lumMod val="25000"/>
                  </a:schemeClr>
                </a:solidFill>
                <a:latin typeface="Consolas" panose="020B0609020204030204" pitchFamily="49" charset="0"/>
              </a:rPr>
              <a:t>', 'Serial’], </a:t>
            </a:r>
            <a:r>
              <a:rPr lang="en-US" sz="2200" dirty="0" err="1">
                <a:solidFill>
                  <a:schemeClr val="accent3">
                    <a:lumMod val="25000"/>
                  </a:schemeClr>
                </a:solidFill>
                <a:latin typeface="Consolas" panose="020B0609020204030204" pitchFamily="49" charset="0"/>
              </a:rPr>
              <a:t>drop_first</a:t>
            </a:r>
            <a:r>
              <a:rPr lang="en-US" sz="2200" dirty="0">
                <a:solidFill>
                  <a:schemeClr val="accent3">
                    <a:lumMod val="25000"/>
                  </a:schemeClr>
                </a:solidFill>
                <a:latin typeface="Consolas" panose="020B0609020204030204" pitchFamily="49" charset="0"/>
              </a:rPr>
              <a:t>=False)</a:t>
            </a:r>
          </a:p>
          <a:p>
            <a:pPr marL="0" indent="0">
              <a:lnSpc>
                <a:spcPct val="100000"/>
              </a:lnSpc>
              <a:spcBef>
                <a:spcPts val="1400"/>
              </a:spcBef>
              <a:buNone/>
            </a:pPr>
            <a:r>
              <a:rPr lang="en-US" sz="2200" dirty="0" err="1">
                <a:solidFill>
                  <a:schemeClr val="accent3">
                    <a:lumMod val="25000"/>
                  </a:schemeClr>
                </a:solidFill>
                <a:latin typeface="Consolas" panose="020B0609020204030204" pitchFamily="49" charset="0"/>
              </a:rPr>
              <a:t>features_one_hot</a:t>
            </a:r>
            <a:r>
              <a:rPr lang="en-US" sz="2200" dirty="0">
                <a:solidFill>
                  <a:schemeClr val="accent3">
                    <a:lumMod val="25000"/>
                  </a:schemeClr>
                </a:solidFill>
                <a:latin typeface="Consolas" panose="020B0609020204030204" pitchFamily="49" charset="0"/>
              </a:rPr>
              <a:t> = </a:t>
            </a:r>
            <a:r>
              <a:rPr lang="en-US" sz="2200" dirty="0" err="1">
                <a:solidFill>
                  <a:schemeClr val="accent3">
                    <a:lumMod val="25000"/>
                  </a:schemeClr>
                </a:solidFill>
                <a:latin typeface="Consolas" panose="020B0609020204030204" pitchFamily="49" charset="0"/>
              </a:rPr>
              <a:t>features_one_hot.astype</a:t>
            </a:r>
            <a:r>
              <a:rPr lang="en-US" sz="2200" dirty="0">
                <a:solidFill>
                  <a:schemeClr val="accent3">
                    <a:lumMod val="25000"/>
                  </a:schemeClr>
                </a:solidFill>
                <a:latin typeface="Consolas" panose="020B0609020204030204" pitchFamily="49" charset="0"/>
              </a:rPr>
              <a:t>('float64')</a:t>
            </a:r>
          </a:p>
        </p:txBody>
      </p:sp>
      <p:pic>
        <p:nvPicPr>
          <p:cNvPr id="4" name="Picture 3">
            <a:extLst>
              <a:ext uri="{FF2B5EF4-FFF2-40B4-BE49-F238E27FC236}">
                <a16:creationId xmlns:a16="http://schemas.microsoft.com/office/drawing/2014/main" id="{63F7E571-06EF-EDD3-0E64-C90B6F62EDA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70012" y="3642254"/>
            <a:ext cx="10271760" cy="2412669"/>
          </a:xfrm>
          <a:prstGeom prst="rect">
            <a:avLst/>
          </a:prstGeom>
        </p:spPr>
      </p:pic>
    </p:spTree>
    <p:extLst>
      <p:ext uri="{BB962C8B-B14F-4D97-AF65-F5344CB8AC3E}">
        <p14:creationId xmlns:p14="http://schemas.microsoft.com/office/powerpoint/2010/main" val="21628184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a:blip r:embed="rId3"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69</a:t>
            </a:fld>
            <a:endParaRPr lang="en-US"/>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 D – Machine Learning Details</a:t>
            </a:r>
            <a:endParaRPr lang="en-US" dirty="0">
              <a:solidFill>
                <a:srgbClr val="0B49CB"/>
              </a:solidFill>
            </a:endParaRPr>
          </a:p>
        </p:txBody>
      </p:sp>
      <p:sp>
        <p:nvSpPr>
          <p:cNvPr id="3" name="Content Placeholder 3">
            <a:extLst>
              <a:ext uri="{FF2B5EF4-FFF2-40B4-BE49-F238E27FC236}">
                <a16:creationId xmlns:a16="http://schemas.microsoft.com/office/drawing/2014/main" id="{34355296-9E8B-2E4E-8ED8-F131FF0B0DB6}"/>
              </a:ext>
            </a:extLst>
          </p:cNvPr>
          <p:cNvSpPr txBox="1">
            <a:spLocks/>
          </p:cNvSpPr>
          <p:nvPr/>
        </p:nvSpPr>
        <p:spPr>
          <a:xfrm>
            <a:off x="770010" y="1358535"/>
            <a:ext cx="5193184" cy="4258493"/>
          </a:xfrm>
          <a:prstGeom prst="rect">
            <a:avLst/>
          </a:prstGeom>
        </p:spPr>
        <p:txBody>
          <a:bodyPr>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fig, (ax1, ax2) = </a:t>
            </a:r>
            <a:r>
              <a:rPr lang="en-US" sz="2200" b="1" dirty="0" err="1">
                <a:solidFill>
                  <a:schemeClr val="accent3">
                    <a:lumMod val="25000"/>
                  </a:schemeClr>
                </a:solidFill>
                <a:latin typeface="Consolas" panose="020B0609020204030204" pitchFamily="49" charset="0"/>
              </a:rPr>
              <a:t>plt.subplots</a:t>
            </a:r>
            <a:r>
              <a:rPr lang="en-US" sz="2200" b="1" dirty="0">
                <a:solidFill>
                  <a:schemeClr val="accent3">
                    <a:lumMod val="25000"/>
                  </a:schemeClr>
                </a:solidFill>
                <a:latin typeface="Consolas" panose="020B0609020204030204" pitchFamily="49" charset="0"/>
              </a:rPr>
              <a:t>(1, 2, figsize=(20, 6))</a:t>
            </a:r>
          </a:p>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green = '#C5E0B4’</a:t>
            </a:r>
          </a:p>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blue = '#4472C4’</a:t>
            </a:r>
          </a:p>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padding = 5</a:t>
            </a:r>
          </a:p>
          <a:p>
            <a:pPr marL="0" indent="0">
              <a:lnSpc>
                <a:spcPct val="100000"/>
              </a:lnSpc>
              <a:spcBef>
                <a:spcPts val="600"/>
              </a:spcBef>
              <a:buNone/>
            </a:pPr>
            <a:endParaRPr lang="en-US" sz="2200" b="1" dirty="0">
              <a:solidFill>
                <a:schemeClr val="accent3">
                  <a:lumMod val="25000"/>
                </a:schemeClr>
              </a:solidFill>
              <a:latin typeface="Consolas" panose="020B0609020204030204" pitchFamily="49" charset="0"/>
            </a:endParaRPr>
          </a:p>
          <a:p>
            <a:pPr marL="0" indent="0">
              <a:lnSpc>
                <a:spcPct val="100000"/>
              </a:lnSpc>
              <a:spcBef>
                <a:spcPts val="600"/>
              </a:spcBef>
              <a:buNone/>
            </a:pPr>
            <a:r>
              <a:rPr lang="en-US" sz="2200" b="1" dirty="0" err="1">
                <a:solidFill>
                  <a:schemeClr val="accent3">
                    <a:lumMod val="25000"/>
                  </a:schemeClr>
                </a:solidFill>
                <a:latin typeface="Consolas" panose="020B0609020204030204" pitchFamily="49" charset="0"/>
              </a:rPr>
              <a:t>colors_test</a:t>
            </a:r>
            <a:r>
              <a:rPr lang="en-US" sz="2200" b="1" dirty="0">
                <a:solidFill>
                  <a:schemeClr val="accent3">
                    <a:lumMod val="25000"/>
                  </a:schemeClr>
                </a:solidFill>
                <a:latin typeface="Consolas" panose="020B0609020204030204" pitchFamily="49" charset="0"/>
              </a:rPr>
              <a:t> = [green if x==</a:t>
            </a:r>
            <a:r>
              <a:rPr lang="en-US" sz="2200" b="1" dirty="0" err="1">
                <a:solidFill>
                  <a:schemeClr val="accent3">
                    <a:lumMod val="25000"/>
                  </a:schemeClr>
                </a:solidFill>
                <a:latin typeface="Consolas" panose="020B0609020204030204" pitchFamily="49" charset="0"/>
              </a:rPr>
              <a:t>max_Test_Accuracy</a:t>
            </a:r>
            <a:r>
              <a:rPr lang="en-US" sz="2200" b="1" dirty="0">
                <a:solidFill>
                  <a:schemeClr val="accent3">
                    <a:lumMod val="25000"/>
                  </a:schemeClr>
                </a:solidFill>
                <a:latin typeface="Consolas" panose="020B0609020204030204" pitchFamily="49" charset="0"/>
              </a:rPr>
              <a:t> else blue for x in results['</a:t>
            </a:r>
            <a:r>
              <a:rPr lang="en-US" sz="2200" b="1" dirty="0" err="1">
                <a:solidFill>
                  <a:schemeClr val="accent3">
                    <a:lumMod val="25000"/>
                  </a:schemeClr>
                </a:solidFill>
                <a:latin typeface="Consolas" panose="020B0609020204030204" pitchFamily="49" charset="0"/>
              </a:rPr>
              <a:t>Test_Accuracy</a:t>
            </a:r>
            <a:r>
              <a:rPr lang="en-US" sz="2200" b="1" dirty="0">
                <a:solidFill>
                  <a:schemeClr val="accent3">
                    <a:lumMod val="25000"/>
                  </a:schemeClr>
                </a:solidFill>
                <a:latin typeface="Consolas" panose="020B0609020204030204" pitchFamily="49" charset="0"/>
              </a:rPr>
              <a:t>’]]</a:t>
            </a:r>
          </a:p>
          <a:p>
            <a:pPr marL="0" indent="0">
              <a:lnSpc>
                <a:spcPct val="100000"/>
              </a:lnSpc>
              <a:spcBef>
                <a:spcPts val="600"/>
              </a:spcBef>
              <a:buNone/>
            </a:pPr>
            <a:r>
              <a:rPr lang="en-US" sz="2200" b="1" dirty="0" err="1">
                <a:solidFill>
                  <a:schemeClr val="accent3">
                    <a:lumMod val="25000"/>
                  </a:schemeClr>
                </a:solidFill>
                <a:latin typeface="Consolas" panose="020B0609020204030204" pitchFamily="49" charset="0"/>
              </a:rPr>
              <a:t>sns.barplot</a:t>
            </a:r>
            <a:r>
              <a:rPr lang="en-US" sz="2200" b="1" dirty="0">
                <a:solidFill>
                  <a:schemeClr val="accent3">
                    <a:lumMod val="25000"/>
                  </a:schemeClr>
                </a:solidFill>
                <a:latin typeface="Consolas" panose="020B0609020204030204" pitchFamily="49" charset="0"/>
              </a:rPr>
              <a:t>(x='Model', y='</a:t>
            </a:r>
            <a:r>
              <a:rPr lang="en-US" sz="2200" b="1" dirty="0" err="1">
                <a:solidFill>
                  <a:schemeClr val="accent3">
                    <a:lumMod val="25000"/>
                  </a:schemeClr>
                </a:solidFill>
                <a:latin typeface="Consolas" panose="020B0609020204030204" pitchFamily="49" charset="0"/>
              </a:rPr>
              <a:t>Test_Accuracy</a:t>
            </a:r>
            <a:r>
              <a:rPr lang="en-US" sz="2200" b="1" dirty="0">
                <a:solidFill>
                  <a:schemeClr val="accent3">
                    <a:lumMod val="25000"/>
                  </a:schemeClr>
                </a:solidFill>
                <a:latin typeface="Consolas" panose="020B0609020204030204" pitchFamily="49" charset="0"/>
              </a:rPr>
              <a:t>', data=results, hue='Model', palette=</a:t>
            </a:r>
            <a:r>
              <a:rPr lang="en-US" sz="2200" b="1" dirty="0" err="1">
                <a:solidFill>
                  <a:schemeClr val="accent3">
                    <a:lumMod val="25000"/>
                  </a:schemeClr>
                </a:solidFill>
                <a:latin typeface="Consolas" panose="020B0609020204030204" pitchFamily="49" charset="0"/>
              </a:rPr>
              <a:t>colors_test</a:t>
            </a:r>
            <a:r>
              <a:rPr lang="en-US" sz="2200" b="1" dirty="0">
                <a:solidFill>
                  <a:schemeClr val="accent3">
                    <a:lumMod val="25000"/>
                  </a:schemeClr>
                </a:solidFill>
                <a:latin typeface="Consolas" panose="020B0609020204030204" pitchFamily="49" charset="0"/>
              </a:rPr>
              <a:t>, ax=ax1)</a:t>
            </a:r>
          </a:p>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ax1.set_ylim(0,1)</a:t>
            </a:r>
          </a:p>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ax1.set_ylabel('Test Accuracy’)</a:t>
            </a:r>
          </a:p>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ax1.set_title('Test Accuracy of The Models’)</a:t>
            </a:r>
          </a:p>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for container in ax1.containers:</a:t>
            </a:r>
          </a:p>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  labels=[f'{value:.1%}' for value in </a:t>
            </a:r>
            <a:r>
              <a:rPr lang="en-US" sz="2200" b="1" dirty="0" err="1">
                <a:solidFill>
                  <a:schemeClr val="accent3">
                    <a:lumMod val="25000"/>
                  </a:schemeClr>
                </a:solidFill>
                <a:latin typeface="Consolas" panose="020B0609020204030204" pitchFamily="49" charset="0"/>
              </a:rPr>
              <a:t>container.datavalues</a:t>
            </a:r>
            <a:r>
              <a:rPr lang="en-US" sz="2200" b="1" dirty="0">
                <a:solidFill>
                  <a:schemeClr val="accent3">
                    <a:lumMod val="25000"/>
                  </a:schemeClr>
                </a:solidFill>
                <a:latin typeface="Consolas" panose="020B0609020204030204" pitchFamily="49" charset="0"/>
              </a:rPr>
              <a:t>]</a:t>
            </a:r>
          </a:p>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  ax1.bar_label(container, labels=labels, padding=padding)</a:t>
            </a:r>
          </a:p>
          <a:p>
            <a:pPr marL="0" indent="0">
              <a:lnSpc>
                <a:spcPct val="100000"/>
              </a:lnSpc>
              <a:spcBef>
                <a:spcPts val="600"/>
              </a:spcBef>
              <a:buNone/>
            </a:pPr>
            <a:endParaRPr lang="en-US" sz="2200" b="1" dirty="0">
              <a:solidFill>
                <a:schemeClr val="accent3">
                  <a:lumMod val="25000"/>
                </a:schemeClr>
              </a:solidFill>
              <a:latin typeface="Consolas" panose="020B0609020204030204" pitchFamily="49" charset="0"/>
            </a:endParaRPr>
          </a:p>
          <a:p>
            <a:pPr marL="0" indent="0">
              <a:lnSpc>
                <a:spcPct val="100000"/>
              </a:lnSpc>
              <a:spcBef>
                <a:spcPts val="600"/>
              </a:spcBef>
              <a:buNone/>
            </a:pPr>
            <a:r>
              <a:rPr lang="en-US" sz="2200" b="1" dirty="0" err="1">
                <a:solidFill>
                  <a:schemeClr val="accent3">
                    <a:lumMod val="25000"/>
                  </a:schemeClr>
                </a:solidFill>
                <a:latin typeface="Consolas" panose="020B0609020204030204" pitchFamily="49" charset="0"/>
              </a:rPr>
              <a:t>colors_train</a:t>
            </a:r>
            <a:r>
              <a:rPr lang="en-US" sz="2200" b="1" dirty="0">
                <a:solidFill>
                  <a:schemeClr val="accent3">
                    <a:lumMod val="25000"/>
                  </a:schemeClr>
                </a:solidFill>
                <a:latin typeface="Consolas" panose="020B0609020204030204" pitchFamily="49" charset="0"/>
              </a:rPr>
              <a:t> = [green, blue, blue, blue] </a:t>
            </a:r>
          </a:p>
          <a:p>
            <a:pPr marL="0" indent="0">
              <a:lnSpc>
                <a:spcPct val="100000"/>
              </a:lnSpc>
              <a:spcBef>
                <a:spcPts val="600"/>
              </a:spcBef>
              <a:buNone/>
            </a:pPr>
            <a:r>
              <a:rPr lang="en-US" sz="2200" b="1" dirty="0" err="1">
                <a:solidFill>
                  <a:schemeClr val="accent3">
                    <a:lumMod val="25000"/>
                  </a:schemeClr>
                </a:solidFill>
                <a:latin typeface="Consolas" panose="020B0609020204030204" pitchFamily="49" charset="0"/>
              </a:rPr>
              <a:t>sns.barplot</a:t>
            </a:r>
            <a:r>
              <a:rPr lang="en-US" sz="2200" b="1" dirty="0">
                <a:solidFill>
                  <a:schemeClr val="accent3">
                    <a:lumMod val="25000"/>
                  </a:schemeClr>
                </a:solidFill>
                <a:latin typeface="Consolas" panose="020B0609020204030204" pitchFamily="49" charset="0"/>
              </a:rPr>
              <a:t>(x='Model', y='</a:t>
            </a:r>
            <a:r>
              <a:rPr lang="en-US" sz="2200" b="1" dirty="0" err="1">
                <a:solidFill>
                  <a:schemeClr val="accent3">
                    <a:lumMod val="25000"/>
                  </a:schemeClr>
                </a:solidFill>
                <a:latin typeface="Consolas" panose="020B0609020204030204" pitchFamily="49" charset="0"/>
              </a:rPr>
              <a:t>Train_Accuracy</a:t>
            </a:r>
            <a:r>
              <a:rPr lang="en-US" sz="2200" b="1" dirty="0">
                <a:solidFill>
                  <a:schemeClr val="accent3">
                    <a:lumMod val="25000"/>
                  </a:schemeClr>
                </a:solidFill>
                <a:latin typeface="Consolas" panose="020B0609020204030204" pitchFamily="49" charset="0"/>
              </a:rPr>
              <a:t>', data=results, hue='Model’, palette=</a:t>
            </a:r>
            <a:r>
              <a:rPr lang="en-US" sz="2200" b="1" dirty="0" err="1">
                <a:solidFill>
                  <a:schemeClr val="accent3">
                    <a:lumMod val="25000"/>
                  </a:schemeClr>
                </a:solidFill>
                <a:latin typeface="Consolas" panose="020B0609020204030204" pitchFamily="49" charset="0"/>
              </a:rPr>
              <a:t>colors_train</a:t>
            </a:r>
            <a:r>
              <a:rPr lang="en-US" sz="2200" b="1" dirty="0">
                <a:solidFill>
                  <a:schemeClr val="accent3">
                    <a:lumMod val="25000"/>
                  </a:schemeClr>
                </a:solidFill>
                <a:latin typeface="Consolas" panose="020B0609020204030204" pitchFamily="49" charset="0"/>
              </a:rPr>
              <a:t>, ax=ax2)</a:t>
            </a:r>
          </a:p>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ax2.set_ylim(0,1)</a:t>
            </a:r>
          </a:p>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ax2.set_ylabel('Train Accuracy’)</a:t>
            </a:r>
          </a:p>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ax2.set_title('Train Accuracy of The Models’)</a:t>
            </a:r>
          </a:p>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for container in ax2.containers:</a:t>
            </a:r>
          </a:p>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  labels=[f'{value:.1%}' for value in </a:t>
            </a:r>
            <a:r>
              <a:rPr lang="en-US" sz="2200" b="1" dirty="0" err="1">
                <a:solidFill>
                  <a:schemeClr val="accent3">
                    <a:lumMod val="25000"/>
                  </a:schemeClr>
                </a:solidFill>
                <a:latin typeface="Consolas" panose="020B0609020204030204" pitchFamily="49" charset="0"/>
              </a:rPr>
              <a:t>container.datavalues</a:t>
            </a:r>
            <a:r>
              <a:rPr lang="en-US" sz="2200" b="1" dirty="0">
                <a:solidFill>
                  <a:schemeClr val="accent3">
                    <a:lumMod val="25000"/>
                  </a:schemeClr>
                </a:solidFill>
                <a:latin typeface="Consolas" panose="020B0609020204030204" pitchFamily="49" charset="0"/>
              </a:rPr>
              <a:t>]</a:t>
            </a:r>
          </a:p>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  ax2.bar_label(container, labels=labels, padding=padding)</a:t>
            </a:r>
          </a:p>
          <a:p>
            <a:pPr marL="0" indent="0">
              <a:lnSpc>
                <a:spcPct val="100000"/>
              </a:lnSpc>
              <a:spcBef>
                <a:spcPts val="600"/>
              </a:spcBef>
              <a:buNone/>
            </a:pPr>
            <a:endParaRPr lang="en-US" sz="2200" b="1" dirty="0">
              <a:solidFill>
                <a:schemeClr val="accent3">
                  <a:lumMod val="25000"/>
                </a:schemeClr>
              </a:solidFill>
              <a:latin typeface="Consolas" panose="020B0609020204030204" pitchFamily="49" charset="0"/>
            </a:endParaRPr>
          </a:p>
          <a:p>
            <a:pPr marL="0" indent="0">
              <a:lnSpc>
                <a:spcPct val="100000"/>
              </a:lnSpc>
              <a:spcBef>
                <a:spcPts val="600"/>
              </a:spcBef>
              <a:buNone/>
            </a:pPr>
            <a:r>
              <a:rPr lang="en-US" sz="2200" b="1" dirty="0">
                <a:solidFill>
                  <a:schemeClr val="accent3">
                    <a:lumMod val="25000"/>
                  </a:schemeClr>
                </a:solidFill>
                <a:latin typeface="Consolas" panose="020B0609020204030204" pitchFamily="49" charset="0"/>
              </a:rPr>
              <a:t>plt.show()</a:t>
            </a:r>
            <a:endParaRPr lang="en-US" sz="2200" dirty="0">
              <a:solidFill>
                <a:schemeClr val="accent3">
                  <a:lumMod val="25000"/>
                </a:schemeClr>
              </a:solidFill>
              <a:latin typeface="Consolas" panose="020B0609020204030204" pitchFamily="49" charset="0"/>
            </a:endParaRPr>
          </a:p>
        </p:txBody>
      </p:sp>
      <p:pic>
        <p:nvPicPr>
          <p:cNvPr id="13" name="Picture 12">
            <a:extLst>
              <a:ext uri="{FF2B5EF4-FFF2-40B4-BE49-F238E27FC236}">
                <a16:creationId xmlns:a16="http://schemas.microsoft.com/office/drawing/2014/main" id="{F560917F-913E-2FBC-A365-C57D925F5A2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28808" y="1577276"/>
            <a:ext cx="2884493" cy="1966298"/>
          </a:xfrm>
          <a:prstGeom prst="rect">
            <a:avLst/>
          </a:prstGeom>
        </p:spPr>
      </p:pic>
      <p:pic>
        <p:nvPicPr>
          <p:cNvPr id="15" name="Picture 14">
            <a:extLst>
              <a:ext uri="{FF2B5EF4-FFF2-40B4-BE49-F238E27FC236}">
                <a16:creationId xmlns:a16="http://schemas.microsoft.com/office/drawing/2014/main" id="{82ECD222-5D17-6256-3280-CD8CBF9B423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500155" y="3706852"/>
            <a:ext cx="2884493" cy="1996498"/>
          </a:xfrm>
          <a:prstGeom prst="rect">
            <a:avLst/>
          </a:prstGeom>
        </p:spPr>
      </p:pic>
    </p:spTree>
    <p:extLst>
      <p:ext uri="{BB962C8B-B14F-4D97-AF65-F5344CB8AC3E}">
        <p14:creationId xmlns:p14="http://schemas.microsoft.com/office/powerpoint/2010/main" val="13815721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a:blip r:embed="rId3"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70</a:t>
            </a:fld>
            <a:endParaRPr lang="en-US"/>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 D – Machine Learning Details</a:t>
            </a:r>
            <a:endParaRPr lang="en-US" dirty="0">
              <a:solidFill>
                <a:srgbClr val="0B49CB"/>
              </a:solidFill>
            </a:endParaRPr>
          </a:p>
        </p:txBody>
      </p:sp>
      <p:sp>
        <p:nvSpPr>
          <p:cNvPr id="3" name="Content Placeholder 3">
            <a:extLst>
              <a:ext uri="{FF2B5EF4-FFF2-40B4-BE49-F238E27FC236}">
                <a16:creationId xmlns:a16="http://schemas.microsoft.com/office/drawing/2014/main" id="{34355296-9E8B-2E4E-8ED8-F131FF0B0DB6}"/>
              </a:ext>
            </a:extLst>
          </p:cNvPr>
          <p:cNvSpPr txBox="1">
            <a:spLocks/>
          </p:cNvSpPr>
          <p:nvPr/>
        </p:nvSpPr>
        <p:spPr>
          <a:xfrm>
            <a:off x="770012" y="1358536"/>
            <a:ext cx="5957360" cy="4187162"/>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400"/>
              </a:spcBef>
              <a:buNone/>
            </a:pPr>
            <a:r>
              <a:rPr lang="en-US" sz="2200" b="1" dirty="0">
                <a:solidFill>
                  <a:schemeClr val="accent3">
                    <a:lumMod val="25000"/>
                  </a:schemeClr>
                </a:solidFill>
                <a:latin typeface="Consolas" panose="020B0609020204030204" pitchFamily="49" charset="0"/>
              </a:rPr>
              <a:t>Logistic Regression – The Best Model</a:t>
            </a:r>
          </a:p>
          <a:p>
            <a:pPr marL="0" indent="0">
              <a:lnSpc>
                <a:spcPct val="100000"/>
              </a:lnSpc>
              <a:spcBef>
                <a:spcPts val="1400"/>
              </a:spcBef>
              <a:buNone/>
            </a:pPr>
            <a:r>
              <a:rPr lang="en-US" sz="2200" dirty="0">
                <a:solidFill>
                  <a:schemeClr val="accent3">
                    <a:lumMod val="25000"/>
                  </a:schemeClr>
                </a:solidFill>
                <a:latin typeface="Consolas" panose="020B0609020204030204" pitchFamily="49" charset="0"/>
              </a:rPr>
              <a:t>parameters = {"C":[0.01, 0.1, 1],'penalty':['l2'], 'solver':['</a:t>
            </a:r>
            <a:r>
              <a:rPr lang="en-US" sz="2200" dirty="0" err="1">
                <a:solidFill>
                  <a:schemeClr val="accent3">
                    <a:lumMod val="25000"/>
                  </a:schemeClr>
                </a:solidFill>
                <a:latin typeface="Consolas" panose="020B0609020204030204" pitchFamily="49" charset="0"/>
              </a:rPr>
              <a:t>lbfgs</a:t>
            </a:r>
            <a:r>
              <a:rPr lang="en-US" sz="2200" dirty="0">
                <a:solidFill>
                  <a:schemeClr val="accent3">
                    <a:lumMod val="25000"/>
                  </a:schemeClr>
                </a:solidFill>
                <a:latin typeface="Consolas" panose="020B0609020204030204" pitchFamily="49" charset="0"/>
              </a:rPr>
              <a:t>’]}</a:t>
            </a:r>
          </a:p>
          <a:p>
            <a:pPr marL="0" indent="0">
              <a:lnSpc>
                <a:spcPct val="100000"/>
              </a:lnSpc>
              <a:spcBef>
                <a:spcPts val="1400"/>
              </a:spcBef>
              <a:buNone/>
            </a:pPr>
            <a:r>
              <a:rPr lang="en-US" sz="2200" dirty="0" err="1">
                <a:solidFill>
                  <a:schemeClr val="accent3">
                    <a:lumMod val="25000"/>
                  </a:schemeClr>
                </a:solidFill>
                <a:latin typeface="Consolas" panose="020B0609020204030204" pitchFamily="49" charset="0"/>
              </a:rPr>
              <a:t>lr</a:t>
            </a:r>
            <a:r>
              <a:rPr lang="en-US" sz="2200" dirty="0">
                <a:solidFill>
                  <a:schemeClr val="accent3">
                    <a:lumMod val="25000"/>
                  </a:schemeClr>
                </a:solidFill>
                <a:latin typeface="Consolas" panose="020B0609020204030204" pitchFamily="49" charset="0"/>
              </a:rPr>
              <a:t> = LogisticRegression() </a:t>
            </a:r>
          </a:p>
          <a:p>
            <a:pPr marL="0" indent="0">
              <a:lnSpc>
                <a:spcPct val="100000"/>
              </a:lnSpc>
              <a:spcBef>
                <a:spcPts val="1400"/>
              </a:spcBef>
              <a:buNone/>
            </a:pPr>
            <a:r>
              <a:rPr lang="en-US" sz="2200" dirty="0" err="1">
                <a:solidFill>
                  <a:schemeClr val="accent3">
                    <a:lumMod val="25000"/>
                  </a:schemeClr>
                </a:solidFill>
                <a:latin typeface="Consolas" panose="020B0609020204030204" pitchFamily="49" charset="0"/>
              </a:rPr>
              <a:t>logreg_cv</a:t>
            </a:r>
            <a:r>
              <a:rPr lang="en-US" sz="2200" dirty="0">
                <a:solidFill>
                  <a:schemeClr val="accent3">
                    <a:lumMod val="25000"/>
                  </a:schemeClr>
                </a:solidFill>
                <a:latin typeface="Consolas" panose="020B0609020204030204" pitchFamily="49" charset="0"/>
              </a:rPr>
              <a:t> = GridSearchCV(estimator=</a:t>
            </a:r>
            <a:r>
              <a:rPr lang="en-US" sz="2200" dirty="0" err="1">
                <a:solidFill>
                  <a:schemeClr val="accent3">
                    <a:lumMod val="25000"/>
                  </a:schemeClr>
                </a:solidFill>
                <a:latin typeface="Consolas" panose="020B0609020204030204" pitchFamily="49" charset="0"/>
              </a:rPr>
              <a:t>lr</a:t>
            </a: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param_grid</a:t>
            </a:r>
            <a:r>
              <a:rPr lang="en-US" sz="2200" dirty="0">
                <a:solidFill>
                  <a:schemeClr val="accent3">
                    <a:lumMod val="25000"/>
                  </a:schemeClr>
                </a:solidFill>
                <a:latin typeface="Consolas" panose="020B0609020204030204" pitchFamily="49" charset="0"/>
              </a:rPr>
              <a:t>=parameters, cv=10, verbose=1)</a:t>
            </a:r>
          </a:p>
          <a:p>
            <a:pPr marL="0" indent="0">
              <a:lnSpc>
                <a:spcPct val="100000"/>
              </a:lnSpc>
              <a:spcBef>
                <a:spcPts val="1400"/>
              </a:spcBef>
              <a:buNone/>
            </a:pPr>
            <a:r>
              <a:rPr lang="en-US" sz="2200" dirty="0" err="1">
                <a:solidFill>
                  <a:schemeClr val="accent3">
                    <a:lumMod val="25000"/>
                  </a:schemeClr>
                </a:solidFill>
                <a:latin typeface="Consolas" panose="020B0609020204030204" pitchFamily="49" charset="0"/>
              </a:rPr>
              <a:t>logreg_cv.fit</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X_train</a:t>
            </a: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Y_train</a:t>
            </a:r>
            <a:r>
              <a:rPr lang="en-US" sz="2200" dirty="0">
                <a:solidFill>
                  <a:schemeClr val="accent3">
                    <a:lumMod val="25000"/>
                  </a:schemeClr>
                </a:solidFill>
                <a:latin typeface="Consolas" panose="020B0609020204030204" pitchFamily="49" charset="0"/>
              </a:rPr>
              <a:t>)</a:t>
            </a:r>
          </a:p>
          <a:p>
            <a:pPr marL="0" indent="0">
              <a:lnSpc>
                <a:spcPct val="100000"/>
              </a:lnSpc>
              <a:spcBef>
                <a:spcPts val="1400"/>
              </a:spcBef>
              <a:buNone/>
            </a:pPr>
            <a:r>
              <a:rPr lang="en-US" sz="2200" dirty="0" err="1">
                <a:solidFill>
                  <a:schemeClr val="accent3">
                    <a:lumMod val="25000"/>
                  </a:schemeClr>
                </a:solidFill>
                <a:latin typeface="Consolas" panose="020B0609020204030204" pitchFamily="49" charset="0"/>
              </a:rPr>
              <a:t>logreg_cv.score</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X_test</a:t>
            </a: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Y_test</a:t>
            </a:r>
            <a:r>
              <a:rPr lang="en-US" sz="2200" dirty="0">
                <a:solidFill>
                  <a:schemeClr val="accent3">
                    <a:lumMod val="25000"/>
                  </a:schemeClr>
                </a:solidFill>
                <a:latin typeface="Consolas" panose="020B0609020204030204" pitchFamily="49" charset="0"/>
              </a:rPr>
              <a:t>)</a:t>
            </a:r>
          </a:p>
          <a:p>
            <a:pPr marL="0" indent="0">
              <a:lnSpc>
                <a:spcPct val="100000"/>
              </a:lnSpc>
              <a:spcBef>
                <a:spcPts val="1400"/>
              </a:spcBef>
              <a:buNone/>
            </a:pPr>
            <a:endParaRPr lang="en-US" sz="2200" dirty="0">
              <a:solidFill>
                <a:schemeClr val="accent3">
                  <a:lumMod val="25000"/>
                </a:schemeClr>
              </a:solidFill>
              <a:latin typeface="Consolas" panose="020B0609020204030204" pitchFamily="49" charset="0"/>
            </a:endParaRPr>
          </a:p>
          <a:p>
            <a:pPr marL="0" indent="0">
              <a:lnSpc>
                <a:spcPct val="100000"/>
              </a:lnSpc>
              <a:spcBef>
                <a:spcPts val="1400"/>
              </a:spcBef>
              <a:buNone/>
            </a:pPr>
            <a:r>
              <a:rPr lang="en-US" sz="2200" dirty="0" err="1">
                <a:solidFill>
                  <a:schemeClr val="accent3">
                    <a:lumMod val="25000"/>
                  </a:schemeClr>
                </a:solidFill>
                <a:latin typeface="Consolas" panose="020B0609020204030204" pitchFamily="49" charset="0"/>
              </a:rPr>
              <a:t>yhat</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logreg_cv.predict</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X_test</a:t>
            </a:r>
            <a:r>
              <a:rPr lang="en-US" sz="2200" dirty="0">
                <a:solidFill>
                  <a:schemeClr val="accent3">
                    <a:lumMod val="25000"/>
                  </a:schemeClr>
                </a:solidFill>
                <a:latin typeface="Consolas" panose="020B0609020204030204" pitchFamily="49" charset="0"/>
              </a:rPr>
              <a:t>)</a:t>
            </a:r>
          </a:p>
          <a:p>
            <a:pPr marL="0" indent="0">
              <a:lnSpc>
                <a:spcPct val="100000"/>
              </a:lnSpc>
              <a:spcBef>
                <a:spcPts val="1400"/>
              </a:spcBef>
              <a:buNone/>
            </a:pPr>
            <a:r>
              <a:rPr lang="en-US" sz="2200" dirty="0" err="1">
                <a:solidFill>
                  <a:schemeClr val="accent3">
                    <a:lumMod val="25000"/>
                  </a:schemeClr>
                </a:solidFill>
                <a:latin typeface="Consolas" panose="020B0609020204030204" pitchFamily="49" charset="0"/>
              </a:rPr>
              <a:t>plot_confusion_matrix</a:t>
            </a:r>
            <a:r>
              <a:rPr lang="en-US" sz="2200" dirty="0">
                <a:solidFill>
                  <a:schemeClr val="accent3">
                    <a:lumMod val="25000"/>
                  </a:schemeClr>
                </a:solidFill>
                <a:latin typeface="Consolas" panose="020B0609020204030204" pitchFamily="49" charset="0"/>
              </a:rPr>
              <a:t>(</a:t>
            </a:r>
            <a:r>
              <a:rPr lang="en-US" sz="2200" dirty="0" err="1">
                <a:solidFill>
                  <a:schemeClr val="accent3">
                    <a:lumMod val="25000"/>
                  </a:schemeClr>
                </a:solidFill>
                <a:latin typeface="Consolas" panose="020B0609020204030204" pitchFamily="49" charset="0"/>
              </a:rPr>
              <a:t>Y_test</a:t>
            </a:r>
            <a:r>
              <a:rPr lang="en-US" sz="2200" dirty="0">
                <a:solidFill>
                  <a:schemeClr val="accent3">
                    <a:lumMod val="25000"/>
                  </a:schemeClr>
                </a:solidFill>
                <a:latin typeface="Consolas" panose="020B0609020204030204" pitchFamily="49" charset="0"/>
              </a:rPr>
              <a:t>, </a:t>
            </a:r>
            <a:r>
              <a:rPr lang="en-US" sz="2200" dirty="0" err="1">
                <a:solidFill>
                  <a:schemeClr val="accent3">
                    <a:lumMod val="25000"/>
                  </a:schemeClr>
                </a:solidFill>
                <a:latin typeface="Consolas" panose="020B0609020204030204" pitchFamily="49" charset="0"/>
              </a:rPr>
              <a:t>yhat</a:t>
            </a:r>
            <a:r>
              <a:rPr lang="en-US" sz="2200" dirty="0">
                <a:solidFill>
                  <a:schemeClr val="accent3">
                    <a:lumMod val="25000"/>
                  </a:schemeClr>
                </a:solidFill>
                <a:latin typeface="Consolas" panose="020B0609020204030204" pitchFamily="49" charset="0"/>
              </a:rPr>
              <a:t>)</a:t>
            </a:r>
          </a:p>
        </p:txBody>
      </p:sp>
      <p:pic>
        <p:nvPicPr>
          <p:cNvPr id="5" name="Picture 4">
            <a:extLst>
              <a:ext uri="{FF2B5EF4-FFF2-40B4-BE49-F238E27FC236}">
                <a16:creationId xmlns:a16="http://schemas.microsoft.com/office/drawing/2014/main" id="{E1D5DE45-B3C9-7A6D-CA3E-40FF710D8D72}"/>
              </a:ext>
            </a:extLst>
          </p:cNvPr>
          <p:cNvPicPr>
            <a:picLocks noChangeAspect="1"/>
          </p:cNvPicPr>
          <p:nvPr/>
        </p:nvPicPr>
        <p:blipFill>
          <a:blip r:embed="rId4"/>
          <a:stretch>
            <a:fillRect/>
          </a:stretch>
        </p:blipFill>
        <p:spPr>
          <a:xfrm>
            <a:off x="7139379" y="1358536"/>
            <a:ext cx="2339543" cy="571550"/>
          </a:xfrm>
          <a:prstGeom prst="rect">
            <a:avLst/>
          </a:prstGeom>
        </p:spPr>
      </p:pic>
      <p:pic>
        <p:nvPicPr>
          <p:cNvPr id="8" name="Picture 7">
            <a:extLst>
              <a:ext uri="{FF2B5EF4-FFF2-40B4-BE49-F238E27FC236}">
                <a16:creationId xmlns:a16="http://schemas.microsoft.com/office/drawing/2014/main" id="{49A21D67-FE5F-CB77-D113-B68A25DECD5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139379" y="2302655"/>
            <a:ext cx="3794929" cy="3243043"/>
          </a:xfrm>
          <a:prstGeom prst="rect">
            <a:avLst/>
          </a:prstGeom>
        </p:spPr>
      </p:pic>
    </p:spTree>
    <p:extLst>
      <p:ext uri="{BB962C8B-B14F-4D97-AF65-F5344CB8AC3E}">
        <p14:creationId xmlns:p14="http://schemas.microsoft.com/office/powerpoint/2010/main" val="32530954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040741"/>
      </p:ext>
    </p:extLst>
  </p:cSld>
  <p:clrMapOvr>
    <a:masterClrMapping/>
  </p:clrMapOvr>
  <p:transition spd="slow">
    <p:push dir="u"/>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5581</Words>
  <Application>Microsoft Office PowerPoint</Application>
  <PresentationFormat>Widescreen</PresentationFormat>
  <Paragraphs>629</Paragraphs>
  <Slides>71</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71</vt:i4>
      </vt:variant>
    </vt:vector>
  </HeadingPairs>
  <TitlesOfParts>
    <vt:vector size="79" baseType="lpstr">
      <vt:lpstr>Abadi</vt:lpstr>
      <vt:lpstr>Arial</vt:lpstr>
      <vt:lpstr>Calibri</vt:lpstr>
      <vt:lpstr>Consolas</vt:lpstr>
      <vt:lpstr>Google Sans Flex</vt:lpstr>
      <vt:lpstr>IBM Plex Mono SemiBold</vt:lpstr>
      <vt:lpstr>system-ui</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2026-03-12T07:11:53Z</dcterms:created>
  <dcterms:modified xsi:type="dcterms:W3CDTF">2026-04-02T12:08:05Z</dcterms:modified>
</cp:coreProperties>
</file>